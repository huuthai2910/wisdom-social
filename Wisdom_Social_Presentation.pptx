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828800" y="-2011680"/>
            <a:ext cx="5486400" cy="5486400"/>
          </a:xfrm>
          <a:prstGeom prst="ellipse">
            <a:avLst/>
          </a:prstGeom>
          <a:solidFill>
            <a:srgbClr val="EAF2F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509760" y="3566160"/>
            <a:ext cx="5120640" cy="5120640"/>
          </a:xfrm>
          <a:prstGeom prst="ellipse">
            <a:avLst/>
          </a:prstGeom>
          <a:solidFill>
            <a:srgbClr val="EAF2FD">
              <a:alpha val="6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052560" y="-1645920"/>
            <a:ext cx="3291840" cy="3291840"/>
          </a:xfrm>
          <a:prstGeom prst="ellipse">
            <a:avLst/>
          </a:prstGeom>
          <a:solidFill>
            <a:srgbClr val="DDEA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1325880" y="1417320"/>
            <a:ext cx="1280160" cy="86868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508760" y="2286000"/>
            <a:ext cx="1097280" cy="86868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325880" y="1417320"/>
            <a:ext cx="182880" cy="173736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508760" y="3154680"/>
            <a:ext cx="1417320" cy="822959"/>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606040" y="2286000"/>
            <a:ext cx="320040" cy="1691639"/>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pic>
        <p:nvPicPr>
          <p:cNvPr id="11" name="Picture 10" descr="av00.png"/>
          <p:cNvPicPr>
            <a:picLocks noChangeAspect="1"/>
          </p:cNvPicPr>
          <p:nvPr/>
        </p:nvPicPr>
        <p:blipFill>
          <a:blip r:embed="rId2"/>
          <a:stretch>
            <a:fillRect/>
          </a:stretch>
        </p:blipFill>
        <p:spPr>
          <a:xfrm>
            <a:off x="905256" y="996696"/>
            <a:ext cx="841248" cy="841248"/>
          </a:xfrm>
          <a:prstGeom prst="rect">
            <a:avLst/>
          </a:prstGeom>
          <a:effectLst>
            <a:outerShdw blurRad="64008" dist="41148" dir="5400000" rotWithShape="0">
              <a:srgbClr val="2A4A93">
                <a:alpha val="24000"/>
              </a:srgbClr>
            </a:outerShdw>
          </a:effectLst>
        </p:spPr>
      </p:pic>
      <p:pic>
        <p:nvPicPr>
          <p:cNvPr id="12" name="Picture 11" descr="av01.png"/>
          <p:cNvPicPr>
            <a:picLocks noChangeAspect="1"/>
          </p:cNvPicPr>
          <p:nvPr/>
        </p:nvPicPr>
        <p:blipFill>
          <a:blip r:embed="rId3"/>
          <a:stretch>
            <a:fillRect/>
          </a:stretch>
        </p:blipFill>
        <p:spPr>
          <a:xfrm>
            <a:off x="2185416" y="1865376"/>
            <a:ext cx="841248" cy="841248"/>
          </a:xfrm>
          <a:prstGeom prst="rect">
            <a:avLst/>
          </a:prstGeom>
          <a:effectLst>
            <a:outerShdw blurRad="64008" dist="41148" dir="5400000" rotWithShape="0">
              <a:srgbClr val="2A4A93">
                <a:alpha val="24000"/>
              </a:srgbClr>
            </a:outerShdw>
          </a:effectLst>
        </p:spPr>
      </p:pic>
      <p:pic>
        <p:nvPicPr>
          <p:cNvPr id="13" name="Picture 12" descr="av02.png"/>
          <p:cNvPicPr>
            <a:picLocks noChangeAspect="1"/>
          </p:cNvPicPr>
          <p:nvPr/>
        </p:nvPicPr>
        <p:blipFill>
          <a:blip r:embed="rId4"/>
          <a:stretch>
            <a:fillRect/>
          </a:stretch>
        </p:blipFill>
        <p:spPr>
          <a:xfrm>
            <a:off x="1088136" y="2734056"/>
            <a:ext cx="841248" cy="841248"/>
          </a:xfrm>
          <a:prstGeom prst="rect">
            <a:avLst/>
          </a:prstGeom>
          <a:effectLst>
            <a:outerShdw blurRad="64008" dist="41148" dir="5400000" rotWithShape="0">
              <a:srgbClr val="2A4A93">
                <a:alpha val="24000"/>
              </a:srgbClr>
            </a:outerShdw>
          </a:effectLst>
        </p:spPr>
      </p:pic>
      <p:pic>
        <p:nvPicPr>
          <p:cNvPr id="14" name="Picture 13" descr="av03.png"/>
          <p:cNvPicPr>
            <a:picLocks noChangeAspect="1"/>
          </p:cNvPicPr>
          <p:nvPr/>
        </p:nvPicPr>
        <p:blipFill>
          <a:blip r:embed="rId5"/>
          <a:stretch>
            <a:fillRect/>
          </a:stretch>
        </p:blipFill>
        <p:spPr>
          <a:xfrm>
            <a:off x="2505456" y="3557015"/>
            <a:ext cx="841248" cy="841248"/>
          </a:xfrm>
          <a:prstGeom prst="rect">
            <a:avLst/>
          </a:prstGeom>
          <a:effectLst>
            <a:outerShdw blurRad="64008" dist="41148" dir="5400000" rotWithShape="0">
              <a:srgbClr val="2A4A93">
                <a:alpha val="24000"/>
              </a:srgbClr>
            </a:outerShdw>
          </a:effectLst>
        </p:spPr>
      </p:pic>
      <p:cxnSp>
        <p:nvCxnSpPr>
          <p:cNvPr id="15" name="Connector 14"/>
          <p:cNvCxnSpPr/>
          <p:nvPr/>
        </p:nvCxnSpPr>
        <p:spPr>
          <a:xfrm flipH="1">
            <a:off x="9646920" y="1463040"/>
            <a:ext cx="1280160" cy="86868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46920" y="2331720"/>
            <a:ext cx="1463040" cy="86868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927080" y="1463040"/>
            <a:ext cx="182880" cy="173736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9601200" y="3200400"/>
            <a:ext cx="1508760" cy="82296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9601200" y="2331720"/>
            <a:ext cx="45720" cy="1691640"/>
          </a:xfrm>
          <a:prstGeom prst="line">
            <a:avLst/>
          </a:prstGeom>
          <a:ln w="22860">
            <a:solidFill>
              <a:srgbClr val="DDEAFB">
                <a:alpha val="70000"/>
              </a:srgbClr>
            </a:solidFill>
          </a:ln>
          <a:effectLst/>
        </p:spPr>
        <p:style>
          <a:lnRef idx="2">
            <a:schemeClr val="accent1"/>
          </a:lnRef>
          <a:fillRef idx="0">
            <a:schemeClr val="accent1"/>
          </a:fillRef>
          <a:effectRef idx="1">
            <a:schemeClr val="accent1"/>
          </a:effectRef>
          <a:fontRef idx="minor">
            <a:schemeClr val="tx1"/>
          </a:fontRef>
        </p:style>
      </p:cxnSp>
      <p:pic>
        <p:nvPicPr>
          <p:cNvPr id="20" name="Picture 19" descr="av04.png"/>
          <p:cNvPicPr>
            <a:picLocks noChangeAspect="1"/>
          </p:cNvPicPr>
          <p:nvPr/>
        </p:nvPicPr>
        <p:blipFill>
          <a:blip r:embed="rId6"/>
          <a:stretch>
            <a:fillRect/>
          </a:stretch>
        </p:blipFill>
        <p:spPr>
          <a:xfrm>
            <a:off x="10506456" y="1042416"/>
            <a:ext cx="841248" cy="841248"/>
          </a:xfrm>
          <a:prstGeom prst="rect">
            <a:avLst/>
          </a:prstGeom>
          <a:effectLst>
            <a:outerShdw blurRad="64008" dist="41148" dir="5400000" rotWithShape="0">
              <a:srgbClr val="2A4A93">
                <a:alpha val="24000"/>
              </a:srgbClr>
            </a:outerShdw>
          </a:effectLst>
        </p:spPr>
      </p:pic>
      <p:pic>
        <p:nvPicPr>
          <p:cNvPr id="21" name="Picture 20" descr="av05.png"/>
          <p:cNvPicPr>
            <a:picLocks noChangeAspect="1"/>
          </p:cNvPicPr>
          <p:nvPr/>
        </p:nvPicPr>
        <p:blipFill>
          <a:blip r:embed="rId7"/>
          <a:stretch>
            <a:fillRect/>
          </a:stretch>
        </p:blipFill>
        <p:spPr>
          <a:xfrm>
            <a:off x="9226296" y="1911096"/>
            <a:ext cx="841248" cy="841248"/>
          </a:xfrm>
          <a:prstGeom prst="rect">
            <a:avLst/>
          </a:prstGeom>
          <a:effectLst>
            <a:outerShdw blurRad="64008" dist="41148" dir="5400000" rotWithShape="0">
              <a:srgbClr val="2A4A93">
                <a:alpha val="24000"/>
              </a:srgbClr>
            </a:outerShdw>
          </a:effectLst>
        </p:spPr>
      </p:pic>
      <p:pic>
        <p:nvPicPr>
          <p:cNvPr id="22" name="Picture 21" descr="av06.png"/>
          <p:cNvPicPr>
            <a:picLocks noChangeAspect="1"/>
          </p:cNvPicPr>
          <p:nvPr/>
        </p:nvPicPr>
        <p:blipFill>
          <a:blip r:embed="rId8"/>
          <a:stretch>
            <a:fillRect/>
          </a:stretch>
        </p:blipFill>
        <p:spPr>
          <a:xfrm>
            <a:off x="10689336" y="2779776"/>
            <a:ext cx="841248" cy="841248"/>
          </a:xfrm>
          <a:prstGeom prst="rect">
            <a:avLst/>
          </a:prstGeom>
          <a:effectLst>
            <a:outerShdw blurRad="64008" dist="41148" dir="5400000" rotWithShape="0">
              <a:srgbClr val="2A4A93">
                <a:alpha val="24000"/>
              </a:srgbClr>
            </a:outerShdw>
          </a:effectLst>
        </p:spPr>
      </p:pic>
      <p:pic>
        <p:nvPicPr>
          <p:cNvPr id="23" name="Picture 22" descr="av07.png"/>
          <p:cNvPicPr>
            <a:picLocks noChangeAspect="1"/>
          </p:cNvPicPr>
          <p:nvPr/>
        </p:nvPicPr>
        <p:blipFill>
          <a:blip r:embed="rId9"/>
          <a:stretch>
            <a:fillRect/>
          </a:stretch>
        </p:blipFill>
        <p:spPr>
          <a:xfrm>
            <a:off x="9180576" y="3602736"/>
            <a:ext cx="841248" cy="841248"/>
          </a:xfrm>
          <a:prstGeom prst="rect">
            <a:avLst/>
          </a:prstGeom>
          <a:effectLst>
            <a:outerShdw blurRad="64008" dist="41148" dir="5400000" rotWithShape="0">
              <a:srgbClr val="2A4A93">
                <a:alpha val="24000"/>
              </a:srgbClr>
            </a:outerShdw>
          </a:effectLst>
        </p:spPr>
      </p:pic>
      <p:sp>
        <p:nvSpPr>
          <p:cNvPr id="24" name="Rounded Rectangle 23"/>
          <p:cNvSpPr/>
          <p:nvPr/>
        </p:nvSpPr>
        <p:spPr>
          <a:xfrm>
            <a:off x="5175504" y="1005840"/>
            <a:ext cx="1828800" cy="1828800"/>
          </a:xfrm>
          <a:prstGeom prst="roundRect">
            <a:avLst>
              <a:gd name="adj" fmla="val 30000"/>
            </a:avLst>
          </a:prstGeom>
          <a:gradFill>
            <a:gsLst>
              <a:gs pos="0">
                <a:srgbClr val="3E78D6"/>
              </a:gs>
              <a:gs pos="100000">
                <a:srgbClr val="3A9BCE"/>
              </a:gs>
            </a:gsLst>
            <a:lin ang="2700000" scaled="1"/>
          </a:gradFill>
          <a:ln>
            <a:noFill/>
          </a:ln>
          <a:effectLst>
            <a:outerShdw blurRad="164592" dist="91440" dir="5400000" rotWithShape="0">
              <a:srgbClr val="3E78D6">
                <a:alpha val="3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75504" y="960120"/>
            <a:ext cx="1828800" cy="1828800"/>
          </a:xfrm>
          <a:prstGeom prst="rect">
            <a:avLst/>
          </a:prstGeom>
          <a:noFill/>
        </p:spPr>
        <p:txBody>
          <a:bodyPr wrap="square" anchor="ctr" lIns="50800" rIns="50800" tIns="25400" bIns="25400">
            <a:spAutoFit/>
          </a:bodyPr>
          <a:lstStyle/>
          <a:p>
            <a:pPr algn="ctr">
              <a:lnSpc>
                <a:spcPct val="100000"/>
              </a:lnSpc>
            </a:pPr>
            <a:r>
              <a:rPr sz="8000" b="0" i="0">
                <a:solidFill>
                  <a:srgbClr val="FFFFFF"/>
                </a:solidFill>
                <a:latin typeface="Segoe UI"/>
              </a:rPr>
              <a:t>🌐</a:t>
            </a:r>
          </a:p>
        </p:txBody>
      </p:sp>
      <p:sp>
        <p:nvSpPr>
          <p:cNvPr id="26" name="TextBox 25"/>
          <p:cNvSpPr txBox="1"/>
          <p:nvPr/>
        </p:nvSpPr>
        <p:spPr>
          <a:xfrm>
            <a:off x="914400" y="3127248"/>
            <a:ext cx="10360152" cy="1005840"/>
          </a:xfrm>
          <a:prstGeom prst="rect">
            <a:avLst/>
          </a:prstGeom>
          <a:noFill/>
        </p:spPr>
        <p:txBody>
          <a:bodyPr wrap="square" anchor="t" lIns="50800" rIns="50800" tIns="25400" bIns="25400">
            <a:spAutoFit/>
          </a:bodyPr>
          <a:lstStyle/>
          <a:p>
            <a:pPr algn="ctr">
              <a:lnSpc>
                <a:spcPct val="100000"/>
              </a:lnSpc>
            </a:pPr>
            <a:r>
              <a:rPr sz="5800" b="1" i="0">
                <a:solidFill>
                  <a:srgbClr val="0B2545"/>
                </a:solidFill>
                <a:latin typeface="Segoe UI Semibold"/>
              </a:rPr>
              <a:t>WISDOM SOCIAL</a:t>
            </a:r>
          </a:p>
        </p:txBody>
      </p:sp>
      <p:sp>
        <p:nvSpPr>
          <p:cNvPr id="27" name="Rounded Rectangle 26"/>
          <p:cNvSpPr/>
          <p:nvPr/>
        </p:nvSpPr>
        <p:spPr>
          <a:xfrm>
            <a:off x="5029200" y="4160520"/>
            <a:ext cx="2130552" cy="73152"/>
          </a:xfrm>
          <a:prstGeom prst="roundRect">
            <a:avLst>
              <a:gd name="adj" fmla="val 50000"/>
            </a:avLst>
          </a:prstGeom>
          <a:gradFill>
            <a:gsLst>
              <a:gs pos="0">
                <a:srgbClr val="3A9BCE"/>
              </a:gs>
              <a:gs pos="100000">
                <a:srgbClr val="3E78D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71600" y="4315968"/>
            <a:ext cx="9445752" cy="548640"/>
          </a:xfrm>
          <a:prstGeom prst="rect">
            <a:avLst/>
          </a:prstGeom>
          <a:noFill/>
        </p:spPr>
        <p:txBody>
          <a:bodyPr wrap="square" anchor="t" lIns="50800" rIns="50800" tIns="25400" bIns="25400">
            <a:spAutoFit/>
          </a:bodyPr>
          <a:lstStyle/>
          <a:p>
            <a:pPr algn="ctr">
              <a:lnSpc>
                <a:spcPct val="100000"/>
              </a:lnSpc>
            </a:pPr>
            <a:r>
              <a:rPr sz="1900" b="0" i="0">
                <a:solidFill>
                  <a:srgbClr val="23426B"/>
                </a:solidFill>
                <a:latin typeface="Segoe UI"/>
              </a:rPr>
              <a:t>Hệ thống Mạng xã hội đa nền tảng — Web • Mobile • Realtime • Cloud • AI</a:t>
            </a:r>
          </a:p>
        </p:txBody>
      </p:sp>
      <p:sp>
        <p:nvSpPr>
          <p:cNvPr id="29" name="Rounded Rectangle 28"/>
          <p:cNvSpPr/>
          <p:nvPr/>
        </p:nvSpPr>
        <p:spPr>
          <a:xfrm>
            <a:off x="1234440" y="5074920"/>
            <a:ext cx="1874519" cy="384048"/>
          </a:xfrm>
          <a:prstGeom prst="roundRect">
            <a:avLst>
              <a:gd name="adj" fmla="val 50000"/>
            </a:avLst>
          </a:prstGeom>
          <a:solidFill>
            <a:srgbClr val="5B6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40" y="5062220"/>
            <a:ext cx="1874519" cy="384048"/>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Semibold"/>
              </a:rPr>
              <a:t>Spring Boot · Java 21</a:t>
            </a:r>
          </a:p>
        </p:txBody>
      </p:sp>
      <p:sp>
        <p:nvSpPr>
          <p:cNvPr id="31" name="Rounded Rectangle 30"/>
          <p:cNvSpPr/>
          <p:nvPr/>
        </p:nvSpPr>
        <p:spPr>
          <a:xfrm>
            <a:off x="3273551" y="5074920"/>
            <a:ext cx="1874519" cy="384048"/>
          </a:xfrm>
          <a:prstGeom prst="roundRect">
            <a:avLst>
              <a:gd name="adj" fmla="val 50000"/>
            </a:avLst>
          </a:prstGeom>
          <a:solidFill>
            <a:srgbClr val="3E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73551" y="5062220"/>
            <a:ext cx="1874519" cy="384048"/>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Semibold"/>
              </a:rPr>
              <a:t>React · React Native</a:t>
            </a:r>
          </a:p>
        </p:txBody>
      </p:sp>
      <p:sp>
        <p:nvSpPr>
          <p:cNvPr id="33" name="Rounded Rectangle 32"/>
          <p:cNvSpPr/>
          <p:nvPr/>
        </p:nvSpPr>
        <p:spPr>
          <a:xfrm>
            <a:off x="5312662" y="5074920"/>
            <a:ext cx="1874519" cy="384048"/>
          </a:xfrm>
          <a:prstGeom prst="roundRect">
            <a:avLst>
              <a:gd name="adj" fmla="val 50000"/>
            </a:avLst>
          </a:prstGeom>
          <a:solidFill>
            <a:srgbClr val="2F8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12662" y="5062220"/>
            <a:ext cx="1874519" cy="384048"/>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Semibold"/>
              </a:rPr>
              <a:t>Hybrid Database</a:t>
            </a:r>
          </a:p>
        </p:txBody>
      </p:sp>
      <p:sp>
        <p:nvSpPr>
          <p:cNvPr id="35" name="Rounded Rectangle 34"/>
          <p:cNvSpPr/>
          <p:nvPr/>
        </p:nvSpPr>
        <p:spPr>
          <a:xfrm>
            <a:off x="7351773" y="5074920"/>
            <a:ext cx="1874519" cy="384048"/>
          </a:xfrm>
          <a:prstGeom prst="roundRect">
            <a:avLst>
              <a:gd name="adj" fmla="val 50000"/>
            </a:avLst>
          </a:prstGeom>
          <a:solidFill>
            <a:srgbClr val="2A4A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51773" y="5062220"/>
            <a:ext cx="1874519" cy="384048"/>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Semibold"/>
              </a:rPr>
              <a:t>Realtime · Redis</a:t>
            </a:r>
          </a:p>
        </p:txBody>
      </p:sp>
      <p:sp>
        <p:nvSpPr>
          <p:cNvPr id="37" name="Rounded Rectangle 36"/>
          <p:cNvSpPr/>
          <p:nvPr/>
        </p:nvSpPr>
        <p:spPr>
          <a:xfrm>
            <a:off x="9390884" y="5074920"/>
            <a:ext cx="1874519" cy="384048"/>
          </a:xfrm>
          <a:prstGeom prst="roundRect">
            <a:avLst>
              <a:gd name="adj" fmla="val 50000"/>
            </a:avLst>
          </a:prstGeom>
          <a:solidFill>
            <a:srgbClr val="2F6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0884" y="5062220"/>
            <a:ext cx="1874519" cy="384048"/>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Semibold"/>
              </a:rPr>
              <a:t>AWS · OpenRouter AI</a:t>
            </a:r>
          </a:p>
        </p:txBody>
      </p:sp>
      <p:sp>
        <p:nvSpPr>
          <p:cNvPr id="39" name="TextBox 38"/>
          <p:cNvSpPr txBox="1"/>
          <p:nvPr/>
        </p:nvSpPr>
        <p:spPr>
          <a:xfrm>
            <a:off x="914400" y="5943600"/>
            <a:ext cx="10360152" cy="365760"/>
          </a:xfrm>
          <a:prstGeom prst="rect">
            <a:avLst/>
          </a:prstGeom>
          <a:noFill/>
        </p:spPr>
        <p:txBody>
          <a:bodyPr wrap="square" anchor="t" lIns="50800" rIns="50800" tIns="25400" bIns="25400">
            <a:spAutoFit/>
          </a:bodyPr>
          <a:lstStyle/>
          <a:p>
            <a:pPr algn="ctr">
              <a:lnSpc>
                <a:spcPct val="100000"/>
              </a:lnSpc>
            </a:pPr>
            <a:r>
              <a:rPr sz="1400" b="1" i="0">
                <a:solidFill>
                  <a:srgbClr val="23426B"/>
                </a:solidFill>
                <a:latin typeface="Segoe UI"/>
              </a:rPr>
              <a:t>Đồ án môn Công nghệ mới trong Phát triển Ứng dụng CNTT</a:t>
            </a:r>
          </a:p>
        </p:txBody>
      </p:sp>
      <p:sp>
        <p:nvSpPr>
          <p:cNvPr id="40" name="TextBox 39"/>
          <p:cNvSpPr txBox="1"/>
          <p:nvPr/>
        </p:nvSpPr>
        <p:spPr>
          <a:xfrm>
            <a:off x="914400" y="6327648"/>
            <a:ext cx="10360152" cy="365760"/>
          </a:xfrm>
          <a:prstGeom prst="rect">
            <a:avLst/>
          </a:prstGeom>
          <a:noFill/>
        </p:spPr>
        <p:txBody>
          <a:bodyPr wrap="square" anchor="t" lIns="50800" rIns="50800" tIns="25400" bIns="25400">
            <a:spAutoFit/>
          </a:bodyPr>
          <a:lstStyle/>
          <a:p>
            <a:pPr algn="ctr">
              <a:lnSpc>
                <a:spcPct val="100000"/>
              </a:lnSpc>
            </a:pPr>
            <a:r>
              <a:rPr sz="1200" b="0" i="0">
                <a:solidFill>
                  <a:srgbClr val="6E7F9B"/>
                </a:solidFill>
                <a:latin typeface="Segoe UI"/>
              </a:rPr>
              <a:t>Kiến trúc phân tầng · Cơ sở dữ liệu lai · Realtime · Tối ưu hiệu năng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ube 4"/>
          <p:cNvSpPr/>
          <p:nvPr/>
        </p:nvSpPr>
        <p:spPr>
          <a:xfrm>
            <a:off x="9921240" y="0"/>
            <a:ext cx="2103120" cy="2103120"/>
          </a:xfrm>
          <a:prstGeom prst="cube">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E93AE"/>
              </a:gs>
              <a:gs pos="100000">
                <a:srgbClr val="8CC3D2"/>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E93AE"/>
                </a:solidFill>
                <a:latin typeface="Segoe UI Semibold"/>
              </a:rPr>
              <a:t>TỔNG QUAN TÀI LIỆU</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Nội dung trình bày</a:t>
            </a:r>
          </a:p>
        </p:txBody>
      </p:sp>
      <p:sp>
        <p:nvSpPr>
          <p:cNvPr id="9" name="Rounded Rectangle 8"/>
          <p:cNvSpPr/>
          <p:nvPr/>
        </p:nvSpPr>
        <p:spPr>
          <a:xfrm>
            <a:off x="777240" y="1783080"/>
            <a:ext cx="5349240" cy="1298448"/>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0120" y="2020824"/>
            <a:ext cx="822960" cy="822960"/>
          </a:xfrm>
          <a:prstGeom prst="roundRect">
            <a:avLst>
              <a:gd name="adj" fmla="val 25000"/>
            </a:avLst>
          </a:prstGeom>
          <a:gradFill>
            <a:gsLst>
              <a:gs pos="0">
                <a:srgbClr val="5B63D6"/>
              </a:gs>
              <a:gs pos="100000">
                <a:srgbClr val="2E93A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984248"/>
            <a:ext cx="822960" cy="822960"/>
          </a:xfrm>
          <a:prstGeom prst="rect">
            <a:avLst/>
          </a:prstGeom>
          <a:noFill/>
        </p:spPr>
        <p:txBody>
          <a:bodyPr wrap="square" anchor="ctr" lIns="50800" rIns="50800" tIns="25400" bIns="25400">
            <a:spAutoFit/>
          </a:bodyPr>
          <a:lstStyle/>
          <a:p>
            <a:pPr algn="ctr">
              <a:lnSpc>
                <a:spcPct val="100000"/>
              </a:lnSpc>
            </a:pPr>
            <a:r>
              <a:rPr sz="2600" b="1" i="0">
                <a:solidFill>
                  <a:srgbClr val="FFFFFF"/>
                </a:solidFill>
                <a:latin typeface="Segoe UI Semibold"/>
              </a:rPr>
              <a:t>01</a:t>
            </a:r>
          </a:p>
        </p:txBody>
      </p:sp>
      <p:sp>
        <p:nvSpPr>
          <p:cNvPr id="12" name="TextBox 11"/>
          <p:cNvSpPr txBox="1"/>
          <p:nvPr/>
        </p:nvSpPr>
        <p:spPr>
          <a:xfrm>
            <a:off x="1920240" y="2020824"/>
            <a:ext cx="4069080" cy="45720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Giới thiệu &amp; Mục tiêu</a:t>
            </a:r>
          </a:p>
        </p:txBody>
      </p:sp>
      <p:sp>
        <p:nvSpPr>
          <p:cNvPr id="13" name="TextBox 12"/>
          <p:cNvSpPr txBox="1"/>
          <p:nvPr/>
        </p:nvSpPr>
        <p:spPr>
          <a:xfrm>
            <a:off x="1920240" y="2496312"/>
            <a:ext cx="4069080" cy="457200"/>
          </a:xfrm>
          <a:prstGeom prst="rect">
            <a:avLst/>
          </a:prstGeom>
          <a:noFill/>
        </p:spPr>
        <p:txBody>
          <a:bodyPr wrap="square" anchor="t" lIns="50800" rIns="50800" tIns="25400" bIns="25400">
            <a:spAutoFit/>
          </a:bodyPr>
          <a:lstStyle/>
          <a:p>
            <a:pPr algn="l">
              <a:lnSpc>
                <a:spcPct val="100000"/>
              </a:lnSpc>
            </a:pPr>
            <a:r>
              <a:rPr sz="1200" b="0" i="0">
                <a:solidFill>
                  <a:srgbClr val="6E7F9B"/>
                </a:solidFill>
                <a:latin typeface="Segoe UI"/>
              </a:rPr>
              <a:t>Bối cảnh đồ án, mục tiêu, phạm vi đề tài</a:t>
            </a:r>
          </a:p>
        </p:txBody>
      </p:sp>
      <p:sp>
        <p:nvSpPr>
          <p:cNvPr id="14" name="Rounded Rectangle 13"/>
          <p:cNvSpPr/>
          <p:nvPr/>
        </p:nvSpPr>
        <p:spPr>
          <a:xfrm>
            <a:off x="6629400" y="1783080"/>
            <a:ext cx="5349240" cy="1298448"/>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12280" y="2020824"/>
            <a:ext cx="822960" cy="822960"/>
          </a:xfrm>
          <a:prstGeom prst="roundRect">
            <a:avLst>
              <a:gd name="adj" fmla="val 25000"/>
            </a:avLst>
          </a:prstGeom>
          <a:gradFill>
            <a:gsLst>
              <a:gs pos="0">
                <a:srgbClr val="3E78D6"/>
              </a:gs>
              <a:gs pos="100000">
                <a:srgbClr val="3A9BC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1984248"/>
            <a:ext cx="822960" cy="822960"/>
          </a:xfrm>
          <a:prstGeom prst="rect">
            <a:avLst/>
          </a:prstGeom>
          <a:noFill/>
        </p:spPr>
        <p:txBody>
          <a:bodyPr wrap="square" anchor="ctr" lIns="50800" rIns="50800" tIns="25400" bIns="25400">
            <a:spAutoFit/>
          </a:bodyPr>
          <a:lstStyle/>
          <a:p>
            <a:pPr algn="ctr">
              <a:lnSpc>
                <a:spcPct val="100000"/>
              </a:lnSpc>
            </a:pPr>
            <a:r>
              <a:rPr sz="2600" b="1" i="0">
                <a:solidFill>
                  <a:srgbClr val="FFFFFF"/>
                </a:solidFill>
                <a:latin typeface="Segoe UI Semibold"/>
              </a:rPr>
              <a:t>02</a:t>
            </a:r>
          </a:p>
        </p:txBody>
      </p:sp>
      <p:sp>
        <p:nvSpPr>
          <p:cNvPr id="17" name="TextBox 16"/>
          <p:cNvSpPr txBox="1"/>
          <p:nvPr/>
        </p:nvSpPr>
        <p:spPr>
          <a:xfrm>
            <a:off x="7772400" y="2020824"/>
            <a:ext cx="4069080" cy="45720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Cloud Computing</a:t>
            </a:r>
          </a:p>
        </p:txBody>
      </p:sp>
      <p:sp>
        <p:nvSpPr>
          <p:cNvPr id="18" name="TextBox 17"/>
          <p:cNvSpPr txBox="1"/>
          <p:nvPr/>
        </p:nvSpPr>
        <p:spPr>
          <a:xfrm>
            <a:off x="7772400" y="2496312"/>
            <a:ext cx="4069080" cy="457200"/>
          </a:xfrm>
          <a:prstGeom prst="rect">
            <a:avLst/>
          </a:prstGeom>
          <a:noFill/>
        </p:spPr>
        <p:txBody>
          <a:bodyPr wrap="square" anchor="t" lIns="50800" rIns="50800" tIns="25400" bIns="25400">
            <a:spAutoFit/>
          </a:bodyPr>
          <a:lstStyle/>
          <a:p>
            <a:pPr algn="l">
              <a:lnSpc>
                <a:spcPct val="100000"/>
              </a:lnSpc>
            </a:pPr>
            <a:r>
              <a:rPr sz="1200" b="0" i="0">
                <a:solidFill>
                  <a:srgbClr val="6E7F9B"/>
                </a:solidFill>
                <a:latin typeface="Segoe UI"/>
              </a:rPr>
              <a:t>AWS · MongoDB Atlas · TiBi · Vercel · OpenRouter</a:t>
            </a:r>
          </a:p>
        </p:txBody>
      </p:sp>
      <p:sp>
        <p:nvSpPr>
          <p:cNvPr id="19" name="Rounded Rectangle 18"/>
          <p:cNvSpPr/>
          <p:nvPr/>
        </p:nvSpPr>
        <p:spPr>
          <a:xfrm>
            <a:off x="777240" y="3337560"/>
            <a:ext cx="5349240" cy="1298448"/>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0120" y="3575304"/>
            <a:ext cx="822960" cy="822960"/>
          </a:xfrm>
          <a:prstGeom prst="roundRect">
            <a:avLst>
              <a:gd name="adj" fmla="val 25000"/>
            </a:avLst>
          </a:prstGeom>
          <a:gradFill>
            <a:gsLst>
              <a:gs pos="0">
                <a:srgbClr val="5158C4"/>
              </a:gs>
              <a:gs pos="100000">
                <a:srgbClr val="7A82E6"/>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3538728"/>
            <a:ext cx="822960" cy="822960"/>
          </a:xfrm>
          <a:prstGeom prst="rect">
            <a:avLst/>
          </a:prstGeom>
          <a:noFill/>
        </p:spPr>
        <p:txBody>
          <a:bodyPr wrap="square" anchor="ctr" lIns="50800" rIns="50800" tIns="25400" bIns="25400">
            <a:spAutoFit/>
          </a:bodyPr>
          <a:lstStyle/>
          <a:p>
            <a:pPr algn="ctr">
              <a:lnSpc>
                <a:spcPct val="100000"/>
              </a:lnSpc>
            </a:pPr>
            <a:r>
              <a:rPr sz="2600" b="1" i="0">
                <a:solidFill>
                  <a:srgbClr val="FFFFFF"/>
                </a:solidFill>
                <a:latin typeface="Segoe UI Semibold"/>
              </a:rPr>
              <a:t>03</a:t>
            </a:r>
          </a:p>
        </p:txBody>
      </p:sp>
      <p:sp>
        <p:nvSpPr>
          <p:cNvPr id="22" name="TextBox 21"/>
          <p:cNvSpPr txBox="1"/>
          <p:nvPr/>
        </p:nvSpPr>
        <p:spPr>
          <a:xfrm>
            <a:off x="1920240" y="3575304"/>
            <a:ext cx="4069080" cy="45720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Công nghệ &amp; Kiến trúc</a:t>
            </a:r>
          </a:p>
        </p:txBody>
      </p:sp>
      <p:sp>
        <p:nvSpPr>
          <p:cNvPr id="23" name="TextBox 22"/>
          <p:cNvSpPr txBox="1"/>
          <p:nvPr/>
        </p:nvSpPr>
        <p:spPr>
          <a:xfrm>
            <a:off x="1920240" y="4050792"/>
            <a:ext cx="4069080" cy="457200"/>
          </a:xfrm>
          <a:prstGeom prst="rect">
            <a:avLst/>
          </a:prstGeom>
          <a:noFill/>
        </p:spPr>
        <p:txBody>
          <a:bodyPr wrap="square" anchor="t" lIns="50800" rIns="50800" tIns="25400" bIns="25400">
            <a:spAutoFit/>
          </a:bodyPr>
          <a:lstStyle/>
          <a:p>
            <a:pPr algn="l">
              <a:lnSpc>
                <a:spcPct val="100000"/>
              </a:lnSpc>
            </a:pPr>
            <a:r>
              <a:rPr sz="1200" b="0" i="0">
                <a:solidFill>
                  <a:srgbClr val="6E7F9B"/>
                </a:solidFill>
                <a:latin typeface="Segoe UI"/>
              </a:rPr>
              <a:t>Tech stack · Layered · Hybrid Database</a:t>
            </a:r>
          </a:p>
        </p:txBody>
      </p:sp>
      <p:sp>
        <p:nvSpPr>
          <p:cNvPr id="24" name="Rounded Rectangle 23"/>
          <p:cNvSpPr/>
          <p:nvPr/>
        </p:nvSpPr>
        <p:spPr>
          <a:xfrm>
            <a:off x="6629400" y="3337560"/>
            <a:ext cx="5349240" cy="1298448"/>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12280" y="3575304"/>
            <a:ext cx="822960" cy="822960"/>
          </a:xfrm>
          <a:prstGeom prst="roundRect">
            <a:avLst>
              <a:gd name="adj" fmla="val 25000"/>
            </a:avLst>
          </a:prstGeom>
          <a:gradFill>
            <a:gsLst>
              <a:gs pos="0">
                <a:srgbClr val="2F86A4"/>
              </a:gs>
              <a:gs pos="100000">
                <a:srgbClr val="3A9BC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12280" y="3538728"/>
            <a:ext cx="822960" cy="822960"/>
          </a:xfrm>
          <a:prstGeom prst="rect">
            <a:avLst/>
          </a:prstGeom>
          <a:noFill/>
        </p:spPr>
        <p:txBody>
          <a:bodyPr wrap="square" anchor="ctr" lIns="50800" rIns="50800" tIns="25400" bIns="25400">
            <a:spAutoFit/>
          </a:bodyPr>
          <a:lstStyle/>
          <a:p>
            <a:pPr algn="ctr">
              <a:lnSpc>
                <a:spcPct val="100000"/>
              </a:lnSpc>
            </a:pPr>
            <a:r>
              <a:rPr sz="2600" b="1" i="0">
                <a:solidFill>
                  <a:srgbClr val="FFFFFF"/>
                </a:solidFill>
                <a:latin typeface="Segoe UI Semibold"/>
              </a:rPr>
              <a:t>04</a:t>
            </a:r>
          </a:p>
        </p:txBody>
      </p:sp>
      <p:sp>
        <p:nvSpPr>
          <p:cNvPr id="27" name="TextBox 26"/>
          <p:cNvSpPr txBox="1"/>
          <p:nvPr/>
        </p:nvSpPr>
        <p:spPr>
          <a:xfrm>
            <a:off x="7772400" y="3575304"/>
            <a:ext cx="4069080" cy="45720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Tối ưu hiệu năng</a:t>
            </a:r>
          </a:p>
        </p:txBody>
      </p:sp>
      <p:sp>
        <p:nvSpPr>
          <p:cNvPr id="28" name="TextBox 27"/>
          <p:cNvSpPr txBox="1"/>
          <p:nvPr/>
        </p:nvSpPr>
        <p:spPr>
          <a:xfrm>
            <a:off x="7772400" y="4050792"/>
            <a:ext cx="4069080" cy="457200"/>
          </a:xfrm>
          <a:prstGeom prst="rect">
            <a:avLst/>
          </a:prstGeom>
          <a:noFill/>
        </p:spPr>
        <p:txBody>
          <a:bodyPr wrap="square" anchor="t" lIns="50800" rIns="50800" tIns="25400" bIns="25400">
            <a:spAutoFit/>
          </a:bodyPr>
          <a:lstStyle/>
          <a:p>
            <a:pPr algn="l">
              <a:lnSpc>
                <a:spcPct val="100000"/>
              </a:lnSpc>
            </a:pPr>
            <a:r>
              <a:rPr sz="1200" b="0" i="0">
                <a:solidFill>
                  <a:srgbClr val="6E7F9B"/>
                </a:solidFill>
                <a:latin typeface="Segoe UI"/>
              </a:rPr>
              <a:t>Sliding Window Cache · Compound Index · N+1</a:t>
            </a:r>
          </a:p>
        </p:txBody>
      </p:sp>
      <p:sp>
        <p:nvSpPr>
          <p:cNvPr id="29" name="Rounded Rectangle 28"/>
          <p:cNvSpPr/>
          <p:nvPr/>
        </p:nvSpPr>
        <p:spPr>
          <a:xfrm>
            <a:off x="777240" y="4892040"/>
            <a:ext cx="5349240" cy="1298448"/>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60120" y="5129784"/>
            <a:ext cx="822960" cy="822960"/>
          </a:xfrm>
          <a:prstGeom prst="roundRect">
            <a:avLst>
              <a:gd name="adj" fmla="val 25000"/>
            </a:avLst>
          </a:prstGeom>
          <a:gradFill>
            <a:gsLst>
              <a:gs pos="0">
                <a:srgbClr val="2A4A93"/>
              </a:gs>
              <a:gs pos="100000">
                <a:srgbClr val="8FBDE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093208"/>
            <a:ext cx="822960" cy="822960"/>
          </a:xfrm>
          <a:prstGeom prst="rect">
            <a:avLst/>
          </a:prstGeom>
          <a:noFill/>
        </p:spPr>
        <p:txBody>
          <a:bodyPr wrap="square" anchor="ctr" lIns="50800" rIns="50800" tIns="25400" bIns="25400">
            <a:spAutoFit/>
          </a:bodyPr>
          <a:lstStyle/>
          <a:p>
            <a:pPr algn="ctr">
              <a:lnSpc>
                <a:spcPct val="100000"/>
              </a:lnSpc>
            </a:pPr>
            <a:r>
              <a:rPr sz="2600" b="1" i="0">
                <a:solidFill>
                  <a:srgbClr val="FFFFFF"/>
                </a:solidFill>
                <a:latin typeface="Segoe UI Semibold"/>
              </a:rPr>
              <a:t>05</a:t>
            </a:r>
          </a:p>
        </p:txBody>
      </p:sp>
      <p:sp>
        <p:nvSpPr>
          <p:cNvPr id="32" name="TextBox 31"/>
          <p:cNvSpPr txBox="1"/>
          <p:nvPr/>
        </p:nvSpPr>
        <p:spPr>
          <a:xfrm>
            <a:off x="1920240" y="5129784"/>
            <a:ext cx="4069080" cy="45720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Module &amp; Luồng chính</a:t>
            </a:r>
          </a:p>
        </p:txBody>
      </p:sp>
      <p:sp>
        <p:nvSpPr>
          <p:cNvPr id="33" name="TextBox 32"/>
          <p:cNvSpPr txBox="1"/>
          <p:nvPr/>
        </p:nvSpPr>
        <p:spPr>
          <a:xfrm>
            <a:off x="1920240" y="5605272"/>
            <a:ext cx="4069080" cy="457200"/>
          </a:xfrm>
          <a:prstGeom prst="rect">
            <a:avLst/>
          </a:prstGeom>
          <a:noFill/>
        </p:spPr>
        <p:txBody>
          <a:bodyPr wrap="square" anchor="t" lIns="50800" rIns="50800" tIns="25400" bIns="25400">
            <a:spAutoFit/>
          </a:bodyPr>
          <a:lstStyle/>
          <a:p>
            <a:pPr algn="l">
              <a:lnSpc>
                <a:spcPct val="100000"/>
              </a:lnSpc>
            </a:pPr>
            <a:r>
              <a:rPr sz="1200" b="0" i="0">
                <a:solidFill>
                  <a:srgbClr val="6E7F9B"/>
                </a:solidFill>
                <a:latin typeface="Segoe UI"/>
              </a:rPr>
              <a:t>Feed, Chat, Pages, AI · OTP · QR · Realtime</a:t>
            </a:r>
          </a:p>
        </p:txBody>
      </p:sp>
      <p:sp>
        <p:nvSpPr>
          <p:cNvPr id="34" name="Rounded Rectangle 33"/>
          <p:cNvSpPr/>
          <p:nvPr/>
        </p:nvSpPr>
        <p:spPr>
          <a:xfrm>
            <a:off x="6629400" y="4892040"/>
            <a:ext cx="5349240" cy="1298448"/>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812280" y="5129784"/>
            <a:ext cx="822960" cy="822960"/>
          </a:xfrm>
          <a:prstGeom prst="roundRect">
            <a:avLst>
              <a:gd name="adj" fmla="val 25000"/>
            </a:avLst>
          </a:prstGeom>
          <a:gradFill>
            <a:gsLst>
              <a:gs pos="0">
                <a:srgbClr val="2F62C9"/>
              </a:gs>
              <a:gs pos="100000">
                <a:srgbClr val="5470C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12280" y="5093208"/>
            <a:ext cx="822960" cy="822960"/>
          </a:xfrm>
          <a:prstGeom prst="rect">
            <a:avLst/>
          </a:prstGeom>
          <a:noFill/>
        </p:spPr>
        <p:txBody>
          <a:bodyPr wrap="square" anchor="ctr" lIns="50800" rIns="50800" tIns="25400" bIns="25400">
            <a:spAutoFit/>
          </a:bodyPr>
          <a:lstStyle/>
          <a:p>
            <a:pPr algn="ctr">
              <a:lnSpc>
                <a:spcPct val="100000"/>
              </a:lnSpc>
            </a:pPr>
            <a:r>
              <a:rPr sz="2600" b="1" i="0">
                <a:solidFill>
                  <a:srgbClr val="FFFFFF"/>
                </a:solidFill>
                <a:latin typeface="Segoe UI Semibold"/>
              </a:rPr>
              <a:t>06</a:t>
            </a:r>
          </a:p>
        </p:txBody>
      </p:sp>
      <p:sp>
        <p:nvSpPr>
          <p:cNvPr id="37" name="TextBox 36"/>
          <p:cNvSpPr txBox="1"/>
          <p:nvPr/>
        </p:nvSpPr>
        <p:spPr>
          <a:xfrm>
            <a:off x="7772400" y="5129784"/>
            <a:ext cx="4069080" cy="45720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Bảo mật &amp; Định hướng</a:t>
            </a:r>
          </a:p>
        </p:txBody>
      </p:sp>
      <p:sp>
        <p:nvSpPr>
          <p:cNvPr id="38" name="TextBox 37"/>
          <p:cNvSpPr txBox="1"/>
          <p:nvPr/>
        </p:nvSpPr>
        <p:spPr>
          <a:xfrm>
            <a:off x="7772400" y="5605272"/>
            <a:ext cx="4069080" cy="457200"/>
          </a:xfrm>
          <a:prstGeom prst="rect">
            <a:avLst/>
          </a:prstGeom>
          <a:noFill/>
        </p:spPr>
        <p:txBody>
          <a:bodyPr wrap="square" anchor="t" lIns="50800" rIns="50800" tIns="25400" bIns="25400">
            <a:spAutoFit/>
          </a:bodyPr>
          <a:lstStyle/>
          <a:p>
            <a:pPr algn="l">
              <a:lnSpc>
                <a:spcPct val="100000"/>
              </a:lnSpc>
            </a:pPr>
            <a:r>
              <a:rPr sz="1200" b="0" i="0">
                <a:solidFill>
                  <a:srgbClr val="6E7F9B"/>
                </a:solidFill>
                <a:latin typeface="Segoe UI"/>
              </a:rPr>
              <a:t>Security model &amp; roadmap tương lai</a:t>
            </a:r>
          </a:p>
        </p:txBody>
      </p:sp>
      <p:sp>
        <p:nvSpPr>
          <p:cNvPr id="39" name="TextBox 38"/>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0" name="Rounded Rectangle 39"/>
          <p:cNvSpPr/>
          <p:nvPr/>
        </p:nvSpPr>
        <p:spPr>
          <a:xfrm>
            <a:off x="11247120" y="6382512"/>
            <a:ext cx="502920" cy="310896"/>
          </a:xfrm>
          <a:prstGeom prst="roundRect">
            <a:avLst>
              <a:gd name="adj" fmla="val 50000"/>
            </a:avLst>
          </a:prstGeom>
          <a:gradFill>
            <a:gsLst>
              <a:gs pos="0">
                <a:srgbClr val="2E93AE"/>
              </a:gs>
              <a:gs pos="100000">
                <a:srgbClr val="6CB3C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ular Callout 4"/>
          <p:cNvSpPr/>
          <p:nvPr/>
        </p:nvSpPr>
        <p:spPr>
          <a:xfrm>
            <a:off x="9784080" y="137160"/>
            <a:ext cx="2377440" cy="1828800"/>
          </a:xfrm>
          <a:prstGeom prst="wedgeRoundRect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5B63D6"/>
              </a:gs>
              <a:gs pos="100000">
                <a:srgbClr val="A4A9E8"/>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5B63D6"/>
                </a:solidFill>
                <a:latin typeface="Segoe UI Semibold"/>
              </a:rPr>
              <a:t>1.1  TỔNG QUAN</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Wisdom Social là gì?</a:t>
            </a:r>
          </a:p>
        </p:txBody>
      </p:sp>
      <p:sp>
        <p:nvSpPr>
          <p:cNvPr id="9" name="TextBox 8"/>
          <p:cNvSpPr txBox="1"/>
          <p:nvPr/>
        </p:nvSpPr>
        <p:spPr>
          <a:xfrm>
            <a:off x="777240" y="1664208"/>
            <a:ext cx="10607040" cy="1005840"/>
          </a:xfrm>
          <a:prstGeom prst="rect">
            <a:avLst/>
          </a:prstGeom>
          <a:noFill/>
        </p:spPr>
        <p:txBody>
          <a:bodyPr wrap="square" anchor="t" lIns="50800" rIns="50800" tIns="25400" bIns="25400">
            <a:spAutoFit/>
          </a:bodyPr>
          <a:lstStyle/>
          <a:p>
            <a:pPr algn="l">
              <a:lnSpc>
                <a:spcPct val="118000"/>
              </a:lnSpc>
            </a:pPr>
            <a:r>
              <a:rPr sz="1450" b="0" i="0">
                <a:solidFill>
                  <a:srgbClr val="23426B"/>
                </a:solidFill>
                <a:latin typeface="Segoe UI"/>
              </a:rPr>
              <a:t>Hệ thống mạng xã hội đa nền tảng, vận dụng kiến trúc phần mềm phân tầng, cơ sở dữ liệu lai, lập trình realtime và tối ưu hiệu năng. Tham khảo Instagram &amp; Zalo, chọn lọc các chức năng phù hợp người dùng Việt: Story, Reels, Newsfeed, Chat cá nhân/nhóm, Page, Notification.</a:t>
            </a:r>
          </a:p>
        </p:txBody>
      </p:sp>
      <p:sp>
        <p:nvSpPr>
          <p:cNvPr id="10" name="Rounded Rectangle 9"/>
          <p:cNvSpPr/>
          <p:nvPr/>
        </p:nvSpPr>
        <p:spPr>
          <a:xfrm>
            <a:off x="777240" y="2834640"/>
            <a:ext cx="3520440" cy="233172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834640"/>
            <a:ext cx="352044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09067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07238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4" name="TextBox 13"/>
          <p:cNvSpPr txBox="1"/>
          <p:nvPr/>
        </p:nvSpPr>
        <p:spPr>
          <a:xfrm>
            <a:off x="960120" y="3767328"/>
            <a:ext cx="3154680" cy="36576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Backend</a:t>
            </a:r>
          </a:p>
        </p:txBody>
      </p:sp>
      <p:sp>
        <p:nvSpPr>
          <p:cNvPr id="15" name="TextBox 14"/>
          <p:cNvSpPr txBox="1"/>
          <p:nvPr/>
        </p:nvSpPr>
        <p:spPr>
          <a:xfrm>
            <a:off x="960120" y="4133088"/>
            <a:ext cx="3154680" cy="96012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Spring Boot 3.5 trên Java 21 — vừa là REST API Server vừa là WebSocket Server phục vụ các chức năng realtime.</a:t>
            </a:r>
          </a:p>
        </p:txBody>
      </p:sp>
      <p:sp>
        <p:nvSpPr>
          <p:cNvPr id="16" name="Rounded Rectangle 15"/>
          <p:cNvSpPr/>
          <p:nvPr/>
        </p:nvSpPr>
        <p:spPr>
          <a:xfrm>
            <a:off x="4599432" y="2834640"/>
            <a:ext cx="3520440" cy="233172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99432" y="2834640"/>
            <a:ext cx="3520440"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800600" y="309067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00600" y="307238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0" name="TextBox 19"/>
          <p:cNvSpPr txBox="1"/>
          <p:nvPr/>
        </p:nvSpPr>
        <p:spPr>
          <a:xfrm>
            <a:off x="4782312" y="3767328"/>
            <a:ext cx="3154680" cy="36576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Frontend Web</a:t>
            </a:r>
          </a:p>
        </p:txBody>
      </p:sp>
      <p:sp>
        <p:nvSpPr>
          <p:cNvPr id="21" name="TextBox 20"/>
          <p:cNvSpPr txBox="1"/>
          <p:nvPr/>
        </p:nvSpPr>
        <p:spPr>
          <a:xfrm>
            <a:off x="4782312" y="4133088"/>
            <a:ext cx="3154680" cy="96012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SPA bằng React 19, Vite 7, TailwindCSS 4 &amp; Ant Design 5 — tối ưu cho trình duyệt máy tính &amp; máy tính bảng.</a:t>
            </a:r>
          </a:p>
        </p:txBody>
      </p:sp>
      <p:sp>
        <p:nvSpPr>
          <p:cNvPr id="22" name="Rounded Rectangle 21"/>
          <p:cNvSpPr/>
          <p:nvPr/>
        </p:nvSpPr>
        <p:spPr>
          <a:xfrm>
            <a:off x="8421624" y="2834640"/>
            <a:ext cx="3520440" cy="233172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21624" y="2834640"/>
            <a:ext cx="3520440"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22792" y="309067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22792" y="307238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6" name="TextBox 25"/>
          <p:cNvSpPr txBox="1"/>
          <p:nvPr/>
        </p:nvSpPr>
        <p:spPr>
          <a:xfrm>
            <a:off x="8604504" y="3767328"/>
            <a:ext cx="3154680" cy="365760"/>
          </a:xfrm>
          <a:prstGeom prst="rect">
            <a:avLst/>
          </a:prstGeom>
          <a:noFill/>
        </p:spPr>
        <p:txBody>
          <a:bodyPr wrap="square" anchor="t" lIns="50800" rIns="50800" tIns="25400" bIns="25400">
            <a:spAutoFit/>
          </a:bodyPr>
          <a:lstStyle/>
          <a:p>
            <a:pPr algn="l">
              <a:lnSpc>
                <a:spcPct val="100000"/>
              </a:lnSpc>
            </a:pPr>
            <a:r>
              <a:rPr sz="1700" b="1" i="0">
                <a:solidFill>
                  <a:srgbClr val="0B2545"/>
                </a:solidFill>
                <a:latin typeface="Segoe UI Semibold"/>
              </a:rPr>
              <a:t>Frontend Mobile</a:t>
            </a:r>
          </a:p>
        </p:txBody>
      </p:sp>
      <p:sp>
        <p:nvSpPr>
          <p:cNvPr id="27" name="TextBox 26"/>
          <p:cNvSpPr txBox="1"/>
          <p:nvPr/>
        </p:nvSpPr>
        <p:spPr>
          <a:xfrm>
            <a:off x="8604504" y="4133088"/>
            <a:ext cx="3154680" cy="96012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Ứng dụng di động React Native 0.81 + Expo SDK 54 — hỗ trợ đồng thời Android và iOS.</a:t>
            </a:r>
          </a:p>
        </p:txBody>
      </p:sp>
      <p:sp>
        <p:nvSpPr>
          <p:cNvPr id="28" name="Rounded Rectangle 27"/>
          <p:cNvSpPr/>
          <p:nvPr/>
        </p:nvSpPr>
        <p:spPr>
          <a:xfrm>
            <a:off x="777240" y="5440680"/>
            <a:ext cx="10607040" cy="777240"/>
          </a:xfrm>
          <a:prstGeom prst="roundRect">
            <a:avLst>
              <a:gd name="adj" fmla="val 12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486400"/>
            <a:ext cx="10332720" cy="365760"/>
          </a:xfrm>
          <a:prstGeom prst="rect">
            <a:avLst/>
          </a:prstGeom>
          <a:noFill/>
        </p:spPr>
        <p:txBody>
          <a:bodyPr wrap="square" anchor="t" lIns="50800" rIns="50800" tIns="25400" bIns="25400">
            <a:spAutoFit/>
          </a:bodyPr>
          <a:lstStyle/>
          <a:p>
            <a:pPr algn="l">
              <a:lnSpc>
                <a:spcPct val="100000"/>
              </a:lnSpc>
            </a:pPr>
            <a:r>
              <a:rPr sz="1250" b="1" i="0">
                <a:solidFill>
                  <a:srgbClr val="2E93AE"/>
                </a:solidFill>
                <a:latin typeface="Segoe UI Semibold"/>
              </a:rPr>
              <a:t>💡  Ý nghĩa tên gọi</a:t>
            </a:r>
          </a:p>
        </p:txBody>
      </p:sp>
      <p:sp>
        <p:nvSpPr>
          <p:cNvPr id="30" name="TextBox 29"/>
          <p:cNvSpPr txBox="1"/>
          <p:nvPr/>
        </p:nvSpPr>
        <p:spPr>
          <a:xfrm>
            <a:off x="960120" y="5833872"/>
            <a:ext cx="10332720" cy="365760"/>
          </a:xfrm>
          <a:prstGeom prst="rect">
            <a:avLst/>
          </a:prstGeom>
          <a:noFill/>
        </p:spPr>
        <p:txBody>
          <a:bodyPr wrap="square" anchor="ctr" lIns="50800" rIns="50800" tIns="25400" bIns="25400">
            <a:spAutoFit/>
          </a:bodyPr>
          <a:lstStyle/>
          <a:p>
            <a:pPr algn="l">
              <a:lnSpc>
                <a:spcPct val="100000"/>
              </a:lnSpc>
            </a:pPr>
            <a:r>
              <a:rPr sz="1150" b="0" i="0">
                <a:solidFill>
                  <a:srgbClr val="6E7F9B"/>
                </a:solidFill>
                <a:latin typeface="Segoe UI"/>
              </a:rPr>
              <a:t>“Wisdom Social” — không gian mạng xã hội tích cực để chia sẻ kiến thức, kinh nghiệm, khoảnh khắc đời sống và kết nối qua nội dung mang giá trị cộng đồng.</a:t>
            </a:r>
          </a:p>
        </p:txBody>
      </p:sp>
      <p:sp>
        <p:nvSpPr>
          <p:cNvPr id="31" name="TextBox 30"/>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2" name="Rounded Rectangle 31"/>
          <p:cNvSpPr/>
          <p:nvPr/>
        </p:nvSpPr>
        <p:spPr>
          <a:xfrm>
            <a:off x="11247120" y="6382512"/>
            <a:ext cx="502920" cy="310896"/>
          </a:xfrm>
          <a:prstGeom prst="roundRect">
            <a:avLst>
              <a:gd name="adj" fmla="val 50000"/>
            </a:avLst>
          </a:prstGeom>
          <a:gradFill>
            <a:gsLst>
              <a:gs pos="0">
                <a:srgbClr val="5B63D6"/>
              </a:gs>
              <a:gs pos="100000">
                <a:srgbClr val="8C91E2"/>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un 4"/>
          <p:cNvSpPr/>
          <p:nvPr/>
        </p:nvSpPr>
        <p:spPr>
          <a:xfrm>
            <a:off x="9921240" y="0"/>
            <a:ext cx="2103120" cy="2103120"/>
          </a:xfrm>
          <a:prstGeom prst="su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F86A4"/>
              </a:gs>
              <a:gs pos="100000">
                <a:srgbClr val="8CBCCC"/>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F86A4"/>
                </a:solidFill>
                <a:latin typeface="Segoe UI Semibold"/>
              </a:rPr>
              <a:t>1.2  MỤC TIÊU ĐỀ TÀI</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Bốn nhóm mục tiêu nghiên cứu</a:t>
            </a:r>
          </a:p>
        </p:txBody>
      </p:sp>
      <p:sp>
        <p:nvSpPr>
          <p:cNvPr id="9" name="Rounded Rectangle 8"/>
          <p:cNvSpPr/>
          <p:nvPr/>
        </p:nvSpPr>
        <p:spPr>
          <a:xfrm>
            <a:off x="777240" y="1783080"/>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1.2.1  Cloud Computing</a:t>
            </a:r>
          </a:p>
        </p:txBody>
      </p:sp>
      <p:sp>
        <p:nvSpPr>
          <p:cNvPr id="14" name="TextBox 13"/>
          <p:cNvSpPr txBox="1"/>
          <p:nvPr/>
        </p:nvSpPr>
        <p:spPr>
          <a:xfrm>
            <a:off x="960120" y="3081528"/>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Nghiên cứu &amp; vận dụng các nền tảng điện toán đám mây hiện đại để xây hệ thống mở rộng, bảo mật, tối ưu tài nguyên (Cloud-Based Architecture).</a:t>
            </a:r>
          </a:p>
        </p:txBody>
      </p:sp>
      <p:sp>
        <p:nvSpPr>
          <p:cNvPr id="15" name="Rounded Rectangle 14"/>
          <p:cNvSpPr/>
          <p:nvPr/>
        </p:nvSpPr>
        <p:spPr>
          <a:xfrm>
            <a:off x="6172200" y="1783080"/>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1783080"/>
            <a:ext cx="5212080"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3368"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6355080" y="2715768"/>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1.2.2  Kiến trúc dữ liệu</a:t>
            </a:r>
          </a:p>
        </p:txBody>
      </p:sp>
      <p:sp>
        <p:nvSpPr>
          <p:cNvPr id="20" name="TextBox 19"/>
          <p:cNvSpPr txBox="1"/>
          <p:nvPr/>
        </p:nvSpPr>
        <p:spPr>
          <a:xfrm>
            <a:off x="6355080" y="3081528"/>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Triển khai Polyglot Persistence (Hybrid Database), tối ưu truy vấn (Compound Index), nhiều chiến lược cache; chung 1 backend cho Web &amp; Mobile.</a:t>
            </a:r>
          </a:p>
        </p:txBody>
      </p:sp>
      <p:sp>
        <p:nvSpPr>
          <p:cNvPr id="21" name="Rounded Rectangle 20"/>
          <p:cNvSpPr/>
          <p:nvPr/>
        </p:nvSpPr>
        <p:spPr>
          <a:xfrm>
            <a:off x="777240" y="3995928"/>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995928"/>
            <a:ext cx="5212080" cy="109728"/>
          </a:xfrm>
          <a:prstGeom prst="roundRect">
            <a:avLst>
              <a:gd name="adj" fmla="val 50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 y="4251960"/>
            <a:ext cx="603504" cy="603504"/>
          </a:xfrm>
          <a:prstGeom prst="roundRect">
            <a:avLst>
              <a:gd name="adj" fmla="val 30000"/>
            </a:avLst>
          </a:prstGeom>
          <a:gradFill>
            <a:gsLst>
              <a:gs pos="0">
                <a:srgbClr val="2A4A93"/>
              </a:gs>
              <a:gs pos="100000">
                <a:srgbClr val="8FBDEE"/>
              </a:gs>
            </a:gsLst>
            <a:lin ang="2700000" scaled="1"/>
          </a:gradFill>
          <a:ln>
            <a:noFill/>
          </a:ln>
          <a:effectLst>
            <a:outerShdw blurRad="54864" dist="36576" dir="5400000" rotWithShape="0">
              <a:srgbClr val="2A4A93">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4233672"/>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960120" y="4928616"/>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1.2.3  Realtime &amp; Thuật toán</a:t>
            </a:r>
          </a:p>
        </p:txBody>
      </p:sp>
      <p:sp>
        <p:nvSpPr>
          <p:cNvPr id="26" name="TextBox 25"/>
          <p:cNvSpPr txBox="1"/>
          <p:nvPr/>
        </p:nvSpPr>
        <p:spPr>
          <a:xfrm>
            <a:off x="960120" y="5294376"/>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Giao tiếp thời gian thực độ trễ thấp cho chat, notification, cuộc gọi; tối ưu lưu trữ - truy xuất - đồng bộ dữ liệu.</a:t>
            </a:r>
          </a:p>
        </p:txBody>
      </p:sp>
      <p:sp>
        <p:nvSpPr>
          <p:cNvPr id="27" name="Rounded Rectangle 26"/>
          <p:cNvSpPr/>
          <p:nvPr/>
        </p:nvSpPr>
        <p:spPr>
          <a:xfrm>
            <a:off x="6172200" y="3995928"/>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72200" y="3995928"/>
            <a:ext cx="5212080" cy="109728"/>
          </a:xfrm>
          <a:prstGeom prst="roundRect">
            <a:avLst>
              <a:gd name="adj" fmla="val 50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73368" y="4251960"/>
            <a:ext cx="603504" cy="603504"/>
          </a:xfrm>
          <a:prstGeom prst="roundRect">
            <a:avLst>
              <a:gd name="adj" fmla="val 30000"/>
            </a:avLst>
          </a:prstGeom>
          <a:gradFill>
            <a:gsLst>
              <a:gs pos="0">
                <a:srgbClr val="2F62C9"/>
              </a:gs>
              <a:gs pos="100000">
                <a:srgbClr val="5470CE"/>
              </a:gs>
            </a:gsLst>
            <a:lin ang="2700000" scaled="1"/>
          </a:gradFill>
          <a:ln>
            <a:noFill/>
          </a:ln>
          <a:effectLst>
            <a:outerShdw blurRad="54864" dist="36576" dir="5400000" rotWithShape="0">
              <a:srgbClr val="2F62C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4233672"/>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6355080" y="4928616"/>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1.2.4  Trải nghiệm người dùng</a:t>
            </a:r>
          </a:p>
        </p:txBody>
      </p:sp>
      <p:sp>
        <p:nvSpPr>
          <p:cNvPr id="32" name="TextBox 31"/>
          <p:cNvSpPr txBox="1"/>
          <p:nvPr/>
        </p:nvSpPr>
        <p:spPr>
          <a:xfrm>
            <a:off x="6355080" y="5294376"/>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Giao diện hiện đại, trực quan, hoàn toàn tiếng Việt; hỗ trợ Dark Mode trên cả Web và Mobile.</a:t>
            </a:r>
          </a:p>
        </p:txBody>
      </p:sp>
      <p:sp>
        <p:nvSpPr>
          <p:cNvPr id="33" name="TextBox 32"/>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4" name="Rounded Rectangle 33"/>
          <p:cNvSpPr/>
          <p:nvPr/>
        </p:nvSpPr>
        <p:spPr>
          <a:xfrm>
            <a:off x="11247120" y="6382512"/>
            <a:ext cx="502920" cy="310896"/>
          </a:xfrm>
          <a:prstGeom prst="roundRect">
            <a:avLst>
              <a:gd name="adj" fmla="val 50000"/>
            </a:avLst>
          </a:prstGeom>
          <a:gradFill>
            <a:gsLst>
              <a:gs pos="0">
                <a:srgbClr val="2F86A4"/>
              </a:gs>
              <a:gs pos="100000">
                <a:srgbClr val="6DAABF"/>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loud 4"/>
          <p:cNvSpPr/>
          <p:nvPr/>
        </p:nvSpPr>
        <p:spPr>
          <a:xfrm>
            <a:off x="9921240" y="0"/>
            <a:ext cx="2103120" cy="2103120"/>
          </a:xfrm>
          <a:prstGeom prst="cloud">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3A9BCE"/>
              </a:gs>
              <a:gs pos="100000">
                <a:srgbClr val="92C8E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3A9BCE"/>
                </a:solidFill>
                <a:latin typeface="Segoe UI Semibold"/>
              </a:rPr>
              <a:t>1.2.1  CLOUD COMPUTING</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Hệ sinh thái dịch vụ đám mây</a:t>
            </a:r>
          </a:p>
        </p:txBody>
      </p:sp>
      <p:sp>
        <p:nvSpPr>
          <p:cNvPr id="9" name="TextBox 8"/>
          <p:cNvSpPr txBox="1"/>
          <p:nvPr/>
        </p:nvSpPr>
        <p:spPr>
          <a:xfrm>
            <a:off x="777240" y="1627632"/>
            <a:ext cx="10607040" cy="457200"/>
          </a:xfrm>
          <a:prstGeom prst="rect">
            <a:avLst/>
          </a:prstGeom>
          <a:noFill/>
        </p:spPr>
        <p:txBody>
          <a:bodyPr wrap="square" anchor="t" lIns="50800" rIns="50800" tIns="25400" bIns="25400">
            <a:spAutoFit/>
          </a:bodyPr>
          <a:lstStyle/>
          <a:p>
            <a:pPr algn="l">
              <a:lnSpc>
                <a:spcPct val="100000"/>
              </a:lnSpc>
            </a:pPr>
            <a:r>
              <a:rPr sz="1300" b="0" i="0">
                <a:solidFill>
                  <a:srgbClr val="23426B"/>
                </a:solidFill>
                <a:latin typeface="Segoe UI"/>
              </a:rPr>
              <a:t>Thiết kế Cloud-Based Architecture — tận dụng dịch vụ chuyên biệt từ nhiều nhà cung cấp để tối ưu từng thành phần.</a:t>
            </a:r>
          </a:p>
        </p:txBody>
      </p:sp>
      <p:sp>
        <p:nvSpPr>
          <p:cNvPr id="10" name="Rounded Rectangle 9"/>
          <p:cNvSpPr/>
          <p:nvPr/>
        </p:nvSpPr>
        <p:spPr>
          <a:xfrm>
            <a:off x="777240" y="2148840"/>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2295144"/>
            <a:ext cx="530352" cy="530352"/>
          </a:xfrm>
          <a:prstGeom prst="roundRect">
            <a:avLst>
              <a:gd name="adj" fmla="val 28000"/>
            </a:avLst>
          </a:prstGeom>
          <a:gradFill>
            <a:gsLst>
              <a:gs pos="0">
                <a:srgbClr val="5B63D6"/>
              </a:gs>
              <a:gs pos="100000">
                <a:srgbClr val="7A82E6"/>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276856"/>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13" name="TextBox 12"/>
          <p:cNvSpPr txBox="1"/>
          <p:nvPr/>
        </p:nvSpPr>
        <p:spPr>
          <a:xfrm>
            <a:off x="1527048" y="2313432"/>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AWS Cognito</a:t>
            </a:r>
          </a:p>
        </p:txBody>
      </p:sp>
      <p:sp>
        <p:nvSpPr>
          <p:cNvPr id="14" name="TextBox 13"/>
          <p:cNvSpPr txBox="1"/>
          <p:nvPr/>
        </p:nvSpPr>
        <p:spPr>
          <a:xfrm>
            <a:off x="941832" y="2898648"/>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Quản lý danh tính tập trung: đăng ký, OTP qua SĐT, đăng nhập, phiên &amp; cấp JWT.</a:t>
            </a:r>
          </a:p>
        </p:txBody>
      </p:sp>
      <p:sp>
        <p:nvSpPr>
          <p:cNvPr id="15" name="Rounded Rectangle 14"/>
          <p:cNvSpPr/>
          <p:nvPr/>
        </p:nvSpPr>
        <p:spPr>
          <a:xfrm>
            <a:off x="3502152" y="2148840"/>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39312" y="2295144"/>
            <a:ext cx="530352" cy="530352"/>
          </a:xfrm>
          <a:prstGeom prst="roundRect">
            <a:avLst>
              <a:gd name="adj" fmla="val 28000"/>
            </a:avLst>
          </a:prstGeom>
          <a:gradFill>
            <a:gsLst>
              <a:gs pos="0">
                <a:srgbClr val="5470CE"/>
              </a:gs>
              <a:gs pos="100000">
                <a:srgbClr val="2F62C9"/>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9312" y="2276856"/>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18" name="TextBox 17"/>
          <p:cNvSpPr txBox="1"/>
          <p:nvPr/>
        </p:nvSpPr>
        <p:spPr>
          <a:xfrm>
            <a:off x="4251960" y="2313432"/>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AWS S3</a:t>
            </a:r>
          </a:p>
        </p:txBody>
      </p:sp>
      <p:sp>
        <p:nvSpPr>
          <p:cNvPr id="19" name="TextBox 18"/>
          <p:cNvSpPr txBox="1"/>
          <p:nvPr/>
        </p:nvSpPr>
        <p:spPr>
          <a:xfrm>
            <a:off x="3666744" y="2898648"/>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Lưu media (ảnh, video, story, reels, avatar) qua Pre-signed URL — client upload trực tiếp.</a:t>
            </a:r>
          </a:p>
        </p:txBody>
      </p:sp>
      <p:sp>
        <p:nvSpPr>
          <p:cNvPr id="20" name="Rounded Rectangle 19"/>
          <p:cNvSpPr/>
          <p:nvPr/>
        </p:nvSpPr>
        <p:spPr>
          <a:xfrm>
            <a:off x="6227064" y="2148840"/>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64224" y="2295144"/>
            <a:ext cx="530352" cy="530352"/>
          </a:xfrm>
          <a:prstGeom prst="roundRect">
            <a:avLst>
              <a:gd name="adj" fmla="val 28000"/>
            </a:avLst>
          </a:prstGeom>
          <a:gradFill>
            <a:gsLst>
              <a:gs pos="0">
                <a:srgbClr val="3E78D6"/>
              </a:gs>
              <a:gs pos="100000">
                <a:srgbClr val="3A9BC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2276856"/>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23" name="TextBox 22"/>
          <p:cNvSpPr txBox="1"/>
          <p:nvPr/>
        </p:nvSpPr>
        <p:spPr>
          <a:xfrm>
            <a:off x="6976872" y="2313432"/>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AWS EC2</a:t>
            </a:r>
          </a:p>
        </p:txBody>
      </p:sp>
      <p:sp>
        <p:nvSpPr>
          <p:cNvPr id="24" name="TextBox 23"/>
          <p:cNvSpPr txBox="1"/>
          <p:nvPr/>
        </p:nvSpPr>
        <p:spPr>
          <a:xfrm>
            <a:off x="6391656" y="2898648"/>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Máy chủ ảo (IaaS) chạy backend Spring Boot — chủ động cấu hình môi trường &amp; tài nguyên.</a:t>
            </a:r>
          </a:p>
        </p:txBody>
      </p:sp>
      <p:sp>
        <p:nvSpPr>
          <p:cNvPr id="25" name="Rounded Rectangle 24"/>
          <p:cNvSpPr/>
          <p:nvPr/>
        </p:nvSpPr>
        <p:spPr>
          <a:xfrm>
            <a:off x="8951976" y="2148840"/>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089136" y="2295144"/>
            <a:ext cx="530352" cy="530352"/>
          </a:xfrm>
          <a:prstGeom prst="roundRect">
            <a:avLst>
              <a:gd name="adj" fmla="val 28000"/>
            </a:avLst>
          </a:prstGeom>
          <a:gradFill>
            <a:gsLst>
              <a:gs pos="0">
                <a:srgbClr val="5158C4"/>
              </a:gs>
              <a:gs pos="100000">
                <a:srgbClr val="7A82E6"/>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89136" y="2276856"/>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28" name="TextBox 27"/>
          <p:cNvSpPr txBox="1"/>
          <p:nvPr/>
        </p:nvSpPr>
        <p:spPr>
          <a:xfrm>
            <a:off x="9701784" y="2313432"/>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AWS ECR</a:t>
            </a:r>
          </a:p>
        </p:txBody>
      </p:sp>
      <p:sp>
        <p:nvSpPr>
          <p:cNvPr id="29" name="TextBox 28"/>
          <p:cNvSpPr txBox="1"/>
          <p:nvPr/>
        </p:nvSpPr>
        <p:spPr>
          <a:xfrm>
            <a:off x="9116568" y="2898648"/>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Kho Docker Image tập trung — quản lý phiên bản, nền tảng cho DevOps / CI-CD.</a:t>
            </a:r>
          </a:p>
        </p:txBody>
      </p:sp>
      <p:sp>
        <p:nvSpPr>
          <p:cNvPr id="30" name="Rounded Rectangle 29"/>
          <p:cNvSpPr/>
          <p:nvPr/>
        </p:nvSpPr>
        <p:spPr>
          <a:xfrm>
            <a:off x="777240" y="4096512"/>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14400" y="4242816"/>
            <a:ext cx="530352" cy="530352"/>
          </a:xfrm>
          <a:prstGeom prst="roundRect">
            <a:avLst>
              <a:gd name="adj" fmla="val 28000"/>
            </a:avLst>
          </a:prstGeom>
          <a:gradFill>
            <a:gsLst>
              <a:gs pos="0">
                <a:srgbClr val="2F86A4"/>
              </a:gs>
              <a:gs pos="100000">
                <a:srgbClr val="3A9BC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224528"/>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33" name="TextBox 32"/>
          <p:cNvSpPr txBox="1"/>
          <p:nvPr/>
        </p:nvSpPr>
        <p:spPr>
          <a:xfrm>
            <a:off x="1527048" y="4261104"/>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TiBi Cloud DB</a:t>
            </a:r>
          </a:p>
        </p:txBody>
      </p:sp>
      <p:sp>
        <p:nvSpPr>
          <p:cNvPr id="34" name="TextBox 33"/>
          <p:cNvSpPr txBox="1"/>
          <p:nvPr/>
        </p:nvSpPr>
        <p:spPr>
          <a:xfrm>
            <a:off x="941832" y="4846320"/>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MariaDB dạng DBaaS — dữ liệu quan hệ (user, bạn bè, hội thoại, page).</a:t>
            </a:r>
          </a:p>
        </p:txBody>
      </p:sp>
      <p:sp>
        <p:nvSpPr>
          <p:cNvPr id="35" name="Rounded Rectangle 34"/>
          <p:cNvSpPr/>
          <p:nvPr/>
        </p:nvSpPr>
        <p:spPr>
          <a:xfrm>
            <a:off x="3502152" y="4096512"/>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639312" y="4242816"/>
            <a:ext cx="530352" cy="530352"/>
          </a:xfrm>
          <a:prstGeom prst="roundRect">
            <a:avLst>
              <a:gd name="adj" fmla="val 28000"/>
            </a:avLst>
          </a:prstGeom>
          <a:gradFill>
            <a:gsLst>
              <a:gs pos="0">
                <a:srgbClr val="3A9BCE"/>
              </a:gs>
              <a:gs pos="100000">
                <a:srgbClr val="2F86A4"/>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39312" y="4224528"/>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38" name="TextBox 37"/>
          <p:cNvSpPr txBox="1"/>
          <p:nvPr/>
        </p:nvSpPr>
        <p:spPr>
          <a:xfrm>
            <a:off x="4251960" y="4261104"/>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MongoDB Atlas</a:t>
            </a:r>
          </a:p>
        </p:txBody>
      </p:sp>
      <p:sp>
        <p:nvSpPr>
          <p:cNvPr id="39" name="TextBox 38"/>
          <p:cNvSpPr txBox="1"/>
          <p:nvPr/>
        </p:nvSpPr>
        <p:spPr>
          <a:xfrm>
            <a:off x="3666744" y="4846320"/>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MongoDB trên cloud — bài viết, tin nhắn, bình luận, story, thông báo.</a:t>
            </a:r>
          </a:p>
        </p:txBody>
      </p:sp>
      <p:sp>
        <p:nvSpPr>
          <p:cNvPr id="40" name="Rounded Rectangle 39"/>
          <p:cNvSpPr/>
          <p:nvPr/>
        </p:nvSpPr>
        <p:spPr>
          <a:xfrm>
            <a:off x="6227064" y="4096512"/>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364224" y="4242816"/>
            <a:ext cx="530352" cy="530352"/>
          </a:xfrm>
          <a:prstGeom prst="roundRect">
            <a:avLst>
              <a:gd name="adj" fmla="val 28000"/>
            </a:avLst>
          </a:prstGeom>
          <a:gradFill>
            <a:gsLst>
              <a:gs pos="0">
                <a:srgbClr val="0B2545"/>
              </a:gs>
              <a:gs pos="100000">
                <a:srgbClr val="6E7F9B"/>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64224" y="4224528"/>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43" name="TextBox 42"/>
          <p:cNvSpPr txBox="1"/>
          <p:nvPr/>
        </p:nvSpPr>
        <p:spPr>
          <a:xfrm>
            <a:off x="6976872" y="4261104"/>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Vercel</a:t>
            </a:r>
          </a:p>
        </p:txBody>
      </p:sp>
      <p:sp>
        <p:nvSpPr>
          <p:cNvPr id="44" name="TextBox 43"/>
          <p:cNvSpPr txBox="1"/>
          <p:nvPr/>
        </p:nvSpPr>
        <p:spPr>
          <a:xfrm>
            <a:off x="6391656" y="4846320"/>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Deploy &amp; CDN toàn cầu cho React — auto build từ GitHub, giảm độ trễ tải UI.</a:t>
            </a:r>
          </a:p>
        </p:txBody>
      </p:sp>
      <p:sp>
        <p:nvSpPr>
          <p:cNvPr id="45" name="Rounded Rectangle 44"/>
          <p:cNvSpPr/>
          <p:nvPr/>
        </p:nvSpPr>
        <p:spPr>
          <a:xfrm>
            <a:off x="8951976" y="4096512"/>
            <a:ext cx="2606040" cy="17830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089136" y="4242816"/>
            <a:ext cx="530352" cy="530352"/>
          </a:xfrm>
          <a:prstGeom prst="roundRect">
            <a:avLst>
              <a:gd name="adj" fmla="val 28000"/>
            </a:avLst>
          </a:prstGeom>
          <a:gradFill>
            <a:gsLst>
              <a:gs pos="0">
                <a:srgbClr val="2A4A93"/>
              </a:gs>
              <a:gs pos="100000">
                <a:srgbClr val="8FBDE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89136" y="4224528"/>
            <a:ext cx="530352" cy="530352"/>
          </a:xfrm>
          <a:prstGeom prst="rect">
            <a:avLst/>
          </a:prstGeom>
          <a:noFill/>
        </p:spPr>
        <p:txBody>
          <a:bodyPr wrap="square" anchor="ctr" lIns="50800" rIns="50800" tIns="25400" bIns="25400">
            <a:spAutoFit/>
          </a:bodyPr>
          <a:lstStyle/>
          <a:p>
            <a:pPr algn="ctr">
              <a:lnSpc>
                <a:spcPct val="100000"/>
              </a:lnSpc>
            </a:pPr>
            <a:r>
              <a:rPr sz="2000" b="0" i="0">
                <a:solidFill>
                  <a:srgbClr val="FFFFFF"/>
                </a:solidFill>
                <a:latin typeface="Segoe UI"/>
              </a:rPr>
              <a:t>🤖</a:t>
            </a:r>
          </a:p>
        </p:txBody>
      </p:sp>
      <p:sp>
        <p:nvSpPr>
          <p:cNvPr id="48" name="TextBox 47"/>
          <p:cNvSpPr txBox="1"/>
          <p:nvPr/>
        </p:nvSpPr>
        <p:spPr>
          <a:xfrm>
            <a:off x="9701784" y="4261104"/>
            <a:ext cx="1737360" cy="502920"/>
          </a:xfrm>
          <a:prstGeom prst="rect">
            <a:avLst/>
          </a:prstGeom>
          <a:noFill/>
        </p:spPr>
        <p:txBody>
          <a:bodyPr wrap="square" anchor="t" lIns="50800" rIns="50800" tIns="25400" bIns="25400">
            <a:spAutoFit/>
          </a:bodyPr>
          <a:lstStyle/>
          <a:p>
            <a:pPr algn="l">
              <a:lnSpc>
                <a:spcPct val="100000"/>
              </a:lnSpc>
            </a:pPr>
            <a:r>
              <a:rPr sz="1300" b="1" i="0">
                <a:solidFill>
                  <a:srgbClr val="0B2545"/>
                </a:solidFill>
                <a:latin typeface="Segoe UI Semibold"/>
              </a:rPr>
              <a:t>OpenRouter</a:t>
            </a:r>
          </a:p>
        </p:txBody>
      </p:sp>
      <p:sp>
        <p:nvSpPr>
          <p:cNvPr id="49" name="TextBox 48"/>
          <p:cNvSpPr txBox="1"/>
          <p:nvPr/>
        </p:nvSpPr>
        <p:spPr>
          <a:xfrm>
            <a:off x="9116568" y="4846320"/>
            <a:ext cx="2295144" cy="960120"/>
          </a:xfrm>
          <a:prstGeom prst="rect">
            <a:avLst/>
          </a:prstGeom>
          <a:noFill/>
        </p:spPr>
        <p:txBody>
          <a:bodyPr wrap="square" anchor="t" lIns="50800" rIns="50800" tIns="25400" bIns="25400">
            <a:spAutoFit/>
          </a:bodyPr>
          <a:lstStyle/>
          <a:p>
            <a:pPr algn="l">
              <a:lnSpc>
                <a:spcPct val="100000"/>
              </a:lnSpc>
            </a:pPr>
            <a:r>
              <a:rPr sz="950" b="0" i="0">
                <a:solidFill>
                  <a:srgbClr val="23426B"/>
                </a:solidFill>
                <a:latin typeface="Segoe UI"/>
              </a:rPr>
              <a:t>AI Gateway chuẩn OpenAPI — kết nối GPT, Claude, Gemini, DeepSeek, Mistral.</a:t>
            </a:r>
          </a:p>
        </p:txBody>
      </p:sp>
      <p:sp>
        <p:nvSpPr>
          <p:cNvPr id="50" name="TextBox 49"/>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51" name="Rounded Rectangle 50"/>
          <p:cNvSpPr/>
          <p:nvPr/>
        </p:nvSpPr>
        <p:spPr>
          <a:xfrm>
            <a:off x="11247120" y="6382512"/>
            <a:ext cx="502920" cy="310896"/>
          </a:xfrm>
          <a:prstGeom prst="roundRect">
            <a:avLst>
              <a:gd name="adj" fmla="val 50000"/>
            </a:avLst>
          </a:prstGeom>
          <a:gradFill>
            <a:gsLst>
              <a:gs pos="0">
                <a:srgbClr val="3A9BCE"/>
              </a:gs>
              <a:gs pos="100000">
                <a:srgbClr val="75B9DC"/>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loud 4"/>
          <p:cNvSpPr/>
          <p:nvPr/>
        </p:nvSpPr>
        <p:spPr>
          <a:xfrm>
            <a:off x="9921240" y="0"/>
            <a:ext cx="2103120" cy="2103120"/>
          </a:xfrm>
          <a:prstGeom prst="cloud">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3E78D6"/>
              </a:gs>
              <a:gs pos="100000">
                <a:srgbClr val="94B4E8"/>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3E78D6"/>
                </a:solidFill>
                <a:latin typeface="Segoe UI Semibold"/>
              </a:rPr>
              <a:t>CLOUD SERVICE MODELS</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Tiếp cận đa mô hình dịch vụ Cloud</a:t>
            </a:r>
          </a:p>
        </p:txBody>
      </p:sp>
      <p:sp>
        <p:nvSpPr>
          <p:cNvPr id="9" name="TextBox 8"/>
          <p:cNvSpPr txBox="1"/>
          <p:nvPr/>
        </p:nvSpPr>
        <p:spPr>
          <a:xfrm>
            <a:off x="777240" y="1645920"/>
            <a:ext cx="10607040" cy="548640"/>
          </a:xfrm>
          <a:prstGeom prst="rect">
            <a:avLst/>
          </a:prstGeom>
          <a:noFill/>
        </p:spPr>
        <p:txBody>
          <a:bodyPr wrap="square" anchor="t" lIns="50800" rIns="50800" tIns="25400" bIns="25400">
            <a:spAutoFit/>
          </a:bodyPr>
          <a:lstStyle/>
          <a:p>
            <a:pPr algn="l">
              <a:lnSpc>
                <a:spcPct val="100000"/>
              </a:lnSpc>
            </a:pPr>
            <a:r>
              <a:rPr sz="1400" b="0" i="0">
                <a:solidFill>
                  <a:srgbClr val="23426B"/>
                </a:solidFill>
                <a:latin typeface="Segoe UI"/>
              </a:rPr>
              <a:t>Việc kết hợp nhiều nền tảng giúp nhóm tiếp cận thực tế nhiều mô hình dịch vụ điện toán đám mây khác nhau:</a:t>
            </a:r>
          </a:p>
        </p:txBody>
      </p:sp>
      <p:sp>
        <p:nvSpPr>
          <p:cNvPr id="10" name="Rounded Rectangle 9"/>
          <p:cNvSpPr/>
          <p:nvPr/>
        </p:nvSpPr>
        <p:spPr>
          <a:xfrm>
            <a:off x="777240" y="2331720"/>
            <a:ext cx="3456432" cy="169164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2532888"/>
            <a:ext cx="1371600" cy="566928"/>
          </a:xfrm>
          <a:prstGeom prst="roundRect">
            <a:avLst>
              <a:gd name="adj" fmla="val 25000"/>
            </a:avLst>
          </a:prstGeom>
          <a:gradFill>
            <a:gsLst>
              <a:gs pos="0">
                <a:srgbClr val="5B63D6"/>
              </a:gs>
              <a:gs pos="100000">
                <a:srgbClr val="7A82E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514600"/>
            <a:ext cx="1371600" cy="56692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IaaS</a:t>
            </a:r>
          </a:p>
        </p:txBody>
      </p:sp>
      <p:sp>
        <p:nvSpPr>
          <p:cNvPr id="13" name="TextBox 12"/>
          <p:cNvSpPr txBox="1"/>
          <p:nvPr/>
        </p:nvSpPr>
        <p:spPr>
          <a:xfrm>
            <a:off x="960120" y="3227832"/>
            <a:ext cx="3090672" cy="365760"/>
          </a:xfrm>
          <a:prstGeom prst="rect">
            <a:avLst/>
          </a:prstGeom>
          <a:noFill/>
        </p:spPr>
        <p:txBody>
          <a:bodyPr wrap="square" anchor="t" lIns="50800" rIns="50800" tIns="25400" bIns="25400">
            <a:spAutoFit/>
          </a:bodyPr>
          <a:lstStyle/>
          <a:p>
            <a:pPr algn="l">
              <a:lnSpc>
                <a:spcPct val="100000"/>
              </a:lnSpc>
            </a:pPr>
            <a:r>
              <a:rPr sz="1200" b="1" i="0">
                <a:solidFill>
                  <a:srgbClr val="0B2545"/>
                </a:solidFill>
                <a:latin typeface="Segoe UI Semibold"/>
              </a:rPr>
              <a:t>Infrastructure as a Service</a:t>
            </a:r>
          </a:p>
        </p:txBody>
      </p:sp>
      <p:sp>
        <p:nvSpPr>
          <p:cNvPr id="14" name="TextBox 13"/>
          <p:cNvSpPr txBox="1"/>
          <p:nvPr/>
        </p:nvSpPr>
        <p:spPr>
          <a:xfrm>
            <a:off x="960120" y="3575304"/>
            <a:ext cx="3090672" cy="41148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AWS EC2 — máy chủ ảo chạy backend</a:t>
            </a:r>
          </a:p>
        </p:txBody>
      </p:sp>
      <p:sp>
        <p:nvSpPr>
          <p:cNvPr id="15" name="Rounded Rectangle 14"/>
          <p:cNvSpPr/>
          <p:nvPr/>
        </p:nvSpPr>
        <p:spPr>
          <a:xfrm>
            <a:off x="4489704" y="2331720"/>
            <a:ext cx="3456432" cy="169164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72584" y="2532888"/>
            <a:ext cx="1371600" cy="566928"/>
          </a:xfrm>
          <a:prstGeom prst="roundRect">
            <a:avLst>
              <a:gd name="adj" fmla="val 25000"/>
            </a:avLst>
          </a:prstGeom>
          <a:gradFill>
            <a:gsLst>
              <a:gs pos="0">
                <a:srgbClr val="3E78D6"/>
              </a:gs>
              <a:gs pos="100000">
                <a:srgbClr val="2E93A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72584" y="2514600"/>
            <a:ext cx="1371600" cy="56692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PaaS</a:t>
            </a:r>
          </a:p>
        </p:txBody>
      </p:sp>
      <p:sp>
        <p:nvSpPr>
          <p:cNvPr id="18" name="TextBox 17"/>
          <p:cNvSpPr txBox="1"/>
          <p:nvPr/>
        </p:nvSpPr>
        <p:spPr>
          <a:xfrm>
            <a:off x="4672584" y="3227832"/>
            <a:ext cx="3090672" cy="365760"/>
          </a:xfrm>
          <a:prstGeom prst="rect">
            <a:avLst/>
          </a:prstGeom>
          <a:noFill/>
        </p:spPr>
        <p:txBody>
          <a:bodyPr wrap="square" anchor="t" lIns="50800" rIns="50800" tIns="25400" bIns="25400">
            <a:spAutoFit/>
          </a:bodyPr>
          <a:lstStyle/>
          <a:p>
            <a:pPr algn="l">
              <a:lnSpc>
                <a:spcPct val="100000"/>
              </a:lnSpc>
            </a:pPr>
            <a:r>
              <a:rPr sz="1200" b="1" i="0">
                <a:solidFill>
                  <a:srgbClr val="0B2545"/>
                </a:solidFill>
                <a:latin typeface="Segoe UI Semibold"/>
              </a:rPr>
              <a:t>Platform as a Service</a:t>
            </a:r>
          </a:p>
        </p:txBody>
      </p:sp>
      <p:sp>
        <p:nvSpPr>
          <p:cNvPr id="19" name="TextBox 18"/>
          <p:cNvSpPr txBox="1"/>
          <p:nvPr/>
        </p:nvSpPr>
        <p:spPr>
          <a:xfrm>
            <a:off x="4672584" y="3575304"/>
            <a:ext cx="3090672" cy="41148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Vercel — build &amp; deploy frontend tự động</a:t>
            </a:r>
          </a:p>
        </p:txBody>
      </p:sp>
      <p:sp>
        <p:nvSpPr>
          <p:cNvPr id="20" name="Rounded Rectangle 19"/>
          <p:cNvSpPr/>
          <p:nvPr/>
        </p:nvSpPr>
        <p:spPr>
          <a:xfrm>
            <a:off x="8202168" y="2331720"/>
            <a:ext cx="3456432" cy="169164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385048" y="2532888"/>
            <a:ext cx="1371600" cy="566928"/>
          </a:xfrm>
          <a:prstGeom prst="roundRect">
            <a:avLst>
              <a:gd name="adj" fmla="val 25000"/>
            </a:avLst>
          </a:prstGeom>
          <a:gradFill>
            <a:gsLst>
              <a:gs pos="0">
                <a:srgbClr val="2F86A4"/>
              </a:gs>
              <a:gs pos="100000">
                <a:srgbClr val="3A9B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5048" y="2514600"/>
            <a:ext cx="1371600" cy="56692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DBaaS</a:t>
            </a:r>
          </a:p>
        </p:txBody>
      </p:sp>
      <p:sp>
        <p:nvSpPr>
          <p:cNvPr id="23" name="TextBox 22"/>
          <p:cNvSpPr txBox="1"/>
          <p:nvPr/>
        </p:nvSpPr>
        <p:spPr>
          <a:xfrm>
            <a:off x="8385048" y="3227832"/>
            <a:ext cx="3090672" cy="365760"/>
          </a:xfrm>
          <a:prstGeom prst="rect">
            <a:avLst/>
          </a:prstGeom>
          <a:noFill/>
        </p:spPr>
        <p:txBody>
          <a:bodyPr wrap="square" anchor="t" lIns="50800" rIns="50800" tIns="25400" bIns="25400">
            <a:spAutoFit/>
          </a:bodyPr>
          <a:lstStyle/>
          <a:p>
            <a:pPr algn="l">
              <a:lnSpc>
                <a:spcPct val="100000"/>
              </a:lnSpc>
            </a:pPr>
            <a:r>
              <a:rPr sz="1200" b="1" i="0">
                <a:solidFill>
                  <a:srgbClr val="0B2545"/>
                </a:solidFill>
                <a:latin typeface="Segoe UI Semibold"/>
              </a:rPr>
              <a:t>Database as a Service</a:t>
            </a:r>
          </a:p>
        </p:txBody>
      </p:sp>
      <p:sp>
        <p:nvSpPr>
          <p:cNvPr id="24" name="TextBox 23"/>
          <p:cNvSpPr txBox="1"/>
          <p:nvPr/>
        </p:nvSpPr>
        <p:spPr>
          <a:xfrm>
            <a:off x="8385048" y="3575304"/>
            <a:ext cx="3090672" cy="41148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TiBi Cloud (MariaDB) · MongoDB Atlas</a:t>
            </a:r>
          </a:p>
        </p:txBody>
      </p:sp>
      <p:sp>
        <p:nvSpPr>
          <p:cNvPr id="25" name="Rounded Rectangle 24"/>
          <p:cNvSpPr/>
          <p:nvPr/>
        </p:nvSpPr>
        <p:spPr>
          <a:xfrm>
            <a:off x="777240" y="4224528"/>
            <a:ext cx="3456432" cy="169164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60120" y="4425696"/>
            <a:ext cx="1371600" cy="566928"/>
          </a:xfrm>
          <a:prstGeom prst="roundRect">
            <a:avLst>
              <a:gd name="adj" fmla="val 25000"/>
            </a:avLst>
          </a:prstGeom>
          <a:gradFill>
            <a:gsLst>
              <a:gs pos="0">
                <a:srgbClr val="2F62C9"/>
              </a:gs>
              <a:gs pos="100000">
                <a:srgbClr val="5470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407408"/>
            <a:ext cx="1371600" cy="56692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Registry</a:t>
            </a:r>
          </a:p>
        </p:txBody>
      </p:sp>
      <p:sp>
        <p:nvSpPr>
          <p:cNvPr id="28" name="TextBox 27"/>
          <p:cNvSpPr txBox="1"/>
          <p:nvPr/>
        </p:nvSpPr>
        <p:spPr>
          <a:xfrm>
            <a:off x="960120" y="5120640"/>
            <a:ext cx="3090672" cy="365760"/>
          </a:xfrm>
          <a:prstGeom prst="rect">
            <a:avLst/>
          </a:prstGeom>
          <a:noFill/>
        </p:spPr>
        <p:txBody>
          <a:bodyPr wrap="square" anchor="t" lIns="50800" rIns="50800" tIns="25400" bIns="25400">
            <a:spAutoFit/>
          </a:bodyPr>
          <a:lstStyle/>
          <a:p>
            <a:pPr algn="l">
              <a:lnSpc>
                <a:spcPct val="100000"/>
              </a:lnSpc>
            </a:pPr>
            <a:r>
              <a:rPr sz="1200" b="1" i="0">
                <a:solidFill>
                  <a:srgbClr val="0B2545"/>
                </a:solidFill>
                <a:latin typeface="Segoe UI Semibold"/>
              </a:rPr>
              <a:t>Container Registry Service</a:t>
            </a:r>
          </a:p>
        </p:txBody>
      </p:sp>
      <p:sp>
        <p:nvSpPr>
          <p:cNvPr id="29" name="TextBox 28"/>
          <p:cNvSpPr txBox="1"/>
          <p:nvPr/>
        </p:nvSpPr>
        <p:spPr>
          <a:xfrm>
            <a:off x="960120" y="5468112"/>
            <a:ext cx="3090672" cy="41148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AWS ECR — kho Docker Image tập trung</a:t>
            </a:r>
          </a:p>
        </p:txBody>
      </p:sp>
      <p:sp>
        <p:nvSpPr>
          <p:cNvPr id="30" name="Rounded Rectangle 29"/>
          <p:cNvSpPr/>
          <p:nvPr/>
        </p:nvSpPr>
        <p:spPr>
          <a:xfrm>
            <a:off x="4489704" y="4224528"/>
            <a:ext cx="3456432" cy="169164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672584" y="4425696"/>
            <a:ext cx="1371600" cy="566928"/>
          </a:xfrm>
          <a:prstGeom prst="roundRect">
            <a:avLst>
              <a:gd name="adj" fmla="val 25000"/>
            </a:avLst>
          </a:prstGeom>
          <a:gradFill>
            <a:gsLst>
              <a:gs pos="0">
                <a:srgbClr val="2A4A93"/>
              </a:gs>
              <a:gs pos="100000">
                <a:srgbClr val="8FBDE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72584" y="4407408"/>
            <a:ext cx="1371600" cy="56692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AIaaS</a:t>
            </a:r>
          </a:p>
        </p:txBody>
      </p:sp>
      <p:sp>
        <p:nvSpPr>
          <p:cNvPr id="33" name="TextBox 32"/>
          <p:cNvSpPr txBox="1"/>
          <p:nvPr/>
        </p:nvSpPr>
        <p:spPr>
          <a:xfrm>
            <a:off x="4672584" y="5120640"/>
            <a:ext cx="3090672" cy="365760"/>
          </a:xfrm>
          <a:prstGeom prst="rect">
            <a:avLst/>
          </a:prstGeom>
          <a:noFill/>
        </p:spPr>
        <p:txBody>
          <a:bodyPr wrap="square" anchor="t" lIns="50800" rIns="50800" tIns="25400" bIns="25400">
            <a:spAutoFit/>
          </a:bodyPr>
          <a:lstStyle/>
          <a:p>
            <a:pPr algn="l">
              <a:lnSpc>
                <a:spcPct val="100000"/>
              </a:lnSpc>
            </a:pPr>
            <a:r>
              <a:rPr sz="1200" b="1" i="0">
                <a:solidFill>
                  <a:srgbClr val="0B2545"/>
                </a:solidFill>
                <a:latin typeface="Segoe UI Semibold"/>
              </a:rPr>
              <a:t>AI as a Service</a:t>
            </a:r>
          </a:p>
        </p:txBody>
      </p:sp>
      <p:sp>
        <p:nvSpPr>
          <p:cNvPr id="34" name="TextBox 33"/>
          <p:cNvSpPr txBox="1"/>
          <p:nvPr/>
        </p:nvSpPr>
        <p:spPr>
          <a:xfrm>
            <a:off x="4672584" y="5468112"/>
            <a:ext cx="3090672" cy="41148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OpenRouter — AI Gateway đa mô hình</a:t>
            </a:r>
          </a:p>
        </p:txBody>
      </p:sp>
      <p:sp>
        <p:nvSpPr>
          <p:cNvPr id="35" name="Rounded Rectangle 34"/>
          <p:cNvSpPr/>
          <p:nvPr/>
        </p:nvSpPr>
        <p:spPr>
          <a:xfrm>
            <a:off x="8202168" y="4224528"/>
            <a:ext cx="3456432" cy="169164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85048" y="4425696"/>
            <a:ext cx="1371600" cy="566928"/>
          </a:xfrm>
          <a:prstGeom prst="roundRect">
            <a:avLst>
              <a:gd name="adj" fmla="val 25000"/>
            </a:avLst>
          </a:prstGeom>
          <a:gradFill>
            <a:gsLst>
              <a:gs pos="0">
                <a:srgbClr val="5158C4"/>
              </a:gs>
              <a:gs pos="100000">
                <a:srgbClr val="7A82E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85048" y="4407408"/>
            <a:ext cx="1371600" cy="56692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Auth</a:t>
            </a:r>
          </a:p>
        </p:txBody>
      </p:sp>
      <p:sp>
        <p:nvSpPr>
          <p:cNvPr id="38" name="TextBox 37"/>
          <p:cNvSpPr txBox="1"/>
          <p:nvPr/>
        </p:nvSpPr>
        <p:spPr>
          <a:xfrm>
            <a:off x="8385048" y="5120640"/>
            <a:ext cx="3090672" cy="365760"/>
          </a:xfrm>
          <a:prstGeom prst="rect">
            <a:avLst/>
          </a:prstGeom>
          <a:noFill/>
        </p:spPr>
        <p:txBody>
          <a:bodyPr wrap="square" anchor="t" lIns="50800" rIns="50800" tIns="25400" bIns="25400">
            <a:spAutoFit/>
          </a:bodyPr>
          <a:lstStyle/>
          <a:p>
            <a:pPr algn="l">
              <a:lnSpc>
                <a:spcPct val="100000"/>
              </a:lnSpc>
            </a:pPr>
            <a:r>
              <a:rPr sz="1200" b="1" i="0">
                <a:solidFill>
                  <a:srgbClr val="0B2545"/>
                </a:solidFill>
                <a:latin typeface="Segoe UI Semibold"/>
              </a:rPr>
              <a:t>Identity &amp; Auth Service</a:t>
            </a:r>
          </a:p>
        </p:txBody>
      </p:sp>
      <p:sp>
        <p:nvSpPr>
          <p:cNvPr id="39" name="TextBox 38"/>
          <p:cNvSpPr txBox="1"/>
          <p:nvPr/>
        </p:nvSpPr>
        <p:spPr>
          <a:xfrm>
            <a:off x="8385048" y="5468112"/>
            <a:ext cx="3090672" cy="41148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AWS Cognito — xác thực &amp; quản lý người dùng</a:t>
            </a:r>
          </a:p>
        </p:txBody>
      </p:sp>
      <p:sp>
        <p:nvSpPr>
          <p:cNvPr id="40" name="TextBox 39"/>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1" name="Rounded Rectangle 40"/>
          <p:cNvSpPr/>
          <p:nvPr/>
        </p:nvSpPr>
        <p:spPr>
          <a:xfrm>
            <a:off x="11247120" y="6382512"/>
            <a:ext cx="502920" cy="310896"/>
          </a:xfrm>
          <a:prstGeom prst="roundRect">
            <a:avLst>
              <a:gd name="adj" fmla="val 50000"/>
            </a:avLst>
          </a:prstGeom>
          <a:gradFill>
            <a:gsLst>
              <a:gs pos="0">
                <a:srgbClr val="3E78D6"/>
              </a:gs>
              <a:gs pos="100000">
                <a:srgbClr val="77A0E2"/>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9921240" y="0"/>
            <a:ext cx="2103120" cy="2103120"/>
          </a:xfrm>
          <a:prstGeom prst="hexago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5158C4"/>
              </a:gs>
              <a:gs pos="100000">
                <a:srgbClr val="9FA3D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5158C4"/>
                </a:solidFill>
                <a:latin typeface="Segoe UI Semibold"/>
              </a:rPr>
              <a:t>FEATURE MAP</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Bản đồ các nhóm tính năng</a:t>
            </a:r>
          </a:p>
        </p:txBody>
      </p:sp>
      <p:sp>
        <p:nvSpPr>
          <p:cNvPr id="9" name="Rounded Rectangle 8"/>
          <p:cNvSpPr/>
          <p:nvPr/>
        </p:nvSpPr>
        <p:spPr>
          <a:xfrm>
            <a:off x="777240" y="17373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41832" y="1938528"/>
            <a:ext cx="566928" cy="566928"/>
          </a:xfrm>
          <a:prstGeom prst="roundRect">
            <a:avLst>
              <a:gd name="adj" fmla="val 28000"/>
            </a:avLst>
          </a:prstGeom>
          <a:gradFill>
            <a:gsLst>
              <a:gs pos="0">
                <a:srgbClr val="5B63D6"/>
              </a:gs>
              <a:gs pos="100000">
                <a:srgbClr val="7A82E6"/>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12" name="TextBox 11"/>
          <p:cNvSpPr txBox="1"/>
          <p:nvPr/>
        </p:nvSpPr>
        <p:spPr>
          <a:xfrm>
            <a:off x="1645920" y="19202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Xác thực &amp; Phiên</a:t>
            </a:r>
          </a:p>
        </p:txBody>
      </p:sp>
      <p:sp>
        <p:nvSpPr>
          <p:cNvPr id="13" name="TextBox 12"/>
          <p:cNvSpPr txBox="1"/>
          <p:nvPr/>
        </p:nvSpPr>
        <p:spPr>
          <a:xfrm>
            <a:off x="1645920" y="23591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Cognito, JWT, cookie/token, QR login</a:t>
            </a:r>
          </a:p>
        </p:txBody>
      </p:sp>
      <p:sp>
        <p:nvSpPr>
          <p:cNvPr id="14" name="Rounded Rectangle 13"/>
          <p:cNvSpPr/>
          <p:nvPr/>
        </p:nvSpPr>
        <p:spPr>
          <a:xfrm>
            <a:off x="4489704" y="17373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654296" y="1938528"/>
            <a:ext cx="566928" cy="566928"/>
          </a:xfrm>
          <a:prstGeom prst="roundRect">
            <a:avLst>
              <a:gd name="adj" fmla="val 28000"/>
            </a:avLst>
          </a:prstGeom>
          <a:gradFill>
            <a:gsLst>
              <a:gs pos="0">
                <a:srgbClr val="3E78D6"/>
              </a:gs>
              <a:gs pos="100000">
                <a:srgbClr val="2E93A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4296" y="19202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17" name="TextBox 16"/>
          <p:cNvSpPr txBox="1"/>
          <p:nvPr/>
        </p:nvSpPr>
        <p:spPr>
          <a:xfrm>
            <a:off x="5358384" y="19202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Bảng tin</a:t>
            </a:r>
          </a:p>
        </p:txBody>
      </p:sp>
      <p:sp>
        <p:nvSpPr>
          <p:cNvPr id="18" name="TextBox 17"/>
          <p:cNvSpPr txBox="1"/>
          <p:nvPr/>
        </p:nvSpPr>
        <p:spPr>
          <a:xfrm>
            <a:off x="5358384" y="23591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Post, media, comment, reaction, saved, tagged</a:t>
            </a:r>
          </a:p>
        </p:txBody>
      </p:sp>
      <p:sp>
        <p:nvSpPr>
          <p:cNvPr id="19" name="Rounded Rectangle 18"/>
          <p:cNvSpPr/>
          <p:nvPr/>
        </p:nvSpPr>
        <p:spPr>
          <a:xfrm>
            <a:off x="8202168" y="17373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366760" y="1938528"/>
            <a:ext cx="566928" cy="566928"/>
          </a:xfrm>
          <a:prstGeom prst="roundRect">
            <a:avLst>
              <a:gd name="adj" fmla="val 28000"/>
            </a:avLst>
          </a:prstGeom>
          <a:gradFill>
            <a:gsLst>
              <a:gs pos="0">
                <a:srgbClr val="8FBDEE"/>
              </a:gs>
              <a:gs pos="100000">
                <a:srgbClr val="2A4A93"/>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202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22" name="TextBox 21"/>
          <p:cNvSpPr txBox="1"/>
          <p:nvPr/>
        </p:nvSpPr>
        <p:spPr>
          <a:xfrm>
            <a:off x="9070848" y="19202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Stories &amp; Hồ sơ</a:t>
            </a:r>
          </a:p>
        </p:txBody>
      </p:sp>
      <p:sp>
        <p:nvSpPr>
          <p:cNvPr id="23" name="TextBox 22"/>
          <p:cNvSpPr txBox="1"/>
          <p:nvPr/>
        </p:nvSpPr>
        <p:spPr>
          <a:xfrm>
            <a:off x="9070848" y="23591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Tạo story, người xem, reaction, highlights</a:t>
            </a:r>
          </a:p>
        </p:txBody>
      </p:sp>
      <p:sp>
        <p:nvSpPr>
          <p:cNvPr id="24" name="Rounded Rectangle 23"/>
          <p:cNvSpPr/>
          <p:nvPr/>
        </p:nvSpPr>
        <p:spPr>
          <a:xfrm>
            <a:off x="777240" y="33375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41832" y="3538728"/>
            <a:ext cx="566928" cy="566928"/>
          </a:xfrm>
          <a:prstGeom prst="roundRect">
            <a:avLst>
              <a:gd name="adj" fmla="val 28000"/>
            </a:avLst>
          </a:prstGeom>
          <a:gradFill>
            <a:gsLst>
              <a:gs pos="0">
                <a:srgbClr val="2F86A4"/>
              </a:gs>
              <a:gs pos="100000">
                <a:srgbClr val="3A9BC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35204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27" name="TextBox 26"/>
          <p:cNvSpPr txBox="1"/>
          <p:nvPr/>
        </p:nvSpPr>
        <p:spPr>
          <a:xfrm>
            <a:off x="1645920" y="35204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Nhắn tin Realtime</a:t>
            </a:r>
          </a:p>
        </p:txBody>
      </p:sp>
      <p:sp>
        <p:nvSpPr>
          <p:cNvPr id="28" name="TextBox 27"/>
          <p:cNvSpPr txBox="1"/>
          <p:nvPr/>
        </p:nvSpPr>
        <p:spPr>
          <a:xfrm>
            <a:off x="1645920" y="39593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1-1 &amp; nhóm, recall, pin, typing, seen</a:t>
            </a:r>
          </a:p>
        </p:txBody>
      </p:sp>
      <p:sp>
        <p:nvSpPr>
          <p:cNvPr id="29" name="Rounded Rectangle 28"/>
          <p:cNvSpPr/>
          <p:nvPr/>
        </p:nvSpPr>
        <p:spPr>
          <a:xfrm>
            <a:off x="4489704" y="33375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654296" y="3538728"/>
            <a:ext cx="566928" cy="566928"/>
          </a:xfrm>
          <a:prstGeom prst="roundRect">
            <a:avLst>
              <a:gd name="adj" fmla="val 28000"/>
            </a:avLst>
          </a:prstGeom>
          <a:gradFill>
            <a:gsLst>
              <a:gs pos="0">
                <a:srgbClr val="5470CE"/>
              </a:gs>
              <a:gs pos="100000">
                <a:srgbClr val="2F62C9"/>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54296" y="35204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32" name="TextBox 31"/>
          <p:cNvSpPr txBox="1"/>
          <p:nvPr/>
        </p:nvSpPr>
        <p:spPr>
          <a:xfrm>
            <a:off x="5358384" y="35204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Gọi Audio/Video</a:t>
            </a:r>
          </a:p>
        </p:txBody>
      </p:sp>
      <p:sp>
        <p:nvSpPr>
          <p:cNvPr id="33" name="TextBox 32"/>
          <p:cNvSpPr txBox="1"/>
          <p:nvPr/>
        </p:nvSpPr>
        <p:spPr>
          <a:xfrm>
            <a:off x="5358384" y="39593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Tín hiệu call, answer, ICE, reject, end</a:t>
            </a:r>
          </a:p>
        </p:txBody>
      </p:sp>
      <p:sp>
        <p:nvSpPr>
          <p:cNvPr id="34" name="Rounded Rectangle 33"/>
          <p:cNvSpPr/>
          <p:nvPr/>
        </p:nvSpPr>
        <p:spPr>
          <a:xfrm>
            <a:off x="8202168" y="33375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366760" y="3538728"/>
            <a:ext cx="566928" cy="566928"/>
          </a:xfrm>
          <a:prstGeom prst="roundRect">
            <a:avLst>
              <a:gd name="adj" fmla="val 28000"/>
            </a:avLst>
          </a:prstGeom>
          <a:gradFill>
            <a:gsLst>
              <a:gs pos="0">
                <a:srgbClr val="3A9BCE"/>
              </a:gs>
              <a:gs pos="100000">
                <a:srgbClr val="2E93A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66760" y="35204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37" name="TextBox 36"/>
          <p:cNvSpPr txBox="1"/>
          <p:nvPr/>
        </p:nvSpPr>
        <p:spPr>
          <a:xfrm>
            <a:off x="9070848" y="35204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Bạn bè &amp; Chặn</a:t>
            </a:r>
          </a:p>
        </p:txBody>
      </p:sp>
      <p:sp>
        <p:nvSpPr>
          <p:cNvPr id="38" name="TextBox 37"/>
          <p:cNvSpPr txBox="1"/>
          <p:nvPr/>
        </p:nvSpPr>
        <p:spPr>
          <a:xfrm>
            <a:off x="9070848" y="39593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Kết bạn, chấp nhận, từ chối, block/unblock</a:t>
            </a:r>
          </a:p>
        </p:txBody>
      </p:sp>
      <p:sp>
        <p:nvSpPr>
          <p:cNvPr id="39" name="Rounded Rectangle 38"/>
          <p:cNvSpPr/>
          <p:nvPr/>
        </p:nvSpPr>
        <p:spPr>
          <a:xfrm>
            <a:off x="777240" y="49377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41832" y="5138928"/>
            <a:ext cx="566928" cy="566928"/>
          </a:xfrm>
          <a:prstGeom prst="roundRect">
            <a:avLst>
              <a:gd name="adj" fmla="val 28000"/>
            </a:avLst>
          </a:prstGeom>
          <a:gradFill>
            <a:gsLst>
              <a:gs pos="0">
                <a:srgbClr val="5158C4"/>
              </a:gs>
              <a:gs pos="100000">
                <a:srgbClr val="7A82E6"/>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1832" y="51206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42" name="TextBox 41"/>
          <p:cNvSpPr txBox="1"/>
          <p:nvPr/>
        </p:nvSpPr>
        <p:spPr>
          <a:xfrm>
            <a:off x="1645920" y="51206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Trang (Pages)</a:t>
            </a:r>
          </a:p>
        </p:txBody>
      </p:sp>
      <p:sp>
        <p:nvSpPr>
          <p:cNvPr id="43" name="TextBox 42"/>
          <p:cNvSpPr txBox="1"/>
          <p:nvPr/>
        </p:nvSpPr>
        <p:spPr>
          <a:xfrm>
            <a:off x="1645920" y="55595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Tạo trang, thành viên, vai trò, duyệt bài</a:t>
            </a:r>
          </a:p>
        </p:txBody>
      </p:sp>
      <p:sp>
        <p:nvSpPr>
          <p:cNvPr id="44" name="Rounded Rectangle 43"/>
          <p:cNvSpPr/>
          <p:nvPr/>
        </p:nvSpPr>
        <p:spPr>
          <a:xfrm>
            <a:off x="4489704" y="49377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4654296" y="5138928"/>
            <a:ext cx="566928" cy="566928"/>
          </a:xfrm>
          <a:prstGeom prst="roundRect">
            <a:avLst>
              <a:gd name="adj" fmla="val 28000"/>
            </a:avLst>
          </a:prstGeom>
          <a:gradFill>
            <a:gsLst>
              <a:gs pos="0">
                <a:srgbClr val="2A4A93"/>
              </a:gs>
              <a:gs pos="100000">
                <a:srgbClr val="8FBDEE"/>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54296" y="51206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47" name="TextBox 46"/>
          <p:cNvSpPr txBox="1"/>
          <p:nvPr/>
        </p:nvSpPr>
        <p:spPr>
          <a:xfrm>
            <a:off x="5358384" y="51206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Trợ lý AI</a:t>
            </a:r>
          </a:p>
        </p:txBody>
      </p:sp>
      <p:sp>
        <p:nvSpPr>
          <p:cNvPr id="48" name="TextBox 47"/>
          <p:cNvSpPr txBox="1"/>
          <p:nvPr/>
        </p:nvSpPr>
        <p:spPr>
          <a:xfrm>
            <a:off x="5358384" y="55595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Đồng ý dùng AI, tóm tắt, gợi ý trả lời</a:t>
            </a:r>
          </a:p>
        </p:txBody>
      </p:sp>
      <p:sp>
        <p:nvSpPr>
          <p:cNvPr id="49" name="Rounded Rectangle 48"/>
          <p:cNvSpPr/>
          <p:nvPr/>
        </p:nvSpPr>
        <p:spPr>
          <a:xfrm>
            <a:off x="8202168" y="4937760"/>
            <a:ext cx="3456432" cy="1417320"/>
          </a:xfrm>
          <a:prstGeom prst="roundRect">
            <a:avLst>
              <a:gd name="adj" fmla="val 10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8366760" y="5138928"/>
            <a:ext cx="566928" cy="566928"/>
          </a:xfrm>
          <a:prstGeom prst="roundRect">
            <a:avLst>
              <a:gd name="adj" fmla="val 28000"/>
            </a:avLst>
          </a:prstGeom>
          <a:gradFill>
            <a:gsLst>
              <a:gs pos="0">
                <a:srgbClr val="3A9BCE"/>
              </a:gs>
              <a:gs pos="100000">
                <a:srgbClr val="2F86A4"/>
              </a:gs>
            </a:gsLst>
            <a:lin ang="27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66760" y="5120640"/>
            <a:ext cx="566928" cy="566928"/>
          </a:xfrm>
          <a:prstGeom prst="rect">
            <a:avLst/>
          </a:prstGeom>
          <a:noFill/>
        </p:spPr>
        <p:txBody>
          <a:bodyPr wrap="square" anchor="ctr" lIns="50800" rIns="50800" tIns="25400" bIns="25400">
            <a:spAutoFit/>
          </a:bodyPr>
          <a:lstStyle/>
          <a:p>
            <a:pPr algn="ctr">
              <a:lnSpc>
                <a:spcPct val="100000"/>
              </a:lnSpc>
            </a:pPr>
            <a:r>
              <a:rPr sz="2200" b="0" i="0">
                <a:solidFill>
                  <a:srgbClr val="FFFFFF"/>
                </a:solidFill>
                <a:latin typeface="Segoe UI"/>
              </a:rPr>
              <a:t>🎵</a:t>
            </a:r>
          </a:p>
        </p:txBody>
      </p:sp>
      <p:sp>
        <p:nvSpPr>
          <p:cNvPr id="52" name="TextBox 51"/>
          <p:cNvSpPr txBox="1"/>
          <p:nvPr/>
        </p:nvSpPr>
        <p:spPr>
          <a:xfrm>
            <a:off x="9070848" y="5120640"/>
            <a:ext cx="2450592" cy="45720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Nhạc/Media</a:t>
            </a:r>
          </a:p>
        </p:txBody>
      </p:sp>
      <p:sp>
        <p:nvSpPr>
          <p:cNvPr id="53" name="TextBox 52"/>
          <p:cNvSpPr txBox="1"/>
          <p:nvPr/>
        </p:nvSpPr>
        <p:spPr>
          <a:xfrm>
            <a:off x="9070848" y="5559552"/>
            <a:ext cx="2450592" cy="731520"/>
          </a:xfrm>
          <a:prstGeom prst="rect">
            <a:avLst/>
          </a:prstGeom>
          <a:noFill/>
        </p:spPr>
        <p:txBody>
          <a:bodyPr wrap="square" anchor="t" lIns="50800" rIns="50800" tIns="25400" bIns="25400">
            <a:spAutoFit/>
          </a:bodyPr>
          <a:lstStyle/>
          <a:p>
            <a:pPr algn="l">
              <a:lnSpc>
                <a:spcPct val="100000"/>
              </a:lnSpc>
            </a:pPr>
            <a:r>
              <a:rPr sz="1050" b="0" i="0">
                <a:solidFill>
                  <a:srgbClr val="23426B"/>
                </a:solidFill>
                <a:latin typeface="Segoe UI"/>
              </a:rPr>
              <a:t>Danh sách &amp; tìm nhạc, lưu trữ R2/S3</a:t>
            </a:r>
          </a:p>
        </p:txBody>
      </p:sp>
      <p:sp>
        <p:nvSpPr>
          <p:cNvPr id="54" name="TextBox 53"/>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55" name="Rounded Rectangle 54"/>
          <p:cNvSpPr/>
          <p:nvPr/>
        </p:nvSpPr>
        <p:spPr>
          <a:xfrm>
            <a:off x="11247120" y="6382512"/>
            <a:ext cx="502920" cy="310896"/>
          </a:xfrm>
          <a:prstGeom prst="roundRect">
            <a:avLst>
              <a:gd name="adj" fmla="val 50000"/>
            </a:avLst>
          </a:prstGeom>
          <a:gradFill>
            <a:gsLst>
              <a:gs pos="0">
                <a:srgbClr val="5158C4"/>
              </a:gs>
              <a:gs pos="100000">
                <a:srgbClr val="858AD5"/>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ube 4"/>
          <p:cNvSpPr/>
          <p:nvPr/>
        </p:nvSpPr>
        <p:spPr>
          <a:xfrm>
            <a:off x="9921240" y="0"/>
            <a:ext cx="2103120" cy="2103120"/>
          </a:xfrm>
          <a:prstGeom prst="cube">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3E78D6"/>
              </a:gs>
              <a:gs pos="100000">
                <a:srgbClr val="94B4E8"/>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3E78D6"/>
                </a:solidFill>
                <a:latin typeface="Segoe UI Semibold"/>
              </a:rPr>
              <a:t>TECHNOLOGY STACK</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Công nghệ sử dụng — Tổng quan</a:t>
            </a:r>
          </a:p>
        </p:txBody>
      </p:sp>
      <p:sp>
        <p:nvSpPr>
          <p:cNvPr id="9" name="Rounded Rectangle 8"/>
          <p:cNvSpPr/>
          <p:nvPr/>
        </p:nvSpPr>
        <p:spPr>
          <a:xfrm>
            <a:off x="777240" y="1783080"/>
            <a:ext cx="2743200" cy="658368"/>
          </a:xfrm>
          <a:prstGeom prst="roundRect">
            <a:avLst>
              <a:gd name="adj" fmla="val 18000"/>
            </a:avLst>
          </a:prstGeom>
          <a:gradFill>
            <a:gsLst>
              <a:gs pos="0">
                <a:srgbClr val="5B63D6"/>
              </a:gs>
              <a:gs pos="100000">
                <a:srgbClr val="7A82E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783080"/>
            <a:ext cx="2606040" cy="658368"/>
          </a:xfrm>
          <a:prstGeom prst="rect">
            <a:avLst/>
          </a:prstGeom>
          <a:noFill/>
        </p:spPr>
        <p:txBody>
          <a:bodyPr wrap="square" anchor="ctr" lIns="50800" rIns="50800" tIns="25400" bIns="25400">
            <a:spAutoFit/>
          </a:bodyPr>
          <a:lstStyle/>
          <a:p>
            <a:pPr algn="l">
              <a:lnSpc>
                <a:spcPct val="100000"/>
              </a:lnSpc>
            </a:pPr>
            <a:r>
              <a:rPr sz="1450" b="1" i="0">
                <a:solidFill>
                  <a:srgbClr val="FFFFFF"/>
                </a:solidFill>
                <a:latin typeface="Segoe UI Semibold"/>
              </a:rPr>
              <a:t>Backend Core</a:t>
            </a:r>
          </a:p>
        </p:txBody>
      </p:sp>
      <p:sp>
        <p:nvSpPr>
          <p:cNvPr id="11" name="Rounded Rectangle 10"/>
          <p:cNvSpPr/>
          <p:nvPr/>
        </p:nvSpPr>
        <p:spPr>
          <a:xfrm>
            <a:off x="3657600" y="1783080"/>
            <a:ext cx="7726679" cy="658368"/>
          </a:xfrm>
          <a:prstGeom prst="roundRect">
            <a:avLst>
              <a:gd name="adj" fmla="val 1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86200" y="1783080"/>
            <a:ext cx="7406640" cy="658368"/>
          </a:xfrm>
          <a:prstGeom prst="rect">
            <a:avLst/>
          </a:prstGeom>
          <a:noFill/>
        </p:spPr>
        <p:txBody>
          <a:bodyPr wrap="square" anchor="ctr" lIns="50800" rIns="50800" tIns="25400" bIns="25400">
            <a:spAutoFit/>
          </a:bodyPr>
          <a:lstStyle/>
          <a:p>
            <a:pPr algn="l">
              <a:lnSpc>
                <a:spcPct val="100000"/>
              </a:lnSpc>
            </a:pPr>
            <a:r>
              <a:rPr sz="1300" b="0" i="0">
                <a:solidFill>
                  <a:srgbClr val="23426B"/>
                </a:solidFill>
                <a:latin typeface="Segoe UI"/>
              </a:rPr>
              <a:t>Java 21 · Spring Boot 3.5.6 · Spring Web · Security · WebSocket · WebFlux</a:t>
            </a:r>
          </a:p>
        </p:txBody>
      </p:sp>
      <p:sp>
        <p:nvSpPr>
          <p:cNvPr id="13" name="Rounded Rectangle 12"/>
          <p:cNvSpPr/>
          <p:nvPr/>
        </p:nvSpPr>
        <p:spPr>
          <a:xfrm>
            <a:off x="777240" y="2551176"/>
            <a:ext cx="2743200" cy="658368"/>
          </a:xfrm>
          <a:prstGeom prst="roundRect">
            <a:avLst>
              <a:gd name="adj" fmla="val 18000"/>
            </a:avLst>
          </a:prstGeom>
          <a:gradFill>
            <a:gsLst>
              <a:gs pos="0">
                <a:srgbClr val="3E78D6"/>
              </a:gs>
              <a:gs pos="100000">
                <a:srgbClr val="3A9B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551176"/>
            <a:ext cx="2606040" cy="658368"/>
          </a:xfrm>
          <a:prstGeom prst="rect">
            <a:avLst/>
          </a:prstGeom>
          <a:noFill/>
        </p:spPr>
        <p:txBody>
          <a:bodyPr wrap="square" anchor="ctr" lIns="50800" rIns="50800" tIns="25400" bIns="25400">
            <a:spAutoFit/>
          </a:bodyPr>
          <a:lstStyle/>
          <a:p>
            <a:pPr algn="l">
              <a:lnSpc>
                <a:spcPct val="100000"/>
              </a:lnSpc>
            </a:pPr>
            <a:r>
              <a:rPr sz="1450" b="1" i="0">
                <a:solidFill>
                  <a:srgbClr val="FFFFFF"/>
                </a:solidFill>
                <a:latin typeface="Segoe UI Semibold"/>
              </a:rPr>
              <a:t>Lưu trữ dữ liệu</a:t>
            </a:r>
          </a:p>
        </p:txBody>
      </p:sp>
      <p:sp>
        <p:nvSpPr>
          <p:cNvPr id="15" name="Rounded Rectangle 14"/>
          <p:cNvSpPr/>
          <p:nvPr/>
        </p:nvSpPr>
        <p:spPr>
          <a:xfrm>
            <a:off x="3657600" y="2551176"/>
            <a:ext cx="7726679" cy="658368"/>
          </a:xfrm>
          <a:prstGeom prst="roundRect">
            <a:avLst>
              <a:gd name="adj" fmla="val 1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2551176"/>
            <a:ext cx="7406640" cy="658368"/>
          </a:xfrm>
          <a:prstGeom prst="rect">
            <a:avLst/>
          </a:prstGeom>
          <a:noFill/>
        </p:spPr>
        <p:txBody>
          <a:bodyPr wrap="square" anchor="ctr" lIns="50800" rIns="50800" tIns="25400" bIns="25400">
            <a:spAutoFit/>
          </a:bodyPr>
          <a:lstStyle/>
          <a:p>
            <a:pPr algn="l">
              <a:lnSpc>
                <a:spcPct val="100000"/>
              </a:lnSpc>
            </a:pPr>
            <a:r>
              <a:rPr sz="1300" b="0" i="0">
                <a:solidFill>
                  <a:srgbClr val="23426B"/>
                </a:solidFill>
                <a:latin typeface="Segoe UI"/>
              </a:rPr>
              <a:t>MariaDB + Spring Data JPA · MongoDB + Spring Data MongoDB</a:t>
            </a:r>
          </a:p>
        </p:txBody>
      </p:sp>
      <p:sp>
        <p:nvSpPr>
          <p:cNvPr id="17" name="Rounded Rectangle 16"/>
          <p:cNvSpPr/>
          <p:nvPr/>
        </p:nvSpPr>
        <p:spPr>
          <a:xfrm>
            <a:off x="777240" y="3319272"/>
            <a:ext cx="2743200" cy="658368"/>
          </a:xfrm>
          <a:prstGeom prst="roundRect">
            <a:avLst>
              <a:gd name="adj" fmla="val 18000"/>
            </a:avLst>
          </a:prstGeom>
          <a:gradFill>
            <a:gsLst>
              <a:gs pos="0">
                <a:srgbClr val="2A4A93"/>
              </a:gs>
              <a:gs pos="100000">
                <a:srgbClr val="8FBDE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319272"/>
            <a:ext cx="2606040" cy="658368"/>
          </a:xfrm>
          <a:prstGeom prst="rect">
            <a:avLst/>
          </a:prstGeom>
          <a:noFill/>
        </p:spPr>
        <p:txBody>
          <a:bodyPr wrap="square" anchor="ctr" lIns="50800" rIns="50800" tIns="25400" bIns="25400">
            <a:spAutoFit/>
          </a:bodyPr>
          <a:lstStyle/>
          <a:p>
            <a:pPr algn="l">
              <a:lnSpc>
                <a:spcPct val="100000"/>
              </a:lnSpc>
            </a:pPr>
            <a:r>
              <a:rPr sz="1450" b="1" i="0">
                <a:solidFill>
                  <a:srgbClr val="FFFFFF"/>
                </a:solidFill>
                <a:latin typeface="Segoe UI Semibold"/>
              </a:rPr>
              <a:t>Realtime</a:t>
            </a:r>
          </a:p>
        </p:txBody>
      </p:sp>
      <p:sp>
        <p:nvSpPr>
          <p:cNvPr id="19" name="Rounded Rectangle 18"/>
          <p:cNvSpPr/>
          <p:nvPr/>
        </p:nvSpPr>
        <p:spPr>
          <a:xfrm>
            <a:off x="3657600" y="3319272"/>
            <a:ext cx="7726679" cy="658368"/>
          </a:xfrm>
          <a:prstGeom prst="roundRect">
            <a:avLst>
              <a:gd name="adj" fmla="val 1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886200" y="3319272"/>
            <a:ext cx="7406640" cy="658368"/>
          </a:xfrm>
          <a:prstGeom prst="rect">
            <a:avLst/>
          </a:prstGeom>
          <a:noFill/>
        </p:spPr>
        <p:txBody>
          <a:bodyPr wrap="square" anchor="ctr" lIns="50800" rIns="50800" tIns="25400" bIns="25400">
            <a:spAutoFit/>
          </a:bodyPr>
          <a:lstStyle/>
          <a:p>
            <a:pPr algn="l">
              <a:lnSpc>
                <a:spcPct val="100000"/>
              </a:lnSpc>
            </a:pPr>
            <a:r>
              <a:rPr sz="1300" b="0" i="0">
                <a:solidFill>
                  <a:srgbClr val="23426B"/>
                </a:solidFill>
                <a:latin typeface="Segoe UI"/>
              </a:rPr>
              <a:t>STOMP · SockJS · Spring Simple Broker · Redis Pub/Sub</a:t>
            </a:r>
          </a:p>
        </p:txBody>
      </p:sp>
      <p:sp>
        <p:nvSpPr>
          <p:cNvPr id="21" name="Rounded Rectangle 20"/>
          <p:cNvSpPr/>
          <p:nvPr/>
        </p:nvSpPr>
        <p:spPr>
          <a:xfrm>
            <a:off x="777240" y="4087368"/>
            <a:ext cx="2743200" cy="658368"/>
          </a:xfrm>
          <a:prstGeom prst="roundRect">
            <a:avLst>
              <a:gd name="adj" fmla="val 18000"/>
            </a:avLst>
          </a:prstGeom>
          <a:gradFill>
            <a:gsLst>
              <a:gs pos="0">
                <a:srgbClr val="2F86A4"/>
              </a:gs>
              <a:gs pos="100000">
                <a:srgbClr val="3A9B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087368"/>
            <a:ext cx="2606040" cy="658368"/>
          </a:xfrm>
          <a:prstGeom prst="rect">
            <a:avLst/>
          </a:prstGeom>
          <a:noFill/>
        </p:spPr>
        <p:txBody>
          <a:bodyPr wrap="square" anchor="ctr" lIns="50800" rIns="50800" tIns="25400" bIns="25400">
            <a:spAutoFit/>
          </a:bodyPr>
          <a:lstStyle/>
          <a:p>
            <a:pPr algn="l">
              <a:lnSpc>
                <a:spcPct val="100000"/>
              </a:lnSpc>
            </a:pPr>
            <a:r>
              <a:rPr sz="1450" b="1" i="0">
                <a:solidFill>
                  <a:srgbClr val="FFFFFF"/>
                </a:solidFill>
                <a:latin typeface="Segoe UI Semibold"/>
              </a:rPr>
              <a:t>Xác thực &amp; Bảo mật</a:t>
            </a:r>
          </a:p>
        </p:txBody>
      </p:sp>
      <p:sp>
        <p:nvSpPr>
          <p:cNvPr id="23" name="Rounded Rectangle 22"/>
          <p:cNvSpPr/>
          <p:nvPr/>
        </p:nvSpPr>
        <p:spPr>
          <a:xfrm>
            <a:off x="3657600" y="4087368"/>
            <a:ext cx="7726679" cy="658368"/>
          </a:xfrm>
          <a:prstGeom prst="roundRect">
            <a:avLst>
              <a:gd name="adj" fmla="val 1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6200" y="4087368"/>
            <a:ext cx="7406640" cy="658368"/>
          </a:xfrm>
          <a:prstGeom prst="rect">
            <a:avLst/>
          </a:prstGeom>
          <a:noFill/>
        </p:spPr>
        <p:txBody>
          <a:bodyPr wrap="square" anchor="ctr" lIns="50800" rIns="50800" tIns="25400" bIns="25400">
            <a:spAutoFit/>
          </a:bodyPr>
          <a:lstStyle/>
          <a:p>
            <a:pPr algn="l">
              <a:lnSpc>
                <a:spcPct val="100000"/>
              </a:lnSpc>
            </a:pPr>
            <a:r>
              <a:rPr sz="1300" b="0" i="0">
                <a:solidFill>
                  <a:srgbClr val="23426B"/>
                </a:solidFill>
                <a:latin typeface="Segoe UI"/>
              </a:rPr>
              <a:t>AWS Cognito · JWT · secure cookies · token refresh</a:t>
            </a:r>
          </a:p>
        </p:txBody>
      </p:sp>
      <p:sp>
        <p:nvSpPr>
          <p:cNvPr id="25" name="Rounded Rectangle 24"/>
          <p:cNvSpPr/>
          <p:nvPr/>
        </p:nvSpPr>
        <p:spPr>
          <a:xfrm>
            <a:off x="777240" y="4855464"/>
            <a:ext cx="2743200" cy="658368"/>
          </a:xfrm>
          <a:prstGeom prst="roundRect">
            <a:avLst>
              <a:gd name="adj" fmla="val 18000"/>
            </a:avLst>
          </a:prstGeom>
          <a:gradFill>
            <a:gsLst>
              <a:gs pos="0">
                <a:srgbClr val="2F62C9"/>
              </a:gs>
              <a:gs pos="100000">
                <a:srgbClr val="5470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4855464"/>
            <a:ext cx="2606040" cy="658368"/>
          </a:xfrm>
          <a:prstGeom prst="rect">
            <a:avLst/>
          </a:prstGeom>
          <a:noFill/>
        </p:spPr>
        <p:txBody>
          <a:bodyPr wrap="square" anchor="ctr" lIns="50800" rIns="50800" tIns="25400" bIns="25400">
            <a:spAutoFit/>
          </a:bodyPr>
          <a:lstStyle/>
          <a:p>
            <a:pPr algn="l">
              <a:lnSpc>
                <a:spcPct val="100000"/>
              </a:lnSpc>
            </a:pPr>
            <a:r>
              <a:rPr sz="1450" b="1" i="0">
                <a:solidFill>
                  <a:srgbClr val="FFFFFF"/>
                </a:solidFill>
                <a:latin typeface="Segoe UI Semibold"/>
              </a:rPr>
              <a:t>Lưu trữ Media</a:t>
            </a:r>
          </a:p>
        </p:txBody>
      </p:sp>
      <p:sp>
        <p:nvSpPr>
          <p:cNvPr id="27" name="Rounded Rectangle 26"/>
          <p:cNvSpPr/>
          <p:nvPr/>
        </p:nvSpPr>
        <p:spPr>
          <a:xfrm>
            <a:off x="3657600" y="4855464"/>
            <a:ext cx="7726679" cy="658368"/>
          </a:xfrm>
          <a:prstGeom prst="roundRect">
            <a:avLst>
              <a:gd name="adj" fmla="val 1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86200" y="4855464"/>
            <a:ext cx="7406640" cy="658368"/>
          </a:xfrm>
          <a:prstGeom prst="rect">
            <a:avLst/>
          </a:prstGeom>
          <a:noFill/>
        </p:spPr>
        <p:txBody>
          <a:bodyPr wrap="square" anchor="ctr" lIns="50800" rIns="50800" tIns="25400" bIns="25400">
            <a:spAutoFit/>
          </a:bodyPr>
          <a:lstStyle/>
          <a:p>
            <a:pPr algn="l">
              <a:lnSpc>
                <a:spcPct val="100000"/>
              </a:lnSpc>
            </a:pPr>
            <a:r>
              <a:rPr sz="1300" b="0" i="0">
                <a:solidFill>
                  <a:srgbClr val="23426B"/>
                </a:solidFill>
                <a:latin typeface="Segoe UI"/>
              </a:rPr>
              <a:t>AWS S3 SDK · S3 presigned URLs · Cloudflare R2</a:t>
            </a:r>
          </a:p>
        </p:txBody>
      </p:sp>
      <p:sp>
        <p:nvSpPr>
          <p:cNvPr id="29" name="Rounded Rectangle 28"/>
          <p:cNvSpPr/>
          <p:nvPr/>
        </p:nvSpPr>
        <p:spPr>
          <a:xfrm>
            <a:off x="777240" y="5623560"/>
            <a:ext cx="2743200" cy="658368"/>
          </a:xfrm>
          <a:prstGeom prst="roundRect">
            <a:avLst>
              <a:gd name="adj" fmla="val 18000"/>
            </a:avLst>
          </a:prstGeom>
          <a:gradFill>
            <a:gsLst>
              <a:gs pos="0">
                <a:srgbClr val="5158C4"/>
              </a:gs>
              <a:gs pos="100000">
                <a:srgbClr val="7A82E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623560"/>
            <a:ext cx="2606040" cy="658368"/>
          </a:xfrm>
          <a:prstGeom prst="rect">
            <a:avLst/>
          </a:prstGeom>
          <a:noFill/>
        </p:spPr>
        <p:txBody>
          <a:bodyPr wrap="square" anchor="ctr" lIns="50800" rIns="50800" tIns="25400" bIns="25400">
            <a:spAutoFit/>
          </a:bodyPr>
          <a:lstStyle/>
          <a:p>
            <a:pPr algn="l">
              <a:lnSpc>
                <a:spcPct val="100000"/>
              </a:lnSpc>
            </a:pPr>
            <a:r>
              <a:rPr sz="1450" b="1" i="0">
                <a:solidFill>
                  <a:srgbClr val="FFFFFF"/>
                </a:solidFill>
                <a:latin typeface="Segoe UI Semibold"/>
              </a:rPr>
              <a:t>AI</a:t>
            </a:r>
          </a:p>
        </p:txBody>
      </p:sp>
      <p:sp>
        <p:nvSpPr>
          <p:cNvPr id="31" name="Rounded Rectangle 30"/>
          <p:cNvSpPr/>
          <p:nvPr/>
        </p:nvSpPr>
        <p:spPr>
          <a:xfrm>
            <a:off x="3657600" y="5623560"/>
            <a:ext cx="7726679" cy="658368"/>
          </a:xfrm>
          <a:prstGeom prst="roundRect">
            <a:avLst>
              <a:gd name="adj" fmla="val 1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86200" y="5623560"/>
            <a:ext cx="7406640" cy="658368"/>
          </a:xfrm>
          <a:prstGeom prst="rect">
            <a:avLst/>
          </a:prstGeom>
          <a:noFill/>
        </p:spPr>
        <p:txBody>
          <a:bodyPr wrap="square" anchor="ctr" lIns="50800" rIns="50800" tIns="25400" bIns="25400">
            <a:spAutoFit/>
          </a:bodyPr>
          <a:lstStyle/>
          <a:p>
            <a:pPr algn="l">
              <a:lnSpc>
                <a:spcPct val="100000"/>
              </a:lnSpc>
            </a:pPr>
            <a:r>
              <a:rPr sz="1300" b="0" i="0">
                <a:solidFill>
                  <a:srgbClr val="23426B"/>
                </a:solidFill>
                <a:latin typeface="Segoe UI"/>
              </a:rPr>
              <a:t>OpenRouter-compatible provider · Spring WebClient</a:t>
            </a:r>
          </a:p>
        </p:txBody>
      </p:sp>
      <p:sp>
        <p:nvSpPr>
          <p:cNvPr id="33" name="TextBox 32"/>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4" name="Rounded Rectangle 33"/>
          <p:cNvSpPr/>
          <p:nvPr/>
        </p:nvSpPr>
        <p:spPr>
          <a:xfrm>
            <a:off x="11247120" y="6382512"/>
            <a:ext cx="502920" cy="310896"/>
          </a:xfrm>
          <a:prstGeom prst="roundRect">
            <a:avLst>
              <a:gd name="adj" fmla="val 50000"/>
            </a:avLst>
          </a:prstGeom>
          <a:gradFill>
            <a:gsLst>
              <a:gs pos="0">
                <a:srgbClr val="3E78D6"/>
              </a:gs>
              <a:gs pos="100000">
                <a:srgbClr val="77A0E2"/>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Gear 6 4"/>
          <p:cNvSpPr/>
          <p:nvPr/>
        </p:nvSpPr>
        <p:spPr>
          <a:xfrm>
            <a:off x="9921240" y="0"/>
            <a:ext cx="2103120" cy="2103120"/>
          </a:xfrm>
          <a:prstGeom prst="gear6">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5B63D6"/>
              </a:gs>
              <a:gs pos="100000">
                <a:srgbClr val="A4A9E8"/>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5B63D6"/>
                </a:solidFill>
                <a:latin typeface="Segoe UI Semibold"/>
              </a:rPr>
              <a:t>BACKEND</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Tầng Backend — Spring Boot</a:t>
            </a:r>
          </a:p>
        </p:txBody>
      </p:sp>
      <p:sp>
        <p:nvSpPr>
          <p:cNvPr id="9" name="Rounded Rectangle 8"/>
          <p:cNvSpPr/>
          <p:nvPr/>
        </p:nvSpPr>
        <p:spPr>
          <a:xfrm>
            <a:off x="777240" y="1783080"/>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Framework</a:t>
            </a:r>
          </a:p>
        </p:txBody>
      </p:sp>
      <p:sp>
        <p:nvSpPr>
          <p:cNvPr id="14" name="TextBox 13"/>
          <p:cNvSpPr txBox="1"/>
          <p:nvPr/>
        </p:nvSpPr>
        <p:spPr>
          <a:xfrm>
            <a:off x="960120" y="3081528"/>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Java 21, Spring Boot 3.5.6</a:t>
            </a:r>
          </a:p>
          <a:p>
            <a:pPr algn="l">
              <a:lnSpc>
                <a:spcPct val="105000"/>
              </a:lnSpc>
            </a:pPr>
            <a:r>
              <a:rPr sz="1200" b="0" i="0">
                <a:solidFill>
                  <a:srgbClr val="23426B"/>
                </a:solidFill>
                <a:latin typeface="Segoe UI"/>
              </a:rPr>
              <a:t>Spring Web (REST), Spring WebFlux (WebClient reactive cho AI), Spring WebSocket (STOMP).</a:t>
            </a:r>
          </a:p>
        </p:txBody>
      </p:sp>
      <p:sp>
        <p:nvSpPr>
          <p:cNvPr id="15" name="Rounded Rectangle 14"/>
          <p:cNvSpPr/>
          <p:nvPr/>
        </p:nvSpPr>
        <p:spPr>
          <a:xfrm>
            <a:off x="6172200" y="1783080"/>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1783080"/>
            <a:ext cx="5212080"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3368"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635508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Persistence</a:t>
            </a:r>
          </a:p>
        </p:txBody>
      </p:sp>
      <p:sp>
        <p:nvSpPr>
          <p:cNvPr id="20" name="TextBox 19"/>
          <p:cNvSpPr txBox="1"/>
          <p:nvPr/>
        </p:nvSpPr>
        <p:spPr>
          <a:xfrm>
            <a:off x="6355080" y="3081528"/>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Spring Data JPA → MariaDB (định danh, hội thoại).</a:t>
            </a:r>
          </a:p>
          <a:p>
            <a:pPr algn="l">
              <a:lnSpc>
                <a:spcPct val="105000"/>
              </a:lnSpc>
            </a:pPr>
            <a:r>
              <a:rPr sz="1200" b="0" i="0">
                <a:solidFill>
                  <a:srgbClr val="23426B"/>
                </a:solidFill>
                <a:latin typeface="Segoe UI"/>
              </a:rPr>
              <a:t>Spring Data MongoDB → nội dung MXH (post, comment, message...).</a:t>
            </a:r>
          </a:p>
        </p:txBody>
      </p:sp>
      <p:sp>
        <p:nvSpPr>
          <p:cNvPr id="21" name="Rounded Rectangle 20"/>
          <p:cNvSpPr/>
          <p:nvPr/>
        </p:nvSpPr>
        <p:spPr>
          <a:xfrm>
            <a:off x="777240" y="3995928"/>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995928"/>
            <a:ext cx="5212080"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 y="4251960"/>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4233672"/>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960120" y="4928616"/>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Security</a:t>
            </a:r>
          </a:p>
        </p:txBody>
      </p:sp>
      <p:sp>
        <p:nvSpPr>
          <p:cNvPr id="26" name="TextBox 25"/>
          <p:cNvSpPr txBox="1"/>
          <p:nvPr/>
        </p:nvSpPr>
        <p:spPr>
          <a:xfrm>
            <a:off x="960120" y="5294376"/>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Spring Security stateless, xác thực JWT do Cognito phát hành, secure cookies &amp; luồng refresh token.</a:t>
            </a:r>
          </a:p>
        </p:txBody>
      </p:sp>
      <p:sp>
        <p:nvSpPr>
          <p:cNvPr id="27" name="Rounded Rectangle 26"/>
          <p:cNvSpPr/>
          <p:nvPr/>
        </p:nvSpPr>
        <p:spPr>
          <a:xfrm>
            <a:off x="6172200" y="3995928"/>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72200" y="3995928"/>
            <a:ext cx="5212080" cy="109728"/>
          </a:xfrm>
          <a:prstGeom prst="roundRect">
            <a:avLst>
              <a:gd name="adj" fmla="val 50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73368" y="4251960"/>
            <a:ext cx="603504" cy="603504"/>
          </a:xfrm>
          <a:prstGeom prst="roundRect">
            <a:avLst>
              <a:gd name="adj" fmla="val 30000"/>
            </a:avLst>
          </a:prstGeom>
          <a:gradFill>
            <a:gsLst>
              <a:gs pos="0">
                <a:srgbClr val="2A4A93"/>
              </a:gs>
              <a:gs pos="100000">
                <a:srgbClr val="8FBDEE"/>
              </a:gs>
            </a:gsLst>
            <a:lin ang="2700000" scaled="1"/>
          </a:gradFill>
          <a:ln>
            <a:noFill/>
          </a:ln>
          <a:effectLst>
            <a:outerShdw blurRad="54864" dist="36576" dir="5400000" rotWithShape="0">
              <a:srgbClr val="2A4A93">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4233672"/>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6355080" y="4928616"/>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Realtime &amp; Event</a:t>
            </a:r>
          </a:p>
        </p:txBody>
      </p:sp>
      <p:sp>
        <p:nvSpPr>
          <p:cNvPr id="32" name="TextBox 31"/>
          <p:cNvSpPr txBox="1"/>
          <p:nvPr/>
        </p:nvSpPr>
        <p:spPr>
          <a:xfrm>
            <a:off x="6355080" y="5294376"/>
            <a:ext cx="4846320" cy="64008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STOMP broker, tầng Event publish sự kiện hội thoại/tin nhắn/thành viên qua Redis Pub/Sub.</a:t>
            </a:r>
          </a:p>
        </p:txBody>
      </p:sp>
      <p:sp>
        <p:nvSpPr>
          <p:cNvPr id="33" name="TextBox 32"/>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4" name="Rounded Rectangle 33"/>
          <p:cNvSpPr/>
          <p:nvPr/>
        </p:nvSpPr>
        <p:spPr>
          <a:xfrm>
            <a:off x="11247120" y="6382512"/>
            <a:ext cx="502920" cy="310896"/>
          </a:xfrm>
          <a:prstGeom prst="roundRect">
            <a:avLst>
              <a:gd name="adj" fmla="val 50000"/>
            </a:avLst>
          </a:prstGeom>
          <a:gradFill>
            <a:gsLst>
              <a:gs pos="0">
                <a:srgbClr val="5B63D6"/>
              </a:gs>
              <a:gs pos="100000">
                <a:srgbClr val="8C91E2"/>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hevron 4"/>
          <p:cNvSpPr/>
          <p:nvPr/>
        </p:nvSpPr>
        <p:spPr>
          <a:xfrm>
            <a:off x="9784080" y="274320"/>
            <a:ext cx="2377440" cy="1554480"/>
          </a:xfrm>
          <a:prstGeom prst="chevro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E93AE"/>
              </a:gs>
              <a:gs pos="100000">
                <a:srgbClr val="8CC3D2"/>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E93AE"/>
                </a:solidFill>
                <a:latin typeface="Segoe UI Semibold"/>
              </a:rPr>
              <a:t>FRONTEND</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Web &amp; Mobile Clients</a:t>
            </a:r>
          </a:p>
        </p:txBody>
      </p:sp>
      <p:sp>
        <p:nvSpPr>
          <p:cNvPr id="9" name="Rounded Rectangle 8"/>
          <p:cNvSpPr/>
          <p:nvPr/>
        </p:nvSpPr>
        <p:spPr>
          <a:xfrm>
            <a:off x="777240" y="1783080"/>
            <a:ext cx="5212080" cy="429768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640080"/>
          </a:xfrm>
          <a:prstGeom prst="roundRect">
            <a:avLst>
              <a:gd name="adj" fmla="val 1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640080"/>
          </a:xfrm>
          <a:prstGeom prst="rect">
            <a:avLst/>
          </a:prstGeom>
          <a:noFill/>
        </p:spPr>
        <p:txBody>
          <a:bodyPr wrap="square" anchor="ctr" lIns="50800" rIns="50800" tIns="25400" bIns="25400">
            <a:spAutoFit/>
          </a:bodyPr>
          <a:lstStyle/>
          <a:p>
            <a:pPr algn="ctr">
              <a:lnSpc>
                <a:spcPct val="100000"/>
              </a:lnSpc>
            </a:pPr>
            <a:r>
              <a:rPr sz="1900" b="1" i="0">
                <a:solidFill>
                  <a:srgbClr val="FFFFFF"/>
                </a:solidFill>
                <a:latin typeface="Segoe UI Semibold"/>
              </a:rPr>
              <a:t>🌐  Web Client</a:t>
            </a:r>
          </a:p>
        </p:txBody>
      </p:sp>
      <p:sp>
        <p:nvSpPr>
          <p:cNvPr id="12" name="TextBox 11"/>
          <p:cNvSpPr txBox="1"/>
          <p:nvPr/>
        </p:nvSpPr>
        <p:spPr>
          <a:xfrm>
            <a:off x="1005840" y="2697480"/>
            <a:ext cx="4800600" cy="3200400"/>
          </a:xfrm>
          <a:prstGeom prst="rect">
            <a:avLst/>
          </a:prstGeom>
          <a:noFill/>
        </p:spPr>
        <p:txBody>
          <a:bodyPr wrap="square" lIns="25400" rIns="25400">
            <a:spAutoFit/>
          </a:bodyPr>
          <a:lstStyle/>
          <a:p>
            <a:pPr>
              <a:lnSpc>
                <a:spcPct val="105000"/>
              </a:lnSpc>
              <a:spcAft>
                <a:spcPts val="1100"/>
              </a:spcAft>
            </a:pPr>
            <a:r>
              <a:rPr sz="1400" b="1">
                <a:solidFill>
                  <a:srgbClr val="2E93AE"/>
                </a:solidFill>
                <a:latin typeface="Segoe UI"/>
              </a:rPr>
              <a:t>▸  </a:t>
            </a:r>
            <a:r>
              <a:rPr sz="1400">
                <a:solidFill>
                  <a:srgbClr val="23426B"/>
                </a:solidFill>
                <a:latin typeface="Segoe UI"/>
              </a:rPr>
              <a:t>React 19 + Vite 7 + TypeScript</a:t>
            </a:r>
          </a:p>
          <a:p>
            <a:pPr>
              <a:lnSpc>
                <a:spcPct val="105000"/>
              </a:lnSpc>
              <a:spcAft>
                <a:spcPts val="1100"/>
              </a:spcAft>
            </a:pPr>
            <a:r>
              <a:rPr sz="1400" b="1">
                <a:solidFill>
                  <a:srgbClr val="2E93AE"/>
                </a:solidFill>
                <a:latin typeface="Segoe UI"/>
              </a:rPr>
              <a:t>▸  </a:t>
            </a:r>
            <a:r>
              <a:rPr sz="1400">
                <a:solidFill>
                  <a:srgbClr val="23426B"/>
                </a:solidFill>
                <a:latin typeface="Segoe UI"/>
              </a:rPr>
              <a:t>Tailwind CSS 4 &amp; Ant Design cho UI</a:t>
            </a:r>
          </a:p>
          <a:p>
            <a:pPr>
              <a:lnSpc>
                <a:spcPct val="105000"/>
              </a:lnSpc>
              <a:spcAft>
                <a:spcPts val="1100"/>
              </a:spcAft>
            </a:pPr>
            <a:r>
              <a:rPr sz="1400" b="1">
                <a:solidFill>
                  <a:srgbClr val="2E93AE"/>
                </a:solidFill>
                <a:latin typeface="Segoe UI"/>
              </a:rPr>
              <a:t>▸  </a:t>
            </a:r>
            <a:r>
              <a:rPr sz="1400">
                <a:solidFill>
                  <a:srgbClr val="23426B"/>
                </a:solidFill>
                <a:latin typeface="Segoe UI"/>
              </a:rPr>
              <a:t>Redux Toolkit + React Router</a:t>
            </a:r>
          </a:p>
          <a:p>
            <a:pPr>
              <a:lnSpc>
                <a:spcPct val="105000"/>
              </a:lnSpc>
              <a:spcAft>
                <a:spcPts val="1100"/>
              </a:spcAft>
            </a:pPr>
            <a:r>
              <a:rPr sz="1400" b="1">
                <a:solidFill>
                  <a:srgbClr val="2E93AE"/>
                </a:solidFill>
                <a:latin typeface="Segoe UI"/>
              </a:rPr>
              <a:t>▸  </a:t>
            </a:r>
            <a:r>
              <a:rPr sz="1400">
                <a:solidFill>
                  <a:srgbClr val="23426B"/>
                </a:solidFill>
                <a:latin typeface="Segoe UI"/>
              </a:rPr>
              <a:t>STOMP/SockJS realtime qua singleton WebSocket</a:t>
            </a:r>
          </a:p>
          <a:p>
            <a:pPr>
              <a:lnSpc>
                <a:spcPct val="105000"/>
              </a:lnSpc>
              <a:spcAft>
                <a:spcPts val="1100"/>
              </a:spcAft>
            </a:pPr>
            <a:r>
              <a:rPr sz="1400" b="1">
                <a:solidFill>
                  <a:srgbClr val="2E93AE"/>
                </a:solidFill>
                <a:latin typeface="Segoe UI"/>
              </a:rPr>
              <a:t>▸  </a:t>
            </a:r>
            <a:r>
              <a:rPr sz="1400">
                <a:solidFill>
                  <a:srgbClr val="23426B"/>
                </a:solidFill>
                <a:latin typeface="Segoe UI"/>
              </a:rPr>
              <a:t>Xác thực bằng cookie trình duyệt</a:t>
            </a:r>
          </a:p>
          <a:p>
            <a:pPr>
              <a:lnSpc>
                <a:spcPct val="105000"/>
              </a:lnSpc>
              <a:spcAft>
                <a:spcPts val="1100"/>
              </a:spcAft>
            </a:pPr>
            <a:r>
              <a:rPr sz="1400" b="1">
                <a:solidFill>
                  <a:srgbClr val="2E93AE"/>
                </a:solidFill>
                <a:latin typeface="Segoe UI"/>
              </a:rPr>
              <a:t>▸  </a:t>
            </a:r>
            <a:r>
              <a:rPr sz="1400">
                <a:solidFill>
                  <a:srgbClr val="23426B"/>
                </a:solidFill>
                <a:latin typeface="Segoe UI"/>
              </a:rPr>
              <a:t>Vite proxy: /api &amp; /ws → backend:8080</a:t>
            </a:r>
          </a:p>
        </p:txBody>
      </p:sp>
      <p:sp>
        <p:nvSpPr>
          <p:cNvPr id="13" name="Rounded Rectangle 12"/>
          <p:cNvSpPr/>
          <p:nvPr/>
        </p:nvSpPr>
        <p:spPr>
          <a:xfrm>
            <a:off x="6172200" y="1783080"/>
            <a:ext cx="5212080" cy="429768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72200" y="1783080"/>
            <a:ext cx="5212080" cy="640080"/>
          </a:xfrm>
          <a:prstGeom prst="roundRect">
            <a:avLst>
              <a:gd name="adj" fmla="val 1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783080"/>
            <a:ext cx="5212080" cy="640080"/>
          </a:xfrm>
          <a:prstGeom prst="rect">
            <a:avLst/>
          </a:prstGeom>
          <a:noFill/>
        </p:spPr>
        <p:txBody>
          <a:bodyPr wrap="square" anchor="ctr" lIns="50800" rIns="50800" tIns="25400" bIns="25400">
            <a:spAutoFit/>
          </a:bodyPr>
          <a:lstStyle/>
          <a:p>
            <a:pPr algn="ctr">
              <a:lnSpc>
                <a:spcPct val="100000"/>
              </a:lnSpc>
            </a:pPr>
            <a:r>
              <a:rPr sz="1900" b="1" i="0">
                <a:solidFill>
                  <a:srgbClr val="FFFFFF"/>
                </a:solidFill>
                <a:latin typeface="Segoe UI Semibold"/>
              </a:rPr>
              <a:t>📱  Mobile Client</a:t>
            </a:r>
          </a:p>
        </p:txBody>
      </p:sp>
      <p:sp>
        <p:nvSpPr>
          <p:cNvPr id="16" name="TextBox 15"/>
          <p:cNvSpPr txBox="1"/>
          <p:nvPr/>
        </p:nvSpPr>
        <p:spPr>
          <a:xfrm>
            <a:off x="6400800" y="2697480"/>
            <a:ext cx="4800600" cy="3200400"/>
          </a:xfrm>
          <a:prstGeom prst="rect">
            <a:avLst/>
          </a:prstGeom>
          <a:noFill/>
        </p:spPr>
        <p:txBody>
          <a:bodyPr wrap="square" lIns="25400" rIns="25400">
            <a:spAutoFit/>
          </a:bodyPr>
          <a:lstStyle/>
          <a:p>
            <a:pPr>
              <a:lnSpc>
                <a:spcPct val="105000"/>
              </a:lnSpc>
              <a:spcAft>
                <a:spcPts val="1100"/>
              </a:spcAft>
            </a:pPr>
            <a:r>
              <a:rPr sz="1400" b="1">
                <a:solidFill>
                  <a:srgbClr val="3A9BCE"/>
                </a:solidFill>
                <a:latin typeface="Segoe UI"/>
              </a:rPr>
              <a:t>▸  </a:t>
            </a:r>
            <a:r>
              <a:rPr sz="1400">
                <a:solidFill>
                  <a:srgbClr val="23426B"/>
                </a:solidFill>
                <a:latin typeface="Segoe UI"/>
              </a:rPr>
              <a:t>Expo 54 + React Native 0.81 + Expo Router</a:t>
            </a:r>
          </a:p>
          <a:p>
            <a:pPr>
              <a:lnSpc>
                <a:spcPct val="105000"/>
              </a:lnSpc>
              <a:spcAft>
                <a:spcPts val="1100"/>
              </a:spcAft>
            </a:pPr>
            <a:r>
              <a:rPr sz="1400" b="1">
                <a:solidFill>
                  <a:srgbClr val="3A9BCE"/>
                </a:solidFill>
                <a:latin typeface="Segoe UI"/>
              </a:rPr>
              <a:t>▸  </a:t>
            </a:r>
            <a:r>
              <a:rPr sz="1400">
                <a:solidFill>
                  <a:srgbClr val="23426B"/>
                </a:solidFill>
                <a:latin typeface="Segoe UI"/>
              </a:rPr>
              <a:t>Expo Secure Store lưu token an toàn</a:t>
            </a:r>
          </a:p>
          <a:p>
            <a:pPr>
              <a:lnSpc>
                <a:spcPct val="105000"/>
              </a:lnSpc>
              <a:spcAft>
                <a:spcPts val="1100"/>
              </a:spcAft>
            </a:pPr>
            <a:r>
              <a:rPr sz="1400" b="1">
                <a:solidFill>
                  <a:srgbClr val="3A9BCE"/>
                </a:solidFill>
                <a:latin typeface="Segoe UI"/>
              </a:rPr>
              <a:t>▸  </a:t>
            </a:r>
            <a:r>
              <a:rPr sz="1400">
                <a:solidFill>
                  <a:srgbClr val="23426B"/>
                </a:solidFill>
                <a:latin typeface="Segoe UI"/>
              </a:rPr>
              <a:t>Expo Camera: quét QR &amp; chụp ảnh</a:t>
            </a:r>
          </a:p>
          <a:p>
            <a:pPr>
              <a:lnSpc>
                <a:spcPct val="105000"/>
              </a:lnSpc>
              <a:spcAft>
                <a:spcPts val="1100"/>
              </a:spcAft>
            </a:pPr>
            <a:r>
              <a:rPr sz="1400" b="1">
                <a:solidFill>
                  <a:srgbClr val="3A9BCE"/>
                </a:solidFill>
                <a:latin typeface="Segoe UI"/>
              </a:rPr>
              <a:t>▸  </a:t>
            </a:r>
            <a:r>
              <a:rPr sz="1400">
                <a:solidFill>
                  <a:srgbClr val="23426B"/>
                </a:solidFill>
                <a:latin typeface="Segoe UI"/>
              </a:rPr>
              <a:t>Đồng bộ chat realtime qua WebSocket</a:t>
            </a:r>
          </a:p>
          <a:p>
            <a:pPr>
              <a:lnSpc>
                <a:spcPct val="105000"/>
              </a:lnSpc>
              <a:spcAft>
                <a:spcPts val="1100"/>
              </a:spcAft>
            </a:pPr>
            <a:r>
              <a:rPr sz="1400" b="1">
                <a:solidFill>
                  <a:srgbClr val="3A9BCE"/>
                </a:solidFill>
                <a:latin typeface="Segoe UI"/>
              </a:rPr>
              <a:t>▸  </a:t>
            </a:r>
            <a:r>
              <a:rPr sz="1400">
                <a:solidFill>
                  <a:srgbClr val="23426B"/>
                </a:solidFill>
                <a:latin typeface="Segoe UI"/>
              </a:rPr>
              <a:t>Axios client tự refresh token</a:t>
            </a:r>
          </a:p>
          <a:p>
            <a:pPr>
              <a:lnSpc>
                <a:spcPct val="105000"/>
              </a:lnSpc>
              <a:spcAft>
                <a:spcPts val="1100"/>
              </a:spcAft>
            </a:pPr>
            <a:r>
              <a:rPr sz="1400" b="1">
                <a:solidFill>
                  <a:srgbClr val="3A9BCE"/>
                </a:solidFill>
                <a:latin typeface="Segoe UI"/>
              </a:rPr>
              <a:t>▸  </a:t>
            </a:r>
            <a:r>
              <a:rPr sz="1400">
                <a:solidFill>
                  <a:srgbClr val="23426B"/>
                </a:solidFill>
                <a:latin typeface="Segoe UI"/>
              </a:rPr>
              <a:t>Tự phát hiện backend qua LAN host (Expo)</a:t>
            </a:r>
          </a:p>
        </p:txBody>
      </p:sp>
      <p:sp>
        <p:nvSpPr>
          <p:cNvPr id="17" name="TextBox 16"/>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18" name="Rounded Rectangle 17"/>
          <p:cNvSpPr/>
          <p:nvPr/>
        </p:nvSpPr>
        <p:spPr>
          <a:xfrm>
            <a:off x="11247120" y="6382512"/>
            <a:ext cx="502920" cy="310896"/>
          </a:xfrm>
          <a:prstGeom prst="roundRect">
            <a:avLst>
              <a:gd name="adj" fmla="val 50000"/>
            </a:avLst>
          </a:prstGeom>
          <a:gradFill>
            <a:gsLst>
              <a:gs pos="0">
                <a:srgbClr val="2E93AE"/>
              </a:gs>
              <a:gs pos="100000">
                <a:srgbClr val="6CB3C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ube 4"/>
          <p:cNvSpPr/>
          <p:nvPr/>
        </p:nvSpPr>
        <p:spPr>
          <a:xfrm>
            <a:off x="9921240" y="0"/>
            <a:ext cx="2103120" cy="2103120"/>
          </a:xfrm>
          <a:prstGeom prst="cube">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5158C4"/>
              </a:gs>
              <a:gs pos="100000">
                <a:srgbClr val="9FA3D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5158C4"/>
                </a:solidFill>
                <a:latin typeface="Segoe UI Semibold"/>
              </a:rPr>
              <a:t>ARCHITECTURE</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Kiến trúc hệ thống tổng quan</a:t>
            </a:r>
          </a:p>
        </p:txBody>
      </p:sp>
      <p:sp>
        <p:nvSpPr>
          <p:cNvPr id="9" name="Rounded Rectangle 8"/>
          <p:cNvSpPr/>
          <p:nvPr/>
        </p:nvSpPr>
        <p:spPr>
          <a:xfrm>
            <a:off x="1280160" y="1691640"/>
            <a:ext cx="3108960" cy="868680"/>
          </a:xfrm>
          <a:prstGeom prst="roundRect">
            <a:avLst>
              <a:gd name="adj" fmla="val 12000"/>
            </a:avLst>
          </a:prstGeom>
          <a:gradFill>
            <a:gsLst>
              <a:gs pos="0">
                <a:srgbClr val="3E78D6"/>
              </a:gs>
              <a:gs pos="100000">
                <a:srgbClr val="2E93A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801368"/>
            <a:ext cx="292608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React Web Client</a:t>
            </a:r>
          </a:p>
        </p:txBody>
      </p:sp>
      <p:sp>
        <p:nvSpPr>
          <p:cNvPr id="11" name="TextBox 10"/>
          <p:cNvSpPr txBox="1"/>
          <p:nvPr/>
        </p:nvSpPr>
        <p:spPr>
          <a:xfrm>
            <a:off x="1353312" y="1993392"/>
            <a:ext cx="296265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REST /api · STOMP /ws</a:t>
            </a:r>
          </a:p>
        </p:txBody>
      </p:sp>
      <p:sp>
        <p:nvSpPr>
          <p:cNvPr id="12" name="Rounded Rectangle 11"/>
          <p:cNvSpPr/>
          <p:nvPr/>
        </p:nvSpPr>
        <p:spPr>
          <a:xfrm>
            <a:off x="7772400" y="1691640"/>
            <a:ext cx="3108960" cy="868680"/>
          </a:xfrm>
          <a:prstGeom prst="roundRect">
            <a:avLst>
              <a:gd name="adj" fmla="val 12000"/>
            </a:avLst>
          </a:prstGeom>
          <a:gradFill>
            <a:gsLst>
              <a:gs pos="0">
                <a:srgbClr val="2F86A4"/>
              </a:gs>
              <a:gs pos="100000">
                <a:srgbClr val="3A9BC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0" y="1801368"/>
            <a:ext cx="292608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Expo Mobile Client</a:t>
            </a:r>
          </a:p>
        </p:txBody>
      </p:sp>
      <p:sp>
        <p:nvSpPr>
          <p:cNvPr id="14" name="TextBox 13"/>
          <p:cNvSpPr txBox="1"/>
          <p:nvPr/>
        </p:nvSpPr>
        <p:spPr>
          <a:xfrm>
            <a:off x="7845552" y="1993392"/>
            <a:ext cx="296265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REST /api · /ws · /ws-native</a:t>
            </a:r>
          </a:p>
        </p:txBody>
      </p:sp>
      <p:sp>
        <p:nvSpPr>
          <p:cNvPr id="15" name="Rounded Rectangle 14"/>
          <p:cNvSpPr/>
          <p:nvPr/>
        </p:nvSpPr>
        <p:spPr>
          <a:xfrm>
            <a:off x="2834640" y="2880360"/>
            <a:ext cx="6492240" cy="868680"/>
          </a:xfrm>
          <a:prstGeom prst="roundRect">
            <a:avLst>
              <a:gd name="adj" fmla="val 15000"/>
            </a:avLst>
          </a:prstGeom>
          <a:gradFill>
            <a:gsLst>
              <a:gs pos="0">
                <a:srgbClr val="5B63D6"/>
              </a:gs>
              <a:gs pos="100000">
                <a:srgbClr val="5158C4"/>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34640" y="2880360"/>
            <a:ext cx="6492240" cy="868680"/>
          </a:xfrm>
          <a:prstGeom prst="rect">
            <a:avLst/>
          </a:prstGeom>
          <a:noFill/>
        </p:spPr>
        <p:txBody>
          <a:bodyPr wrap="square" anchor="ctr" lIns="50800" rIns="50800" tIns="25400" bIns="25400">
            <a:spAutoFit/>
          </a:bodyPr>
          <a:lstStyle/>
          <a:p>
            <a:pPr algn="ctr">
              <a:lnSpc>
                <a:spcPct val="100000"/>
              </a:lnSpc>
            </a:pPr>
            <a:r>
              <a:rPr sz="1700" b="1" i="0">
                <a:solidFill>
                  <a:srgbClr val="FFFFFF"/>
                </a:solidFill>
                <a:latin typeface="Segoe UI Semibold"/>
              </a:rPr>
              <a:t>Spring Boot API  +  WebSocket Gateway</a:t>
            </a:r>
          </a:p>
        </p:txBody>
      </p:sp>
      <p:cxnSp>
        <p:nvCxnSpPr>
          <p:cNvPr id="17" name="Connector 16"/>
          <p:cNvCxnSpPr/>
          <p:nvPr/>
        </p:nvCxnSpPr>
        <p:spPr>
          <a:xfrm>
            <a:off x="2834640" y="2560320"/>
            <a:ext cx="1737360" cy="320040"/>
          </a:xfrm>
          <a:prstGeom prst="line">
            <a:avLst/>
          </a:prstGeom>
          <a:ln w="28575">
            <a:solidFill>
              <a:srgbClr val="2E93A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7589520" y="2560320"/>
            <a:ext cx="1737360" cy="320040"/>
          </a:xfrm>
          <a:prstGeom prst="line">
            <a:avLst/>
          </a:prstGeom>
          <a:ln w="28575">
            <a:solidFill>
              <a:srgbClr val="3A9BC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280160" y="4069080"/>
            <a:ext cx="2331720" cy="960120"/>
          </a:xfrm>
          <a:prstGeom prst="roundRect">
            <a:avLst>
              <a:gd name="adj" fmla="val 12000"/>
            </a:avLst>
          </a:prstGeom>
          <a:gradFill>
            <a:gsLst>
              <a:gs pos="0">
                <a:srgbClr val="5B63D6"/>
              </a:gs>
              <a:gs pos="100000">
                <a:srgbClr val="7A82E6"/>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71600" y="4178808"/>
            <a:ext cx="214884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Security</a:t>
            </a:r>
          </a:p>
        </p:txBody>
      </p:sp>
      <p:sp>
        <p:nvSpPr>
          <p:cNvPr id="21" name="TextBox 20"/>
          <p:cNvSpPr txBox="1"/>
          <p:nvPr/>
        </p:nvSpPr>
        <p:spPr>
          <a:xfrm>
            <a:off x="1353312" y="4462272"/>
            <a:ext cx="218541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JWT · Cognito</a:t>
            </a:r>
          </a:p>
          <a:p>
            <a:pPr algn="ctr">
              <a:lnSpc>
                <a:spcPct val="100000"/>
              </a:lnSpc>
            </a:pPr>
            <a:r>
              <a:rPr sz="950" b="0" i="0">
                <a:solidFill>
                  <a:srgbClr val="E6E6FA"/>
                </a:solidFill>
                <a:latin typeface="Segoe UI"/>
              </a:rPr>
              <a:t>stateless</a:t>
            </a:r>
          </a:p>
        </p:txBody>
      </p:sp>
      <p:cxnSp>
        <p:nvCxnSpPr>
          <p:cNvPr id="22" name="Connector 21"/>
          <p:cNvCxnSpPr/>
          <p:nvPr/>
        </p:nvCxnSpPr>
        <p:spPr>
          <a:xfrm>
            <a:off x="2446020" y="3749039"/>
            <a:ext cx="0" cy="320041"/>
          </a:xfrm>
          <a:prstGeom prst="line">
            <a:avLst/>
          </a:prstGeom>
          <a:ln w="22225">
            <a:solidFill>
              <a:srgbClr val="5158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776472" y="4069080"/>
            <a:ext cx="2331720" cy="960120"/>
          </a:xfrm>
          <a:prstGeom prst="roundRect">
            <a:avLst>
              <a:gd name="adj" fmla="val 12000"/>
            </a:avLst>
          </a:prstGeom>
          <a:gradFill>
            <a:gsLst>
              <a:gs pos="0">
                <a:srgbClr val="3E78D6"/>
              </a:gs>
              <a:gs pos="100000">
                <a:srgbClr val="3A9BC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67912" y="4178808"/>
            <a:ext cx="214884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Controller</a:t>
            </a:r>
          </a:p>
        </p:txBody>
      </p:sp>
      <p:sp>
        <p:nvSpPr>
          <p:cNvPr id="25" name="TextBox 24"/>
          <p:cNvSpPr txBox="1"/>
          <p:nvPr/>
        </p:nvSpPr>
        <p:spPr>
          <a:xfrm>
            <a:off x="3849624" y="4462272"/>
            <a:ext cx="218541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REST + STOMP</a:t>
            </a:r>
          </a:p>
          <a:p>
            <a:pPr algn="ctr">
              <a:lnSpc>
                <a:spcPct val="100000"/>
              </a:lnSpc>
            </a:pPr>
            <a:r>
              <a:rPr sz="950" b="0" i="0">
                <a:solidFill>
                  <a:srgbClr val="E6E6FA"/>
                </a:solidFill>
                <a:latin typeface="Segoe UI"/>
              </a:rPr>
              <a:t>mappings</a:t>
            </a:r>
          </a:p>
        </p:txBody>
      </p:sp>
      <p:cxnSp>
        <p:nvCxnSpPr>
          <p:cNvPr id="26" name="Connector 25"/>
          <p:cNvCxnSpPr/>
          <p:nvPr/>
        </p:nvCxnSpPr>
        <p:spPr>
          <a:xfrm>
            <a:off x="4942332" y="3749039"/>
            <a:ext cx="0" cy="320041"/>
          </a:xfrm>
          <a:prstGeom prst="line">
            <a:avLst/>
          </a:prstGeom>
          <a:ln w="22225">
            <a:solidFill>
              <a:srgbClr val="5158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272784" y="4069080"/>
            <a:ext cx="2331720" cy="960120"/>
          </a:xfrm>
          <a:prstGeom prst="roundRect">
            <a:avLst>
              <a:gd name="adj" fmla="val 12000"/>
            </a:avLst>
          </a:prstGeom>
          <a:gradFill>
            <a:gsLst>
              <a:gs pos="0">
                <a:srgbClr val="2F86A4"/>
              </a:gs>
              <a:gs pos="100000">
                <a:srgbClr val="3A9BC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4178808"/>
            <a:ext cx="214884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Service</a:t>
            </a:r>
          </a:p>
        </p:txBody>
      </p:sp>
      <p:sp>
        <p:nvSpPr>
          <p:cNvPr id="29" name="TextBox 28"/>
          <p:cNvSpPr txBox="1"/>
          <p:nvPr/>
        </p:nvSpPr>
        <p:spPr>
          <a:xfrm>
            <a:off x="6345936" y="4462272"/>
            <a:ext cx="218541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user/post/story</a:t>
            </a:r>
          </a:p>
          <a:p>
            <a:pPr algn="ctr">
              <a:lnSpc>
                <a:spcPct val="100000"/>
              </a:lnSpc>
            </a:pPr>
            <a:r>
              <a:rPr sz="950" b="0" i="0">
                <a:solidFill>
                  <a:srgbClr val="E6E6FA"/>
                </a:solidFill>
                <a:latin typeface="Segoe UI"/>
              </a:rPr>
              <a:t>page/chat/AI</a:t>
            </a:r>
          </a:p>
        </p:txBody>
      </p:sp>
      <p:cxnSp>
        <p:nvCxnSpPr>
          <p:cNvPr id="30" name="Connector 29"/>
          <p:cNvCxnSpPr/>
          <p:nvPr/>
        </p:nvCxnSpPr>
        <p:spPr>
          <a:xfrm>
            <a:off x="7438644" y="3749039"/>
            <a:ext cx="0" cy="320041"/>
          </a:xfrm>
          <a:prstGeom prst="line">
            <a:avLst/>
          </a:prstGeom>
          <a:ln w="22225">
            <a:solidFill>
              <a:srgbClr val="5158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769096" y="4069080"/>
            <a:ext cx="2331720" cy="960120"/>
          </a:xfrm>
          <a:prstGeom prst="roundRect">
            <a:avLst>
              <a:gd name="adj" fmla="val 12000"/>
            </a:avLst>
          </a:prstGeom>
          <a:gradFill>
            <a:gsLst>
              <a:gs pos="0">
                <a:srgbClr val="2A4A93"/>
              </a:gs>
              <a:gs pos="100000">
                <a:srgbClr val="8FBDE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0536" y="4178808"/>
            <a:ext cx="214884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Event</a:t>
            </a:r>
          </a:p>
        </p:txBody>
      </p:sp>
      <p:sp>
        <p:nvSpPr>
          <p:cNvPr id="33" name="TextBox 32"/>
          <p:cNvSpPr txBox="1"/>
          <p:nvPr/>
        </p:nvSpPr>
        <p:spPr>
          <a:xfrm>
            <a:off x="8842248" y="4462272"/>
            <a:ext cx="218541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events +</a:t>
            </a:r>
          </a:p>
          <a:p>
            <a:pPr algn="ctr">
              <a:lnSpc>
                <a:spcPct val="100000"/>
              </a:lnSpc>
            </a:pPr>
            <a:r>
              <a:rPr sz="950" b="0" i="0">
                <a:solidFill>
                  <a:srgbClr val="E6E6FA"/>
                </a:solidFill>
                <a:latin typeface="Segoe UI"/>
              </a:rPr>
              <a:t>Redis Pub/Sub</a:t>
            </a:r>
          </a:p>
        </p:txBody>
      </p:sp>
      <p:cxnSp>
        <p:nvCxnSpPr>
          <p:cNvPr id="34" name="Connector 33"/>
          <p:cNvCxnSpPr/>
          <p:nvPr/>
        </p:nvCxnSpPr>
        <p:spPr>
          <a:xfrm>
            <a:off x="9934956" y="3749039"/>
            <a:ext cx="0" cy="320041"/>
          </a:xfrm>
          <a:prstGeom prst="line">
            <a:avLst/>
          </a:prstGeom>
          <a:ln w="22225">
            <a:solidFill>
              <a:srgbClr val="5158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280160" y="5440680"/>
            <a:ext cx="3108960" cy="868680"/>
          </a:xfrm>
          <a:prstGeom prst="roundRect">
            <a:avLst>
              <a:gd name="adj" fmla="val 15000"/>
            </a:avLst>
          </a:prstGeom>
          <a:gradFill>
            <a:gsLst>
              <a:gs pos="0">
                <a:srgbClr val="2F62C9"/>
              </a:gs>
              <a:gs pos="100000">
                <a:srgbClr val="5470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80160" y="5440680"/>
            <a:ext cx="3108960" cy="868680"/>
          </a:xfrm>
          <a:prstGeom prst="rect">
            <a:avLst/>
          </a:prstGeom>
          <a:noFill/>
        </p:spPr>
        <p:txBody>
          <a:bodyPr wrap="square" anchor="ctr" lIns="50800" rIns="50800" tIns="25400" bIns="25400">
            <a:spAutoFit/>
          </a:bodyPr>
          <a:lstStyle/>
          <a:p>
            <a:pPr algn="ctr">
              <a:lnSpc>
                <a:spcPct val="100000"/>
              </a:lnSpc>
            </a:pPr>
            <a:r>
              <a:rPr sz="1400" b="1" i="0">
                <a:solidFill>
                  <a:srgbClr val="FFFFFF"/>
                </a:solidFill>
                <a:latin typeface="Segoe UI Semibold"/>
              </a:rPr>
              <a:t>🗄️ MariaDB  +  🍃 MongoDB</a:t>
            </a:r>
          </a:p>
        </p:txBody>
      </p:sp>
      <p:sp>
        <p:nvSpPr>
          <p:cNvPr id="37" name="Rounded Rectangle 36"/>
          <p:cNvSpPr/>
          <p:nvPr/>
        </p:nvSpPr>
        <p:spPr>
          <a:xfrm>
            <a:off x="4663440" y="5440680"/>
            <a:ext cx="3108960" cy="868680"/>
          </a:xfrm>
          <a:prstGeom prst="roundRect">
            <a:avLst>
              <a:gd name="adj" fmla="val 15000"/>
            </a:avLst>
          </a:prstGeom>
          <a:gradFill>
            <a:gsLst>
              <a:gs pos="0">
                <a:srgbClr val="2A4A93"/>
              </a:gs>
              <a:gs pos="100000">
                <a:srgbClr val="8FBDE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63440" y="5440680"/>
            <a:ext cx="3108960" cy="868680"/>
          </a:xfrm>
          <a:prstGeom prst="rect">
            <a:avLst/>
          </a:prstGeom>
          <a:noFill/>
        </p:spPr>
        <p:txBody>
          <a:bodyPr wrap="square" anchor="ctr" lIns="50800" rIns="50800" tIns="25400" bIns="25400">
            <a:spAutoFit/>
          </a:bodyPr>
          <a:lstStyle/>
          <a:p>
            <a:pPr algn="ctr">
              <a:lnSpc>
                <a:spcPct val="100000"/>
              </a:lnSpc>
            </a:pPr>
            <a:r>
              <a:rPr sz="1400" b="1" i="0">
                <a:solidFill>
                  <a:srgbClr val="FFFFFF"/>
                </a:solidFill>
                <a:latin typeface="Segoe UI Semibold"/>
              </a:rPr>
              <a:t>⚡ Redis Pub/Sub</a:t>
            </a:r>
          </a:p>
        </p:txBody>
      </p:sp>
      <p:sp>
        <p:nvSpPr>
          <p:cNvPr id="39" name="Rounded Rectangle 38"/>
          <p:cNvSpPr/>
          <p:nvPr/>
        </p:nvSpPr>
        <p:spPr>
          <a:xfrm>
            <a:off x="8046720" y="5440680"/>
            <a:ext cx="3108960" cy="868680"/>
          </a:xfrm>
          <a:prstGeom prst="roundRect">
            <a:avLst>
              <a:gd name="adj" fmla="val 15000"/>
            </a:avLst>
          </a:prstGeom>
          <a:gradFill>
            <a:gsLst>
              <a:gs pos="0">
                <a:srgbClr val="5158C4"/>
              </a:gs>
              <a:gs pos="100000">
                <a:srgbClr val="7A82E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0" y="5440680"/>
            <a:ext cx="3108960" cy="868680"/>
          </a:xfrm>
          <a:prstGeom prst="rect">
            <a:avLst/>
          </a:prstGeom>
          <a:noFill/>
        </p:spPr>
        <p:txBody>
          <a:bodyPr wrap="square" anchor="ctr" lIns="50800" rIns="50800" tIns="25400" bIns="25400">
            <a:spAutoFit/>
          </a:bodyPr>
          <a:lstStyle/>
          <a:p>
            <a:pPr algn="ctr">
              <a:lnSpc>
                <a:spcPct val="100000"/>
              </a:lnSpc>
            </a:pPr>
            <a:r>
              <a:rPr sz="1300" b="1" i="0">
                <a:solidFill>
                  <a:srgbClr val="FFFFFF"/>
                </a:solidFill>
                <a:latin typeface="Segoe UI Semibold"/>
              </a:rPr>
              <a:t>☁️ Cognito · S3 · R2 · AI</a:t>
            </a:r>
          </a:p>
        </p:txBody>
      </p:sp>
      <p:sp>
        <p:nvSpPr>
          <p:cNvPr id="41" name="TextBox 40"/>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2" name="Rounded Rectangle 41"/>
          <p:cNvSpPr/>
          <p:nvPr/>
        </p:nvSpPr>
        <p:spPr>
          <a:xfrm>
            <a:off x="11247120" y="6382512"/>
            <a:ext cx="502920" cy="310896"/>
          </a:xfrm>
          <a:prstGeom prst="roundRect">
            <a:avLst>
              <a:gd name="adj" fmla="val 50000"/>
            </a:avLst>
          </a:prstGeom>
          <a:gradFill>
            <a:gsLst>
              <a:gs pos="0">
                <a:srgbClr val="5158C4"/>
              </a:gs>
              <a:gs pos="100000">
                <a:srgbClr val="858AD5"/>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9921240" y="0"/>
            <a:ext cx="2103120" cy="2103120"/>
          </a:xfrm>
          <a:prstGeom prst="hexago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5B63D6"/>
              </a:gs>
              <a:gs pos="100000">
                <a:srgbClr val="A4A9E8"/>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5B63D6"/>
                </a:solidFill>
                <a:latin typeface="Segoe UI Semibold"/>
              </a:rPr>
              <a:t>LAYERED DESIGN</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Kiến trúc phân lớp Backend</a:t>
            </a:r>
          </a:p>
        </p:txBody>
      </p:sp>
      <p:sp>
        <p:nvSpPr>
          <p:cNvPr id="9" name="Rounded Rectangle 8"/>
          <p:cNvSpPr/>
          <p:nvPr/>
        </p:nvSpPr>
        <p:spPr>
          <a:xfrm>
            <a:off x="777240" y="1737360"/>
            <a:ext cx="10607040" cy="676656"/>
          </a:xfrm>
          <a:prstGeom prst="roundRect">
            <a:avLst>
              <a:gd name="adj" fmla="val 12000"/>
            </a:avLst>
          </a:prstGeom>
          <a:gradFill>
            <a:gsLst>
              <a:gs pos="0">
                <a:srgbClr val="5B63D6"/>
              </a:gs>
              <a:gs pos="100000">
                <a:srgbClr val="7A82E6"/>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37360"/>
            <a:ext cx="3108960" cy="676656"/>
          </a:xfrm>
          <a:prstGeom prst="rect">
            <a:avLst/>
          </a:prstGeom>
          <a:noFill/>
        </p:spPr>
        <p:txBody>
          <a:bodyPr wrap="square" anchor="ctr" lIns="50800" rIns="50800" tIns="25400" bIns="25400">
            <a:spAutoFit/>
          </a:bodyPr>
          <a:lstStyle/>
          <a:p>
            <a:pPr algn="l">
              <a:lnSpc>
                <a:spcPct val="100000"/>
              </a:lnSpc>
            </a:pPr>
            <a:r>
              <a:rPr sz="1500" b="1" i="0">
                <a:solidFill>
                  <a:srgbClr val="FFFFFF"/>
                </a:solidFill>
                <a:latin typeface="Segoe UI Semibold"/>
              </a:rPr>
              <a:t>Security Layer</a:t>
            </a:r>
          </a:p>
        </p:txBody>
      </p:sp>
      <p:sp>
        <p:nvSpPr>
          <p:cNvPr id="11" name="TextBox 10"/>
          <p:cNvSpPr txBox="1"/>
          <p:nvPr/>
        </p:nvSpPr>
        <p:spPr>
          <a:xfrm>
            <a:off x="4206240" y="1737360"/>
            <a:ext cx="6949440" cy="676656"/>
          </a:xfrm>
          <a:prstGeom prst="rect">
            <a:avLst/>
          </a:prstGeom>
          <a:noFill/>
        </p:spPr>
        <p:txBody>
          <a:bodyPr wrap="square" anchor="ctr" lIns="50800" rIns="50800" tIns="25400" bIns="25400">
            <a:spAutoFit/>
          </a:bodyPr>
          <a:lstStyle/>
          <a:p>
            <a:pPr algn="l">
              <a:lnSpc>
                <a:spcPct val="100000"/>
              </a:lnSpc>
            </a:pPr>
            <a:r>
              <a:rPr sz="1250" b="0" i="0">
                <a:solidFill>
                  <a:srgbClr val="FFFFFF"/>
                </a:solidFill>
                <a:latin typeface="Segoe UI"/>
              </a:rPr>
              <a:t>Xác thực JWT, auth Cognito, phiên stateless</a:t>
            </a:r>
          </a:p>
        </p:txBody>
      </p:sp>
      <p:cxnSp>
        <p:nvCxnSpPr>
          <p:cNvPr id="12" name="Connector 11"/>
          <p:cNvCxnSpPr/>
          <p:nvPr/>
        </p:nvCxnSpPr>
        <p:spPr>
          <a:xfrm>
            <a:off x="6080760" y="2414016"/>
            <a:ext cx="0" cy="100584"/>
          </a:xfrm>
          <a:prstGeom prst="line">
            <a:avLst/>
          </a:prstGeom>
          <a:ln w="19050">
            <a:solidFill>
              <a:srgbClr val="6E7F9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 y="2514600"/>
            <a:ext cx="10607040" cy="676656"/>
          </a:xfrm>
          <a:prstGeom prst="roundRect">
            <a:avLst>
              <a:gd name="adj" fmla="val 12000"/>
            </a:avLst>
          </a:prstGeom>
          <a:gradFill>
            <a:gsLst>
              <a:gs pos="0">
                <a:srgbClr val="3E78D6"/>
              </a:gs>
              <a:gs pos="100000">
                <a:srgbClr val="3A9BCE"/>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514600"/>
            <a:ext cx="3108960" cy="676656"/>
          </a:xfrm>
          <a:prstGeom prst="rect">
            <a:avLst/>
          </a:prstGeom>
          <a:noFill/>
        </p:spPr>
        <p:txBody>
          <a:bodyPr wrap="square" anchor="ctr" lIns="50800" rIns="50800" tIns="25400" bIns="25400">
            <a:spAutoFit/>
          </a:bodyPr>
          <a:lstStyle/>
          <a:p>
            <a:pPr algn="l">
              <a:lnSpc>
                <a:spcPct val="100000"/>
              </a:lnSpc>
            </a:pPr>
            <a:r>
              <a:rPr sz="1500" b="1" i="0">
                <a:solidFill>
                  <a:srgbClr val="FFFFFF"/>
                </a:solidFill>
                <a:latin typeface="Segoe UI Semibold"/>
              </a:rPr>
              <a:t>Controller Layer</a:t>
            </a:r>
          </a:p>
        </p:txBody>
      </p:sp>
      <p:sp>
        <p:nvSpPr>
          <p:cNvPr id="15" name="TextBox 14"/>
          <p:cNvSpPr txBox="1"/>
          <p:nvPr/>
        </p:nvSpPr>
        <p:spPr>
          <a:xfrm>
            <a:off x="4206240" y="2514600"/>
            <a:ext cx="6949440" cy="676656"/>
          </a:xfrm>
          <a:prstGeom prst="rect">
            <a:avLst/>
          </a:prstGeom>
          <a:noFill/>
        </p:spPr>
        <p:txBody>
          <a:bodyPr wrap="square" anchor="ctr" lIns="50800" rIns="50800" tIns="25400" bIns="25400">
            <a:spAutoFit/>
          </a:bodyPr>
          <a:lstStyle/>
          <a:p>
            <a:pPr algn="l">
              <a:lnSpc>
                <a:spcPct val="100000"/>
              </a:lnSpc>
            </a:pPr>
            <a:r>
              <a:rPr sz="1250" b="0" i="0">
                <a:solidFill>
                  <a:srgbClr val="FFFFFF"/>
                </a:solidFill>
                <a:latin typeface="Segoe UI"/>
              </a:rPr>
              <a:t>REST resources &amp; STOMP message mappings</a:t>
            </a:r>
          </a:p>
        </p:txBody>
      </p:sp>
      <p:cxnSp>
        <p:nvCxnSpPr>
          <p:cNvPr id="16" name="Connector 15"/>
          <p:cNvCxnSpPr/>
          <p:nvPr/>
        </p:nvCxnSpPr>
        <p:spPr>
          <a:xfrm>
            <a:off x="6080760" y="3191256"/>
            <a:ext cx="0" cy="100584"/>
          </a:xfrm>
          <a:prstGeom prst="line">
            <a:avLst/>
          </a:prstGeom>
          <a:ln w="19050">
            <a:solidFill>
              <a:srgbClr val="6E7F9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7240" y="3291840"/>
            <a:ext cx="10607040" cy="676656"/>
          </a:xfrm>
          <a:prstGeom prst="roundRect">
            <a:avLst>
              <a:gd name="adj" fmla="val 12000"/>
            </a:avLst>
          </a:prstGeom>
          <a:gradFill>
            <a:gsLst>
              <a:gs pos="0">
                <a:srgbClr val="2F86A4"/>
              </a:gs>
              <a:gs pos="100000">
                <a:srgbClr val="3A9BCE"/>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3291840"/>
            <a:ext cx="3108960" cy="676656"/>
          </a:xfrm>
          <a:prstGeom prst="rect">
            <a:avLst/>
          </a:prstGeom>
          <a:noFill/>
        </p:spPr>
        <p:txBody>
          <a:bodyPr wrap="square" anchor="ctr" lIns="50800" rIns="50800" tIns="25400" bIns="25400">
            <a:spAutoFit/>
          </a:bodyPr>
          <a:lstStyle/>
          <a:p>
            <a:pPr algn="l">
              <a:lnSpc>
                <a:spcPct val="100000"/>
              </a:lnSpc>
            </a:pPr>
            <a:r>
              <a:rPr sz="1500" b="1" i="0">
                <a:solidFill>
                  <a:srgbClr val="FFFFFF"/>
                </a:solidFill>
                <a:latin typeface="Segoe UI Semibold"/>
              </a:rPr>
              <a:t>Service Layer</a:t>
            </a:r>
          </a:p>
        </p:txBody>
      </p:sp>
      <p:sp>
        <p:nvSpPr>
          <p:cNvPr id="19" name="TextBox 18"/>
          <p:cNvSpPr txBox="1"/>
          <p:nvPr/>
        </p:nvSpPr>
        <p:spPr>
          <a:xfrm>
            <a:off x="4206240" y="3291840"/>
            <a:ext cx="6949440" cy="676656"/>
          </a:xfrm>
          <a:prstGeom prst="rect">
            <a:avLst/>
          </a:prstGeom>
          <a:noFill/>
        </p:spPr>
        <p:txBody>
          <a:bodyPr wrap="square" anchor="ctr" lIns="50800" rIns="50800" tIns="25400" bIns="25400">
            <a:spAutoFit/>
          </a:bodyPr>
          <a:lstStyle/>
          <a:p>
            <a:pPr algn="l">
              <a:lnSpc>
                <a:spcPct val="100000"/>
              </a:lnSpc>
            </a:pPr>
            <a:r>
              <a:rPr sz="1250" b="0" i="0">
                <a:solidFill>
                  <a:srgbClr val="FFFFFF"/>
                </a:solidFill>
                <a:latin typeface="Segoe UI"/>
              </a:rPr>
              <a:t>Nghiệp vụ theo domain: user, post, story, page, chat, AI, storage</a:t>
            </a:r>
          </a:p>
        </p:txBody>
      </p:sp>
      <p:cxnSp>
        <p:nvCxnSpPr>
          <p:cNvPr id="20" name="Connector 19"/>
          <p:cNvCxnSpPr/>
          <p:nvPr/>
        </p:nvCxnSpPr>
        <p:spPr>
          <a:xfrm>
            <a:off x="6080760" y="3968496"/>
            <a:ext cx="0" cy="100584"/>
          </a:xfrm>
          <a:prstGeom prst="line">
            <a:avLst/>
          </a:prstGeom>
          <a:ln w="19050">
            <a:solidFill>
              <a:srgbClr val="6E7F9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77240" y="4069080"/>
            <a:ext cx="10607040" cy="676656"/>
          </a:xfrm>
          <a:prstGeom prst="roundRect">
            <a:avLst>
              <a:gd name="adj" fmla="val 12000"/>
            </a:avLst>
          </a:prstGeom>
          <a:gradFill>
            <a:gsLst>
              <a:gs pos="0">
                <a:srgbClr val="2A4A93"/>
              </a:gs>
              <a:gs pos="100000">
                <a:srgbClr val="8FBDEE"/>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069080"/>
            <a:ext cx="3108960" cy="676656"/>
          </a:xfrm>
          <a:prstGeom prst="rect">
            <a:avLst/>
          </a:prstGeom>
          <a:noFill/>
        </p:spPr>
        <p:txBody>
          <a:bodyPr wrap="square" anchor="ctr" lIns="50800" rIns="50800" tIns="25400" bIns="25400">
            <a:spAutoFit/>
          </a:bodyPr>
          <a:lstStyle/>
          <a:p>
            <a:pPr algn="l">
              <a:lnSpc>
                <a:spcPct val="100000"/>
              </a:lnSpc>
            </a:pPr>
            <a:r>
              <a:rPr sz="1500" b="1" i="0">
                <a:solidFill>
                  <a:srgbClr val="FFFFFF"/>
                </a:solidFill>
                <a:latin typeface="Segoe UI Semibold"/>
              </a:rPr>
              <a:t>Event Layer</a:t>
            </a:r>
          </a:p>
        </p:txBody>
      </p:sp>
      <p:sp>
        <p:nvSpPr>
          <p:cNvPr id="23" name="TextBox 22"/>
          <p:cNvSpPr txBox="1"/>
          <p:nvPr/>
        </p:nvSpPr>
        <p:spPr>
          <a:xfrm>
            <a:off x="4206240" y="4069080"/>
            <a:ext cx="6949440" cy="676656"/>
          </a:xfrm>
          <a:prstGeom prst="rect">
            <a:avLst/>
          </a:prstGeom>
          <a:noFill/>
        </p:spPr>
        <p:txBody>
          <a:bodyPr wrap="square" anchor="ctr" lIns="50800" rIns="50800" tIns="25400" bIns="25400">
            <a:spAutoFit/>
          </a:bodyPr>
          <a:lstStyle/>
          <a:p>
            <a:pPr algn="l">
              <a:lnSpc>
                <a:spcPct val="100000"/>
              </a:lnSpc>
            </a:pPr>
            <a:r>
              <a:rPr sz="1250" b="0" i="0">
                <a:solidFill>
                  <a:srgbClr val="FFFFFF"/>
                </a:solidFill>
                <a:latin typeface="Segoe UI"/>
              </a:rPr>
              <a:t>Sự kiện conversation/message/member &amp; Redis pub/sub</a:t>
            </a:r>
          </a:p>
        </p:txBody>
      </p:sp>
      <p:cxnSp>
        <p:nvCxnSpPr>
          <p:cNvPr id="24" name="Connector 23"/>
          <p:cNvCxnSpPr/>
          <p:nvPr/>
        </p:nvCxnSpPr>
        <p:spPr>
          <a:xfrm>
            <a:off x="6080760" y="4745736"/>
            <a:ext cx="0" cy="100584"/>
          </a:xfrm>
          <a:prstGeom prst="line">
            <a:avLst/>
          </a:prstGeom>
          <a:ln w="19050">
            <a:solidFill>
              <a:srgbClr val="6E7F9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846320"/>
            <a:ext cx="10607040" cy="676656"/>
          </a:xfrm>
          <a:prstGeom prst="roundRect">
            <a:avLst>
              <a:gd name="adj" fmla="val 12000"/>
            </a:avLst>
          </a:prstGeom>
          <a:gradFill>
            <a:gsLst>
              <a:gs pos="0">
                <a:srgbClr val="2F62C9"/>
              </a:gs>
              <a:gs pos="100000">
                <a:srgbClr val="5470CE"/>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 y="4846320"/>
            <a:ext cx="3108960" cy="676656"/>
          </a:xfrm>
          <a:prstGeom prst="rect">
            <a:avLst/>
          </a:prstGeom>
          <a:noFill/>
        </p:spPr>
        <p:txBody>
          <a:bodyPr wrap="square" anchor="ctr" lIns="50800" rIns="50800" tIns="25400" bIns="25400">
            <a:spAutoFit/>
          </a:bodyPr>
          <a:lstStyle/>
          <a:p>
            <a:pPr algn="l">
              <a:lnSpc>
                <a:spcPct val="100000"/>
              </a:lnSpc>
            </a:pPr>
            <a:r>
              <a:rPr sz="1500" b="1" i="0">
                <a:solidFill>
                  <a:srgbClr val="FFFFFF"/>
                </a:solidFill>
                <a:latin typeface="Segoe UI Semibold"/>
              </a:rPr>
              <a:t>Persistence Layer</a:t>
            </a:r>
          </a:p>
        </p:txBody>
      </p:sp>
      <p:sp>
        <p:nvSpPr>
          <p:cNvPr id="27" name="TextBox 26"/>
          <p:cNvSpPr txBox="1"/>
          <p:nvPr/>
        </p:nvSpPr>
        <p:spPr>
          <a:xfrm>
            <a:off x="4206240" y="4846320"/>
            <a:ext cx="6949440" cy="676656"/>
          </a:xfrm>
          <a:prstGeom prst="rect">
            <a:avLst/>
          </a:prstGeom>
          <a:noFill/>
        </p:spPr>
        <p:txBody>
          <a:bodyPr wrap="square" anchor="ctr" lIns="50800" rIns="50800" tIns="25400" bIns="25400">
            <a:spAutoFit/>
          </a:bodyPr>
          <a:lstStyle/>
          <a:p>
            <a:pPr algn="l">
              <a:lnSpc>
                <a:spcPct val="100000"/>
              </a:lnSpc>
            </a:pPr>
            <a:r>
              <a:rPr sz="1250" b="0" i="0">
                <a:solidFill>
                  <a:srgbClr val="FFFFFF"/>
                </a:solidFill>
                <a:latin typeface="Segoe UI"/>
              </a:rPr>
              <a:t>MariaDB (quan hệ) + MongoDB (tài liệu nội dung MXH)</a:t>
            </a:r>
          </a:p>
        </p:txBody>
      </p:sp>
      <p:cxnSp>
        <p:nvCxnSpPr>
          <p:cNvPr id="28" name="Connector 27"/>
          <p:cNvCxnSpPr/>
          <p:nvPr/>
        </p:nvCxnSpPr>
        <p:spPr>
          <a:xfrm>
            <a:off x="6080760" y="5522976"/>
            <a:ext cx="0" cy="100584"/>
          </a:xfrm>
          <a:prstGeom prst="line">
            <a:avLst/>
          </a:prstGeom>
          <a:ln w="19050">
            <a:solidFill>
              <a:srgbClr val="6E7F9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77240" y="5623560"/>
            <a:ext cx="10607040" cy="676656"/>
          </a:xfrm>
          <a:prstGeom prst="roundRect">
            <a:avLst>
              <a:gd name="adj" fmla="val 12000"/>
            </a:avLst>
          </a:prstGeom>
          <a:gradFill>
            <a:gsLst>
              <a:gs pos="0">
                <a:srgbClr val="5158C4"/>
              </a:gs>
              <a:gs pos="100000">
                <a:srgbClr val="7A82E6"/>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5623560"/>
            <a:ext cx="3108960" cy="676656"/>
          </a:xfrm>
          <a:prstGeom prst="rect">
            <a:avLst/>
          </a:prstGeom>
          <a:noFill/>
        </p:spPr>
        <p:txBody>
          <a:bodyPr wrap="square" anchor="ctr" lIns="50800" rIns="50800" tIns="25400" bIns="25400">
            <a:spAutoFit/>
          </a:bodyPr>
          <a:lstStyle/>
          <a:p>
            <a:pPr algn="l">
              <a:lnSpc>
                <a:spcPct val="100000"/>
              </a:lnSpc>
            </a:pPr>
            <a:r>
              <a:rPr sz="1500" b="1" i="0">
                <a:solidFill>
                  <a:srgbClr val="FFFFFF"/>
                </a:solidFill>
                <a:latin typeface="Segoe UI Semibold"/>
              </a:rPr>
              <a:t>External Services</a:t>
            </a:r>
          </a:p>
        </p:txBody>
      </p:sp>
      <p:sp>
        <p:nvSpPr>
          <p:cNvPr id="31" name="TextBox 30"/>
          <p:cNvSpPr txBox="1"/>
          <p:nvPr/>
        </p:nvSpPr>
        <p:spPr>
          <a:xfrm>
            <a:off x="4206240" y="5623560"/>
            <a:ext cx="6949440" cy="676656"/>
          </a:xfrm>
          <a:prstGeom prst="rect">
            <a:avLst/>
          </a:prstGeom>
          <a:noFill/>
        </p:spPr>
        <p:txBody>
          <a:bodyPr wrap="square" anchor="ctr" lIns="50800" rIns="50800" tIns="25400" bIns="25400">
            <a:spAutoFit/>
          </a:bodyPr>
          <a:lstStyle/>
          <a:p>
            <a:pPr algn="l">
              <a:lnSpc>
                <a:spcPct val="100000"/>
              </a:lnSpc>
            </a:pPr>
            <a:r>
              <a:rPr sz="1250" b="0" i="0">
                <a:solidFill>
                  <a:srgbClr val="FFFFFF"/>
                </a:solidFill>
                <a:latin typeface="Segoe UI"/>
              </a:rPr>
              <a:t>AWS Cognito · AWS S3 · Cloudflare R2 · OpenRouter AI</a:t>
            </a:r>
          </a:p>
        </p:txBody>
      </p:sp>
      <p:sp>
        <p:nvSpPr>
          <p:cNvPr id="32" name="TextBox 31"/>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3" name="Rounded Rectangle 32"/>
          <p:cNvSpPr/>
          <p:nvPr/>
        </p:nvSpPr>
        <p:spPr>
          <a:xfrm>
            <a:off x="11247120" y="6382512"/>
            <a:ext cx="502920" cy="310896"/>
          </a:xfrm>
          <a:prstGeom prst="roundRect">
            <a:avLst>
              <a:gd name="adj" fmla="val 50000"/>
            </a:avLst>
          </a:prstGeom>
          <a:gradFill>
            <a:gsLst>
              <a:gs pos="0">
                <a:srgbClr val="5B63D6"/>
              </a:gs>
              <a:gs pos="100000">
                <a:srgbClr val="8C91E2"/>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an 4"/>
          <p:cNvSpPr/>
          <p:nvPr/>
        </p:nvSpPr>
        <p:spPr>
          <a:xfrm>
            <a:off x="10104120" y="-45720"/>
            <a:ext cx="1737360" cy="2194560"/>
          </a:xfrm>
          <a:prstGeom prst="ca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F62C9"/>
              </a:gs>
              <a:gs pos="100000">
                <a:srgbClr val="8CA8E1"/>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F62C9"/>
                </a:solidFill>
                <a:latin typeface="Segoe UI Semibold"/>
              </a:rPr>
              <a:t>1.2.2  HYBRID DATABASE</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Polyglot Persistence — 3 loại CSDL</a:t>
            </a:r>
          </a:p>
        </p:txBody>
      </p:sp>
      <p:sp>
        <p:nvSpPr>
          <p:cNvPr id="9" name="TextBox 8"/>
          <p:cNvSpPr txBox="1"/>
          <p:nvPr/>
        </p:nvSpPr>
        <p:spPr>
          <a:xfrm>
            <a:off x="777240" y="1572768"/>
            <a:ext cx="10607040" cy="457200"/>
          </a:xfrm>
          <a:prstGeom prst="rect">
            <a:avLst/>
          </a:prstGeom>
          <a:noFill/>
        </p:spPr>
        <p:txBody>
          <a:bodyPr wrap="square" anchor="t" lIns="50800" rIns="50800" tIns="25400" bIns="25400">
            <a:spAutoFit/>
          </a:bodyPr>
          <a:lstStyle/>
          <a:p>
            <a:pPr algn="l">
              <a:lnSpc>
                <a:spcPct val="100000"/>
              </a:lnSpc>
            </a:pPr>
            <a:r>
              <a:rPr sz="1300" b="0" i="0">
                <a:solidFill>
                  <a:srgbClr val="23426B"/>
                </a:solidFill>
                <a:latin typeface="Segoe UI"/>
              </a:rPr>
              <a:t>Kết hợp nhiều loại CSDL để khai thác tối đa ưu điểm riêng của từng công nghệ.</a:t>
            </a:r>
          </a:p>
        </p:txBody>
      </p:sp>
      <p:sp>
        <p:nvSpPr>
          <p:cNvPr id="10" name="Rounded Rectangle 9"/>
          <p:cNvSpPr/>
          <p:nvPr/>
        </p:nvSpPr>
        <p:spPr>
          <a:xfrm>
            <a:off x="777240" y="2148840"/>
            <a:ext cx="3520440" cy="41605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2148840"/>
            <a:ext cx="3520440" cy="868680"/>
          </a:xfrm>
          <a:prstGeom prst="roundRect">
            <a:avLst>
              <a:gd name="adj" fmla="val 8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212848"/>
            <a:ext cx="3520440" cy="457200"/>
          </a:xfrm>
          <a:prstGeom prst="rect">
            <a:avLst/>
          </a:prstGeom>
          <a:noFill/>
        </p:spPr>
        <p:txBody>
          <a:bodyPr wrap="square" anchor="t" lIns="50800" rIns="50800" tIns="25400" bIns="25400">
            <a:spAutoFit/>
          </a:bodyPr>
          <a:lstStyle/>
          <a:p>
            <a:pPr algn="ctr">
              <a:lnSpc>
                <a:spcPct val="100000"/>
              </a:lnSpc>
            </a:pPr>
            <a:r>
              <a:rPr sz="1800" b="1" i="0">
                <a:solidFill>
                  <a:srgbClr val="FFFFFF"/>
                </a:solidFill>
                <a:latin typeface="Segoe UI Semibold"/>
              </a:rPr>
              <a:t>🗄️  MariaDB</a:t>
            </a:r>
          </a:p>
        </p:txBody>
      </p:sp>
      <p:sp>
        <p:nvSpPr>
          <p:cNvPr id="13" name="TextBox 12"/>
          <p:cNvSpPr txBox="1"/>
          <p:nvPr/>
        </p:nvSpPr>
        <p:spPr>
          <a:xfrm>
            <a:off x="777240" y="2670048"/>
            <a:ext cx="3520440" cy="320040"/>
          </a:xfrm>
          <a:prstGeom prst="rect">
            <a:avLst/>
          </a:prstGeom>
          <a:noFill/>
        </p:spPr>
        <p:txBody>
          <a:bodyPr wrap="square" anchor="t" lIns="50800" rIns="50800" tIns="25400" bIns="25400">
            <a:spAutoFit/>
          </a:bodyPr>
          <a:lstStyle/>
          <a:p>
            <a:pPr algn="ctr">
              <a:lnSpc>
                <a:spcPct val="100000"/>
              </a:lnSpc>
            </a:pPr>
            <a:r>
              <a:rPr sz="1150" b="0" i="1">
                <a:solidFill>
                  <a:srgbClr val="ECECFB"/>
                </a:solidFill>
                <a:latin typeface="Segoe UI"/>
              </a:rPr>
              <a:t>Relational · ACID</a:t>
            </a:r>
          </a:p>
        </p:txBody>
      </p:sp>
      <p:sp>
        <p:nvSpPr>
          <p:cNvPr id="14" name="TextBox 13"/>
          <p:cNvSpPr txBox="1"/>
          <p:nvPr/>
        </p:nvSpPr>
        <p:spPr>
          <a:xfrm>
            <a:off x="1005840" y="3200400"/>
            <a:ext cx="3108960" cy="2194560"/>
          </a:xfrm>
          <a:prstGeom prst="rect">
            <a:avLst/>
          </a:prstGeom>
          <a:noFill/>
        </p:spPr>
        <p:txBody>
          <a:bodyPr wrap="square" lIns="25400" rIns="25400">
            <a:spAutoFit/>
          </a:bodyPr>
          <a:lstStyle/>
          <a:p>
            <a:pPr>
              <a:lnSpc>
                <a:spcPct val="105000"/>
              </a:lnSpc>
              <a:spcAft>
                <a:spcPts val="1000"/>
              </a:spcAft>
            </a:pPr>
            <a:r>
              <a:rPr sz="1200" b="1">
                <a:solidFill>
                  <a:srgbClr val="5470CE"/>
                </a:solidFill>
                <a:latin typeface="Segoe UI"/>
              </a:rPr>
              <a:t>▸  </a:t>
            </a:r>
            <a:r>
              <a:rPr sz="1200">
                <a:solidFill>
                  <a:srgbClr val="23426B"/>
                </a:solidFill>
                <a:latin typeface="Segoe UI"/>
              </a:rPr>
              <a:t>Người dùng &amp; định danh</a:t>
            </a:r>
          </a:p>
          <a:p>
            <a:pPr>
              <a:lnSpc>
                <a:spcPct val="105000"/>
              </a:lnSpc>
              <a:spcAft>
                <a:spcPts val="1000"/>
              </a:spcAft>
            </a:pPr>
            <a:r>
              <a:rPr sz="1200" b="1">
                <a:solidFill>
                  <a:srgbClr val="5470CE"/>
                </a:solidFill>
                <a:latin typeface="Segoe UI"/>
              </a:rPr>
              <a:t>▸  </a:t>
            </a:r>
            <a:r>
              <a:rPr sz="1200">
                <a:solidFill>
                  <a:srgbClr val="23426B"/>
                </a:solidFill>
                <a:latin typeface="Segoe UI"/>
              </a:rPr>
              <a:t>Bạn bè, hội thoại, thành viên nhóm</a:t>
            </a:r>
          </a:p>
          <a:p>
            <a:pPr>
              <a:lnSpc>
                <a:spcPct val="105000"/>
              </a:lnSpc>
              <a:spcAft>
                <a:spcPts val="1000"/>
              </a:spcAft>
            </a:pPr>
            <a:r>
              <a:rPr sz="1200" b="1">
                <a:solidFill>
                  <a:srgbClr val="5470CE"/>
                </a:solidFill>
                <a:latin typeface="Segoe UI"/>
              </a:rPr>
              <a:t>▸  </a:t>
            </a:r>
            <a:r>
              <a:rPr sz="1200">
                <a:solidFill>
                  <a:srgbClr val="23426B"/>
                </a:solidFill>
                <a:latin typeface="Segoe UI"/>
              </a:rPr>
              <a:t>Trang cộng đồng (Pages)</a:t>
            </a:r>
          </a:p>
          <a:p>
            <a:pPr>
              <a:lnSpc>
                <a:spcPct val="105000"/>
              </a:lnSpc>
              <a:spcAft>
                <a:spcPts val="1000"/>
              </a:spcAft>
            </a:pPr>
            <a:r>
              <a:rPr sz="1200" b="1">
                <a:solidFill>
                  <a:srgbClr val="5470CE"/>
                </a:solidFill>
                <a:latin typeface="Segoe UI"/>
              </a:rPr>
              <a:t>▸  </a:t>
            </a:r>
            <a:r>
              <a:rPr sz="1200">
                <a:solidFill>
                  <a:srgbClr val="23426B"/>
                </a:solidFill>
                <a:latin typeface="Segoe UI"/>
              </a:rPr>
              <a:t>Dữ liệu cần toàn vẹn giao dịch</a:t>
            </a:r>
          </a:p>
        </p:txBody>
      </p:sp>
      <p:sp>
        <p:nvSpPr>
          <p:cNvPr id="15" name="Rounded Rectangle 14"/>
          <p:cNvSpPr/>
          <p:nvPr/>
        </p:nvSpPr>
        <p:spPr>
          <a:xfrm>
            <a:off x="1005840" y="5715000"/>
            <a:ext cx="3063240" cy="457200"/>
          </a:xfrm>
          <a:prstGeom prst="roundRect">
            <a:avLst>
              <a:gd name="adj" fmla="val 4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5696712"/>
            <a:ext cx="3063240" cy="457200"/>
          </a:xfrm>
          <a:prstGeom prst="rect">
            <a:avLst/>
          </a:prstGeom>
          <a:noFill/>
        </p:spPr>
        <p:txBody>
          <a:bodyPr wrap="square" anchor="ctr" lIns="50800" rIns="50800" tIns="25400" bIns="25400">
            <a:spAutoFit/>
          </a:bodyPr>
          <a:lstStyle/>
          <a:p>
            <a:pPr algn="ctr">
              <a:lnSpc>
                <a:spcPct val="100000"/>
              </a:lnSpc>
            </a:pPr>
            <a:r>
              <a:rPr sz="1100" b="1" i="0">
                <a:solidFill>
                  <a:srgbClr val="5470CE"/>
                </a:solidFill>
                <a:latin typeface="Segoe UI Semibold"/>
              </a:rPr>
              <a:t>☁️ TiBi Cloud (DBaaS)</a:t>
            </a:r>
          </a:p>
        </p:txBody>
      </p:sp>
      <p:sp>
        <p:nvSpPr>
          <p:cNvPr id="17" name="Rounded Rectangle 16"/>
          <p:cNvSpPr/>
          <p:nvPr/>
        </p:nvSpPr>
        <p:spPr>
          <a:xfrm>
            <a:off x="4599432" y="2148840"/>
            <a:ext cx="3520440" cy="41605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599432" y="2148840"/>
            <a:ext cx="3520440" cy="868680"/>
          </a:xfrm>
          <a:prstGeom prst="roundRect">
            <a:avLst>
              <a:gd name="adj" fmla="val 8000"/>
            </a:avLst>
          </a:prstGeom>
          <a:gradFill>
            <a:gsLst>
              <a:gs pos="0">
                <a:srgbClr val="3A9BCE"/>
              </a:gs>
              <a:gs pos="100000">
                <a:srgbClr val="2F86A4"/>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99432" y="2212848"/>
            <a:ext cx="3520440" cy="457200"/>
          </a:xfrm>
          <a:prstGeom prst="rect">
            <a:avLst/>
          </a:prstGeom>
          <a:noFill/>
        </p:spPr>
        <p:txBody>
          <a:bodyPr wrap="square" anchor="t" lIns="50800" rIns="50800" tIns="25400" bIns="25400">
            <a:spAutoFit/>
          </a:bodyPr>
          <a:lstStyle/>
          <a:p>
            <a:pPr algn="ctr">
              <a:lnSpc>
                <a:spcPct val="100000"/>
              </a:lnSpc>
            </a:pPr>
            <a:r>
              <a:rPr sz="1800" b="1" i="0">
                <a:solidFill>
                  <a:srgbClr val="FFFFFF"/>
                </a:solidFill>
                <a:latin typeface="Segoe UI Semibold"/>
              </a:rPr>
              <a:t>🍃  MongoDB</a:t>
            </a:r>
          </a:p>
        </p:txBody>
      </p:sp>
      <p:sp>
        <p:nvSpPr>
          <p:cNvPr id="20" name="TextBox 19"/>
          <p:cNvSpPr txBox="1"/>
          <p:nvPr/>
        </p:nvSpPr>
        <p:spPr>
          <a:xfrm>
            <a:off x="4599432" y="2670048"/>
            <a:ext cx="3520440" cy="320040"/>
          </a:xfrm>
          <a:prstGeom prst="rect">
            <a:avLst/>
          </a:prstGeom>
          <a:noFill/>
        </p:spPr>
        <p:txBody>
          <a:bodyPr wrap="square" anchor="t" lIns="50800" rIns="50800" tIns="25400" bIns="25400">
            <a:spAutoFit/>
          </a:bodyPr>
          <a:lstStyle/>
          <a:p>
            <a:pPr algn="ctr">
              <a:lnSpc>
                <a:spcPct val="100000"/>
              </a:lnSpc>
            </a:pPr>
            <a:r>
              <a:rPr sz="1150" b="0" i="1">
                <a:solidFill>
                  <a:srgbClr val="ECECFB"/>
                </a:solidFill>
                <a:latin typeface="Segoe UI"/>
              </a:rPr>
              <a:t>Document · NoSQL</a:t>
            </a:r>
          </a:p>
        </p:txBody>
      </p:sp>
      <p:sp>
        <p:nvSpPr>
          <p:cNvPr id="21" name="TextBox 20"/>
          <p:cNvSpPr txBox="1"/>
          <p:nvPr/>
        </p:nvSpPr>
        <p:spPr>
          <a:xfrm>
            <a:off x="4828032" y="3200400"/>
            <a:ext cx="3108960" cy="2194560"/>
          </a:xfrm>
          <a:prstGeom prst="rect">
            <a:avLst/>
          </a:prstGeom>
          <a:noFill/>
        </p:spPr>
        <p:txBody>
          <a:bodyPr wrap="square" lIns="25400" rIns="25400">
            <a:spAutoFit/>
          </a:bodyPr>
          <a:lstStyle/>
          <a:p>
            <a:pPr>
              <a:lnSpc>
                <a:spcPct val="105000"/>
              </a:lnSpc>
              <a:spcAft>
                <a:spcPts val="1000"/>
              </a:spcAft>
            </a:pPr>
            <a:r>
              <a:rPr sz="1200" b="1">
                <a:solidFill>
                  <a:srgbClr val="2F86A4"/>
                </a:solidFill>
                <a:latin typeface="Segoe UI"/>
              </a:rPr>
              <a:t>▸  </a:t>
            </a:r>
            <a:r>
              <a:rPr sz="1200">
                <a:solidFill>
                  <a:srgbClr val="23426B"/>
                </a:solidFill>
                <a:latin typeface="Segoe UI"/>
              </a:rPr>
              <a:t>Bài viết (posts) &amp; media</a:t>
            </a:r>
          </a:p>
          <a:p>
            <a:pPr>
              <a:lnSpc>
                <a:spcPct val="105000"/>
              </a:lnSpc>
              <a:spcAft>
                <a:spcPts val="1000"/>
              </a:spcAft>
            </a:pPr>
            <a:r>
              <a:rPr sz="1200" b="1">
                <a:solidFill>
                  <a:srgbClr val="2F86A4"/>
                </a:solidFill>
                <a:latin typeface="Segoe UI"/>
              </a:rPr>
              <a:t>▸  </a:t>
            </a:r>
            <a:r>
              <a:rPr sz="1200">
                <a:solidFill>
                  <a:srgbClr val="23426B"/>
                </a:solidFill>
                <a:latin typeface="Segoe UI"/>
              </a:rPr>
              <a:t>Tin nhắn, bình luận, story</a:t>
            </a:r>
          </a:p>
          <a:p>
            <a:pPr>
              <a:lnSpc>
                <a:spcPct val="105000"/>
              </a:lnSpc>
              <a:spcAft>
                <a:spcPts val="1000"/>
              </a:spcAft>
            </a:pPr>
            <a:r>
              <a:rPr sz="1200" b="1">
                <a:solidFill>
                  <a:srgbClr val="2F86A4"/>
                </a:solidFill>
                <a:latin typeface="Segoe UI"/>
              </a:rPr>
              <a:t>▸  </a:t>
            </a:r>
            <a:r>
              <a:rPr sz="1200">
                <a:solidFill>
                  <a:srgbClr val="23426B"/>
                </a:solidFill>
                <a:latin typeface="Segoe UI"/>
              </a:rPr>
              <a:t>Thông báo (notifications)</a:t>
            </a:r>
          </a:p>
          <a:p>
            <a:pPr>
              <a:lnSpc>
                <a:spcPct val="105000"/>
              </a:lnSpc>
              <a:spcAft>
                <a:spcPts val="1000"/>
              </a:spcAft>
            </a:pPr>
            <a:r>
              <a:rPr sz="1200" b="1">
                <a:solidFill>
                  <a:srgbClr val="2F86A4"/>
                </a:solidFill>
                <a:latin typeface="Segoe UI"/>
              </a:rPr>
              <a:t>▸  </a:t>
            </a:r>
            <a:r>
              <a:rPr sz="1200">
                <a:solidFill>
                  <a:srgbClr val="23426B"/>
                </a:solidFill>
                <a:latin typeface="Segoe UI"/>
              </a:rPr>
              <a:t>Dữ liệu phi cấu trúc, khối lượng lớn</a:t>
            </a:r>
          </a:p>
        </p:txBody>
      </p:sp>
      <p:sp>
        <p:nvSpPr>
          <p:cNvPr id="22" name="Rounded Rectangle 21"/>
          <p:cNvSpPr/>
          <p:nvPr/>
        </p:nvSpPr>
        <p:spPr>
          <a:xfrm>
            <a:off x="4828032" y="5715000"/>
            <a:ext cx="3063240" cy="457200"/>
          </a:xfrm>
          <a:prstGeom prst="roundRect">
            <a:avLst>
              <a:gd name="adj" fmla="val 4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28032" y="5696712"/>
            <a:ext cx="3063240" cy="457200"/>
          </a:xfrm>
          <a:prstGeom prst="rect">
            <a:avLst/>
          </a:prstGeom>
          <a:noFill/>
        </p:spPr>
        <p:txBody>
          <a:bodyPr wrap="square" anchor="ctr" lIns="50800" rIns="50800" tIns="25400" bIns="25400">
            <a:spAutoFit/>
          </a:bodyPr>
          <a:lstStyle/>
          <a:p>
            <a:pPr algn="ctr">
              <a:lnSpc>
                <a:spcPct val="100000"/>
              </a:lnSpc>
            </a:pPr>
            <a:r>
              <a:rPr sz="1100" b="1" i="0">
                <a:solidFill>
                  <a:srgbClr val="2F86A4"/>
                </a:solidFill>
                <a:latin typeface="Segoe UI Semibold"/>
              </a:rPr>
              <a:t>☁️ MongoDB Atlas</a:t>
            </a:r>
          </a:p>
        </p:txBody>
      </p:sp>
      <p:sp>
        <p:nvSpPr>
          <p:cNvPr id="24" name="Rounded Rectangle 23"/>
          <p:cNvSpPr/>
          <p:nvPr/>
        </p:nvSpPr>
        <p:spPr>
          <a:xfrm>
            <a:off x="8421624" y="2148840"/>
            <a:ext cx="3520440" cy="41605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421624" y="2148840"/>
            <a:ext cx="3520440" cy="868680"/>
          </a:xfrm>
          <a:prstGeom prst="roundRect">
            <a:avLst>
              <a:gd name="adj" fmla="val 8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21624" y="2212848"/>
            <a:ext cx="3520440" cy="457200"/>
          </a:xfrm>
          <a:prstGeom prst="rect">
            <a:avLst/>
          </a:prstGeom>
          <a:noFill/>
        </p:spPr>
        <p:txBody>
          <a:bodyPr wrap="square" anchor="t" lIns="50800" rIns="50800" tIns="25400" bIns="25400">
            <a:spAutoFit/>
          </a:bodyPr>
          <a:lstStyle/>
          <a:p>
            <a:pPr algn="ctr">
              <a:lnSpc>
                <a:spcPct val="100000"/>
              </a:lnSpc>
            </a:pPr>
            <a:r>
              <a:rPr sz="1800" b="1" i="0">
                <a:solidFill>
                  <a:srgbClr val="FFFFFF"/>
                </a:solidFill>
                <a:latin typeface="Segoe UI Semibold"/>
              </a:rPr>
              <a:t>⚡  Redis</a:t>
            </a:r>
          </a:p>
        </p:txBody>
      </p:sp>
      <p:sp>
        <p:nvSpPr>
          <p:cNvPr id="27" name="TextBox 26"/>
          <p:cNvSpPr txBox="1"/>
          <p:nvPr/>
        </p:nvSpPr>
        <p:spPr>
          <a:xfrm>
            <a:off x="8421624" y="2670048"/>
            <a:ext cx="3520440" cy="320040"/>
          </a:xfrm>
          <a:prstGeom prst="rect">
            <a:avLst/>
          </a:prstGeom>
          <a:noFill/>
        </p:spPr>
        <p:txBody>
          <a:bodyPr wrap="square" anchor="t" lIns="50800" rIns="50800" tIns="25400" bIns="25400">
            <a:spAutoFit/>
          </a:bodyPr>
          <a:lstStyle/>
          <a:p>
            <a:pPr algn="ctr">
              <a:lnSpc>
                <a:spcPct val="100000"/>
              </a:lnSpc>
            </a:pPr>
            <a:r>
              <a:rPr sz="1150" b="0" i="1">
                <a:solidFill>
                  <a:srgbClr val="ECECFB"/>
                </a:solidFill>
                <a:latin typeface="Segoe UI"/>
              </a:rPr>
              <a:t>In-memory · Cache</a:t>
            </a:r>
          </a:p>
        </p:txBody>
      </p:sp>
      <p:sp>
        <p:nvSpPr>
          <p:cNvPr id="28" name="TextBox 27"/>
          <p:cNvSpPr txBox="1"/>
          <p:nvPr/>
        </p:nvSpPr>
        <p:spPr>
          <a:xfrm>
            <a:off x="8650224" y="3200400"/>
            <a:ext cx="3108960" cy="2194560"/>
          </a:xfrm>
          <a:prstGeom prst="rect">
            <a:avLst/>
          </a:prstGeom>
          <a:noFill/>
        </p:spPr>
        <p:txBody>
          <a:bodyPr wrap="square" lIns="25400" rIns="25400">
            <a:spAutoFit/>
          </a:bodyPr>
          <a:lstStyle/>
          <a:p>
            <a:pPr>
              <a:lnSpc>
                <a:spcPct val="105000"/>
              </a:lnSpc>
              <a:spcAft>
                <a:spcPts val="1000"/>
              </a:spcAft>
            </a:pPr>
            <a:r>
              <a:rPr sz="1200" b="1">
                <a:solidFill>
                  <a:srgbClr val="8FBDEE"/>
                </a:solidFill>
                <a:latin typeface="Segoe UI"/>
              </a:rPr>
              <a:t>▸  </a:t>
            </a:r>
            <a:r>
              <a:rPr sz="1200">
                <a:solidFill>
                  <a:srgbClr val="23426B"/>
                </a:solidFill>
                <a:latin typeface="Segoe UI"/>
              </a:rPr>
              <a:t>Cache đa tầng (multi-layer)</a:t>
            </a:r>
          </a:p>
          <a:p>
            <a:pPr>
              <a:lnSpc>
                <a:spcPct val="105000"/>
              </a:lnSpc>
              <a:spcAft>
                <a:spcPts val="1000"/>
              </a:spcAft>
            </a:pPr>
            <a:r>
              <a:rPr sz="1200" b="1">
                <a:solidFill>
                  <a:srgbClr val="8FBDEE"/>
                </a:solidFill>
                <a:latin typeface="Segoe UI"/>
              </a:rPr>
              <a:t>▸  </a:t>
            </a:r>
            <a:r>
              <a:rPr sz="1200">
                <a:solidFill>
                  <a:srgbClr val="23426B"/>
                </a:solidFill>
                <a:latin typeface="Segoe UI"/>
              </a:rPr>
              <a:t>Pub/Sub cho realtime</a:t>
            </a:r>
          </a:p>
          <a:p>
            <a:pPr>
              <a:lnSpc>
                <a:spcPct val="105000"/>
              </a:lnSpc>
              <a:spcAft>
                <a:spcPts val="1000"/>
              </a:spcAft>
            </a:pPr>
            <a:r>
              <a:rPr sz="1200" b="1">
                <a:solidFill>
                  <a:srgbClr val="8FBDEE"/>
                </a:solidFill>
                <a:latin typeface="Segoe UI"/>
              </a:rPr>
              <a:t>▸  </a:t>
            </a:r>
            <a:r>
              <a:rPr sz="1200">
                <a:solidFill>
                  <a:srgbClr val="23426B"/>
                </a:solidFill>
                <a:latin typeface="Segoe UI"/>
              </a:rPr>
              <a:t>Sliding Window / User Cache</a:t>
            </a:r>
          </a:p>
          <a:p>
            <a:pPr>
              <a:lnSpc>
                <a:spcPct val="105000"/>
              </a:lnSpc>
              <a:spcAft>
                <a:spcPts val="1000"/>
              </a:spcAft>
            </a:pPr>
            <a:r>
              <a:rPr sz="1200" b="1">
                <a:solidFill>
                  <a:srgbClr val="8FBDEE"/>
                </a:solidFill>
                <a:latin typeface="Segoe UI"/>
              </a:rPr>
              <a:t>▸  </a:t>
            </a:r>
            <a:r>
              <a:rPr sz="1200">
                <a:solidFill>
                  <a:srgbClr val="23426B"/>
                </a:solidFill>
                <a:latin typeface="Segoe UI"/>
              </a:rPr>
              <a:t>Giảm truy vấn trực tiếp tới DB</a:t>
            </a:r>
          </a:p>
        </p:txBody>
      </p:sp>
      <p:sp>
        <p:nvSpPr>
          <p:cNvPr id="29" name="Rounded Rectangle 28"/>
          <p:cNvSpPr/>
          <p:nvPr/>
        </p:nvSpPr>
        <p:spPr>
          <a:xfrm>
            <a:off x="8650224" y="5715000"/>
            <a:ext cx="3063240" cy="457200"/>
          </a:xfrm>
          <a:prstGeom prst="roundRect">
            <a:avLst>
              <a:gd name="adj" fmla="val 4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50224" y="5696712"/>
            <a:ext cx="3063240" cy="457200"/>
          </a:xfrm>
          <a:prstGeom prst="rect">
            <a:avLst/>
          </a:prstGeom>
          <a:noFill/>
        </p:spPr>
        <p:txBody>
          <a:bodyPr wrap="square" anchor="ctr" lIns="50800" rIns="50800" tIns="25400" bIns="25400">
            <a:spAutoFit/>
          </a:bodyPr>
          <a:lstStyle/>
          <a:p>
            <a:pPr algn="ctr">
              <a:lnSpc>
                <a:spcPct val="100000"/>
              </a:lnSpc>
            </a:pPr>
            <a:r>
              <a:rPr sz="1100" b="1" i="0">
                <a:solidFill>
                  <a:srgbClr val="8FBDEE"/>
                </a:solidFill>
                <a:latin typeface="Segoe UI Semibold"/>
              </a:rPr>
              <a:t>🔁 Pub/Sub + Cache</a:t>
            </a:r>
          </a:p>
        </p:txBody>
      </p:sp>
      <p:sp>
        <p:nvSpPr>
          <p:cNvPr id="31" name="TextBox 30"/>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2" name="Rounded Rectangle 31"/>
          <p:cNvSpPr/>
          <p:nvPr/>
        </p:nvSpPr>
        <p:spPr>
          <a:xfrm>
            <a:off x="11247120" y="6382512"/>
            <a:ext cx="502920" cy="310896"/>
          </a:xfrm>
          <a:prstGeom prst="roundRect">
            <a:avLst>
              <a:gd name="adj" fmla="val 50000"/>
            </a:avLst>
          </a:prstGeom>
          <a:gradFill>
            <a:gsLst>
              <a:gs pos="0">
                <a:srgbClr val="2F62C9"/>
              </a:gs>
              <a:gs pos="100000">
                <a:srgbClr val="6D91D9"/>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ightning Bolt 4"/>
          <p:cNvSpPr/>
          <p:nvPr/>
        </p:nvSpPr>
        <p:spPr>
          <a:xfrm>
            <a:off x="10195560" y="-91440"/>
            <a:ext cx="1554480" cy="2286000"/>
          </a:xfrm>
          <a:prstGeom prst="lightningBol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3A9BCE"/>
              </a:gs>
              <a:gs pos="100000">
                <a:srgbClr val="92C8E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3A9BCE"/>
                </a:solidFill>
                <a:latin typeface="Segoe UI Semibold"/>
              </a:rPr>
              <a:t>1.2.3  PERFORMANCE</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Chiến lược tối ưu hiệu năng</a:t>
            </a:r>
          </a:p>
        </p:txBody>
      </p:sp>
      <p:sp>
        <p:nvSpPr>
          <p:cNvPr id="9" name="Rounded Rectangle 8"/>
          <p:cNvSpPr/>
          <p:nvPr/>
        </p:nvSpPr>
        <p:spPr>
          <a:xfrm>
            <a:off x="777240"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3456432"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Sliding Window Cache</a:t>
            </a:r>
          </a:p>
        </p:txBody>
      </p:sp>
      <p:sp>
        <p:nvSpPr>
          <p:cNvPr id="14" name="TextBox 13"/>
          <p:cNvSpPr txBox="1"/>
          <p:nvPr/>
        </p:nvSpPr>
        <p:spPr>
          <a:xfrm>
            <a:off x="960120" y="308152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Cache cửa sổ trượt cho lịch sử tin nhắn — tăng tốc tải, giảm truy vấn trực tiếp tới DB.</a:t>
            </a:r>
          </a:p>
        </p:txBody>
      </p:sp>
      <p:sp>
        <p:nvSpPr>
          <p:cNvPr id="15" name="Rounded Rectangle 14"/>
          <p:cNvSpPr/>
          <p:nvPr/>
        </p:nvSpPr>
        <p:spPr>
          <a:xfrm>
            <a:off x="4489704"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489704" y="1783080"/>
            <a:ext cx="3456432"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90872"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0872"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4672584" y="271576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Time-Cut Pagination</a:t>
            </a:r>
          </a:p>
        </p:txBody>
      </p:sp>
      <p:sp>
        <p:nvSpPr>
          <p:cNvPr id="20" name="TextBox 19"/>
          <p:cNvSpPr txBox="1"/>
          <p:nvPr/>
        </p:nvSpPr>
        <p:spPr>
          <a:xfrm>
            <a:off x="4672584" y="308152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Phân trang theo mốc thời gian — xử lý tốt khi người dùng xóa lịch sử hội thoại, hạn chế truy vấn dư thừa.</a:t>
            </a:r>
          </a:p>
        </p:txBody>
      </p:sp>
      <p:sp>
        <p:nvSpPr>
          <p:cNvPr id="21" name="Rounded Rectangle 20"/>
          <p:cNvSpPr/>
          <p:nvPr/>
        </p:nvSpPr>
        <p:spPr>
          <a:xfrm>
            <a:off x="8202168"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02168" y="1783080"/>
            <a:ext cx="3456432"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03336" y="203911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03336"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8385048" y="271576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Compound Index</a:t>
            </a:r>
          </a:p>
        </p:txBody>
      </p:sp>
      <p:sp>
        <p:nvSpPr>
          <p:cNvPr id="26" name="TextBox 25"/>
          <p:cNvSpPr txBox="1"/>
          <p:nvPr/>
        </p:nvSpPr>
        <p:spPr>
          <a:xfrm>
            <a:off x="8385048" y="308152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Chỉ mục kết hợp trên MongoDB cho truy vấn newsfeed — tăng tốc tải các danh sách lớn.</a:t>
            </a:r>
          </a:p>
        </p:txBody>
      </p:sp>
      <p:sp>
        <p:nvSpPr>
          <p:cNvPr id="27" name="Rounded Rectangle 26"/>
          <p:cNvSpPr/>
          <p:nvPr/>
        </p:nvSpPr>
        <p:spPr>
          <a:xfrm>
            <a:off x="777240"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77240" y="3931920"/>
            <a:ext cx="3456432" cy="109728"/>
          </a:xfrm>
          <a:prstGeom prst="roundRect">
            <a:avLst>
              <a:gd name="adj" fmla="val 50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78408" y="4187952"/>
            <a:ext cx="603504" cy="603504"/>
          </a:xfrm>
          <a:prstGeom prst="roundRect">
            <a:avLst>
              <a:gd name="adj" fmla="val 30000"/>
            </a:avLst>
          </a:prstGeom>
          <a:gradFill>
            <a:gsLst>
              <a:gs pos="0">
                <a:srgbClr val="2F62C9"/>
              </a:gs>
              <a:gs pos="100000">
                <a:srgbClr val="5470CE"/>
              </a:gs>
            </a:gsLst>
            <a:lin ang="2700000" scaled="1"/>
          </a:gradFill>
          <a:ln>
            <a:noFill/>
          </a:ln>
          <a:effectLst>
            <a:outerShdw blurRad="54864" dist="36576" dir="5400000" rotWithShape="0">
              <a:srgbClr val="2F62C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8408"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960120" y="486460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Member &amp; User Cache</a:t>
            </a:r>
          </a:p>
        </p:txBody>
      </p:sp>
      <p:sp>
        <p:nvSpPr>
          <p:cNvPr id="32" name="TextBox 31"/>
          <p:cNvSpPr txBox="1"/>
          <p:nvPr/>
        </p:nvSpPr>
        <p:spPr>
          <a:xfrm>
            <a:off x="960120" y="523036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Cache thông tin thành viên và người dùng — giảm tải truy vấn lặp lại nhiều lần.</a:t>
            </a:r>
          </a:p>
        </p:txBody>
      </p:sp>
      <p:sp>
        <p:nvSpPr>
          <p:cNvPr id="33" name="Rounded Rectangle 32"/>
          <p:cNvSpPr/>
          <p:nvPr/>
        </p:nvSpPr>
        <p:spPr>
          <a:xfrm>
            <a:off x="4489704"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489704" y="3931920"/>
            <a:ext cx="3456432" cy="109728"/>
          </a:xfrm>
          <a:prstGeom prst="roundRect">
            <a:avLst>
              <a:gd name="adj" fmla="val 50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690872" y="4187952"/>
            <a:ext cx="603504" cy="603504"/>
          </a:xfrm>
          <a:prstGeom prst="roundRect">
            <a:avLst>
              <a:gd name="adj" fmla="val 30000"/>
            </a:avLst>
          </a:prstGeom>
          <a:gradFill>
            <a:gsLst>
              <a:gs pos="0">
                <a:srgbClr val="2A4A93"/>
              </a:gs>
              <a:gs pos="100000">
                <a:srgbClr val="8FBDEE"/>
              </a:gs>
            </a:gsLst>
            <a:lin ang="2700000" scaled="1"/>
          </a:gradFill>
          <a:ln>
            <a:noFill/>
          </a:ln>
          <a:effectLst>
            <a:outerShdw blurRad="54864" dist="36576" dir="5400000" rotWithShape="0">
              <a:srgbClr val="2A4A93">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90872"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7" name="TextBox 36"/>
          <p:cNvSpPr txBox="1"/>
          <p:nvPr/>
        </p:nvSpPr>
        <p:spPr>
          <a:xfrm>
            <a:off x="4672584" y="486460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Chống N+1 Query</a:t>
            </a:r>
          </a:p>
        </p:txBody>
      </p:sp>
      <p:sp>
        <p:nvSpPr>
          <p:cNvPr id="38" name="TextBox 37"/>
          <p:cNvSpPr txBox="1"/>
          <p:nvPr/>
        </p:nvSpPr>
        <p:spPr>
          <a:xfrm>
            <a:off x="4672584" y="523036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Tối ưu truy vấn, loại bỏ vấn đề N+1 — giảm số lần round-trip tới cơ sở dữ liệu.</a:t>
            </a:r>
          </a:p>
        </p:txBody>
      </p:sp>
      <p:sp>
        <p:nvSpPr>
          <p:cNvPr id="39" name="Rounded Rectangle 38"/>
          <p:cNvSpPr/>
          <p:nvPr/>
        </p:nvSpPr>
        <p:spPr>
          <a:xfrm>
            <a:off x="8202168"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202168" y="3931920"/>
            <a:ext cx="3456432" cy="109728"/>
          </a:xfrm>
          <a:prstGeom prst="roundRect">
            <a:avLst>
              <a:gd name="adj" fmla="val 50000"/>
            </a:avLst>
          </a:prstGeom>
          <a:gradFill>
            <a:gsLst>
              <a:gs pos="0">
                <a:srgbClr val="5158C4"/>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03336" y="4187952"/>
            <a:ext cx="603504" cy="603504"/>
          </a:xfrm>
          <a:prstGeom prst="roundRect">
            <a:avLst>
              <a:gd name="adj" fmla="val 30000"/>
            </a:avLst>
          </a:prstGeom>
          <a:gradFill>
            <a:gsLst>
              <a:gs pos="0">
                <a:srgbClr val="5158C4"/>
              </a:gs>
              <a:gs pos="100000">
                <a:srgbClr val="7A82E6"/>
              </a:gs>
            </a:gsLst>
            <a:lin ang="2700000" scaled="1"/>
          </a:gradFill>
          <a:ln>
            <a:noFill/>
          </a:ln>
          <a:effectLst>
            <a:outerShdw blurRad="54864" dist="36576" dir="5400000" rotWithShape="0">
              <a:srgbClr val="5158C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03336"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43" name="TextBox 42"/>
          <p:cNvSpPr txBox="1"/>
          <p:nvPr/>
        </p:nvSpPr>
        <p:spPr>
          <a:xfrm>
            <a:off x="8385048" y="486460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Horizontal Scaling</a:t>
            </a:r>
          </a:p>
        </p:txBody>
      </p:sp>
      <p:sp>
        <p:nvSpPr>
          <p:cNvPr id="44" name="TextBox 43"/>
          <p:cNvSpPr txBox="1"/>
          <p:nvPr/>
        </p:nvSpPr>
        <p:spPr>
          <a:xfrm>
            <a:off x="8385048" y="523036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Kiến trúc hỗ trợ mở rộng theo chiều ngang — sẵn sàng phục vụ nhiều người dùng đồng thời.</a:t>
            </a:r>
          </a:p>
        </p:txBody>
      </p:sp>
      <p:sp>
        <p:nvSpPr>
          <p:cNvPr id="45" name="Rounded Rectangle 44"/>
          <p:cNvSpPr/>
          <p:nvPr/>
        </p:nvSpPr>
        <p:spPr>
          <a:xfrm>
            <a:off x="777240" y="5943600"/>
            <a:ext cx="10607040" cy="457200"/>
          </a:xfrm>
          <a:prstGeom prst="roundRect">
            <a:avLst>
              <a:gd name="adj" fmla="val 40000"/>
            </a:avLst>
          </a:prstGeom>
          <a:gradFill>
            <a:gsLst>
              <a:gs pos="0">
                <a:srgbClr val="5B63D6"/>
              </a:gs>
              <a:gs pos="100000">
                <a:srgbClr val="2A4A93"/>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925312"/>
            <a:ext cx="10607040" cy="457200"/>
          </a:xfrm>
          <a:prstGeom prst="rect">
            <a:avLst/>
          </a:prstGeom>
          <a:noFill/>
        </p:spPr>
        <p:txBody>
          <a:bodyPr wrap="square" anchor="ctr" lIns="50800" rIns="50800" tIns="25400" bIns="25400">
            <a:spAutoFit/>
          </a:bodyPr>
          <a:lstStyle/>
          <a:p>
            <a:pPr algn="ctr">
              <a:lnSpc>
                <a:spcPct val="100000"/>
              </a:lnSpc>
            </a:pPr>
            <a:r>
              <a:rPr sz="1250" b="1" i="0">
                <a:solidFill>
                  <a:srgbClr val="FFFFFF"/>
                </a:solidFill>
                <a:latin typeface="Segoe UI Semibold"/>
              </a:rPr>
              <a:t>★  Điểm nhấn: Sliding Window Cache + Time-Cut Pagination cho module nhắn tin thời gian thực</a:t>
            </a:r>
          </a:p>
        </p:txBody>
      </p:sp>
      <p:sp>
        <p:nvSpPr>
          <p:cNvPr id="47" name="TextBox 46"/>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8" name="Rounded Rectangle 47"/>
          <p:cNvSpPr/>
          <p:nvPr/>
        </p:nvSpPr>
        <p:spPr>
          <a:xfrm>
            <a:off x="11247120" y="6382512"/>
            <a:ext cx="502920" cy="310896"/>
          </a:xfrm>
          <a:prstGeom prst="roundRect">
            <a:avLst>
              <a:gd name="adj" fmla="val 50000"/>
            </a:avLst>
          </a:prstGeom>
          <a:gradFill>
            <a:gsLst>
              <a:gs pos="0">
                <a:srgbClr val="3A9BCE"/>
              </a:gs>
              <a:gs pos="100000">
                <a:srgbClr val="75B9DC"/>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ube 4"/>
          <p:cNvSpPr/>
          <p:nvPr/>
        </p:nvSpPr>
        <p:spPr>
          <a:xfrm>
            <a:off x="9921240" y="0"/>
            <a:ext cx="2103120" cy="2103120"/>
          </a:xfrm>
          <a:prstGeom prst="cube">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F86A4"/>
              </a:gs>
              <a:gs pos="100000">
                <a:srgbClr val="8CBCCC"/>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F86A4"/>
                </a:solidFill>
                <a:latin typeface="Segoe UI Semibold"/>
              </a:rPr>
              <a:t>PROJECT STRUCTURE</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Cấu trúc Monorepo</a:t>
            </a:r>
          </a:p>
        </p:txBody>
      </p:sp>
      <p:sp>
        <p:nvSpPr>
          <p:cNvPr id="9" name="Rounded Rectangle 8"/>
          <p:cNvSpPr/>
          <p:nvPr/>
        </p:nvSpPr>
        <p:spPr>
          <a:xfrm>
            <a:off x="777240" y="1783080"/>
            <a:ext cx="3520440" cy="411480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3520440" cy="713232"/>
          </a:xfrm>
          <a:prstGeom prst="roundRect">
            <a:avLst>
              <a:gd name="adj" fmla="val 1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28800"/>
            <a:ext cx="3246120" cy="384048"/>
          </a:xfrm>
          <a:prstGeom prst="rect">
            <a:avLst/>
          </a:prstGeom>
          <a:noFill/>
        </p:spPr>
        <p:txBody>
          <a:bodyPr wrap="square" anchor="t" lIns="50800" rIns="50800" tIns="25400" bIns="25400">
            <a:spAutoFit/>
          </a:bodyPr>
          <a:lstStyle/>
          <a:p>
            <a:pPr algn="ctr">
              <a:lnSpc>
                <a:spcPct val="100000"/>
              </a:lnSpc>
            </a:pPr>
            <a:r>
              <a:rPr sz="1550" b="1" i="0">
                <a:solidFill>
                  <a:srgbClr val="FFFFFF"/>
                </a:solidFill>
                <a:latin typeface="Segoe UI Semibold"/>
              </a:rPr>
              <a:t>📦 backend/</a:t>
            </a:r>
          </a:p>
        </p:txBody>
      </p:sp>
      <p:sp>
        <p:nvSpPr>
          <p:cNvPr id="12" name="TextBox 11"/>
          <p:cNvSpPr txBox="1"/>
          <p:nvPr/>
        </p:nvSpPr>
        <p:spPr>
          <a:xfrm>
            <a:off x="914400" y="2194560"/>
            <a:ext cx="3246120" cy="274320"/>
          </a:xfrm>
          <a:prstGeom prst="rect">
            <a:avLst/>
          </a:prstGeom>
          <a:noFill/>
        </p:spPr>
        <p:txBody>
          <a:bodyPr wrap="square" anchor="t" lIns="50800" rIns="50800" tIns="25400" bIns="25400">
            <a:spAutoFit/>
          </a:bodyPr>
          <a:lstStyle/>
          <a:p>
            <a:pPr algn="ctr">
              <a:lnSpc>
                <a:spcPct val="100000"/>
              </a:lnSpc>
            </a:pPr>
            <a:r>
              <a:rPr sz="1100" b="0" i="1">
                <a:solidFill>
                  <a:srgbClr val="E6E6FA"/>
                </a:solidFill>
                <a:latin typeface="Segoe UI"/>
              </a:rPr>
              <a:t>Spring Boot API</a:t>
            </a:r>
          </a:p>
        </p:txBody>
      </p:sp>
      <p:sp>
        <p:nvSpPr>
          <p:cNvPr id="13" name="TextBox 12"/>
          <p:cNvSpPr txBox="1"/>
          <p:nvPr/>
        </p:nvSpPr>
        <p:spPr>
          <a:xfrm>
            <a:off x="978408" y="2697480"/>
            <a:ext cx="3154680" cy="3108960"/>
          </a:xfrm>
          <a:prstGeom prst="rect">
            <a:avLst/>
          </a:prstGeom>
          <a:noFill/>
        </p:spPr>
        <p:txBody>
          <a:bodyPr wrap="square" lIns="25400" rIns="25400">
            <a:spAutoFit/>
          </a:bodyPr>
          <a:lstStyle/>
          <a:p>
            <a:pPr>
              <a:lnSpc>
                <a:spcPct val="105000"/>
              </a:lnSpc>
              <a:spcAft>
                <a:spcPts val="800"/>
              </a:spcAft>
            </a:pPr>
            <a:r>
              <a:rPr sz="1100" b="1">
                <a:solidFill>
                  <a:srgbClr val="7A82E6"/>
                </a:solidFill>
                <a:latin typeface="Segoe UI"/>
              </a:rPr>
              <a:t>▸  </a:t>
            </a:r>
            <a:r>
              <a:rPr sz="1100">
                <a:solidFill>
                  <a:srgbClr val="23426B"/>
                </a:solidFill>
                <a:latin typeface="Segoe UI"/>
              </a:rPr>
              <a:t>config/ — Security, CORS, Redis, Mongo, S3, WebSocket, AI</a:t>
            </a:r>
          </a:p>
          <a:p>
            <a:pPr>
              <a:lnSpc>
                <a:spcPct val="105000"/>
              </a:lnSpc>
              <a:spcAft>
                <a:spcPts val="800"/>
              </a:spcAft>
            </a:pPr>
            <a:r>
              <a:rPr sz="1100" b="1">
                <a:solidFill>
                  <a:srgbClr val="7A82E6"/>
                </a:solidFill>
                <a:latin typeface="Segoe UI"/>
              </a:rPr>
              <a:t>▸  </a:t>
            </a:r>
            <a:r>
              <a:rPr sz="1100">
                <a:solidFill>
                  <a:srgbClr val="23426B"/>
                </a:solidFill>
                <a:latin typeface="Segoe UI"/>
              </a:rPr>
              <a:t>controller/ — REST &amp; WebSocket + controller/ai/</a:t>
            </a:r>
          </a:p>
          <a:p>
            <a:pPr>
              <a:lnSpc>
                <a:spcPct val="105000"/>
              </a:lnSpc>
              <a:spcAft>
                <a:spcPts val="800"/>
              </a:spcAft>
            </a:pPr>
            <a:r>
              <a:rPr sz="1100" b="1">
                <a:solidFill>
                  <a:srgbClr val="7A82E6"/>
                </a:solidFill>
                <a:latin typeface="Segoe UI"/>
              </a:rPr>
              <a:t>▸  </a:t>
            </a:r>
            <a:r>
              <a:rPr sz="1100">
                <a:solidFill>
                  <a:srgbClr val="23426B"/>
                </a:solidFill>
                <a:latin typeface="Segoe UI"/>
              </a:rPr>
              <a:t>domain/entity/ — model MySQL &amp; MongoDB</a:t>
            </a:r>
          </a:p>
          <a:p>
            <a:pPr>
              <a:lnSpc>
                <a:spcPct val="105000"/>
              </a:lnSpc>
              <a:spcAft>
                <a:spcPts val="800"/>
              </a:spcAft>
            </a:pPr>
            <a:r>
              <a:rPr sz="1100" b="1">
                <a:solidFill>
                  <a:srgbClr val="7A82E6"/>
                </a:solidFill>
                <a:latin typeface="Segoe UI"/>
              </a:rPr>
              <a:t>▸  </a:t>
            </a:r>
            <a:r>
              <a:rPr sz="1100">
                <a:solidFill>
                  <a:srgbClr val="23426B"/>
                </a:solidFill>
                <a:latin typeface="Segoe UI"/>
              </a:rPr>
              <a:t>service/ · event/ · integration/ai/ · repository/</a:t>
            </a:r>
          </a:p>
          <a:p>
            <a:pPr>
              <a:lnSpc>
                <a:spcPct val="105000"/>
              </a:lnSpc>
              <a:spcAft>
                <a:spcPts val="800"/>
              </a:spcAft>
            </a:pPr>
            <a:r>
              <a:rPr sz="1100" b="1">
                <a:solidFill>
                  <a:srgbClr val="7A82E6"/>
                </a:solidFill>
                <a:latin typeface="Segoe UI"/>
              </a:rPr>
              <a:t>▸  </a:t>
            </a:r>
            <a:r>
              <a:rPr sz="1100">
                <a:solidFill>
                  <a:srgbClr val="23426B"/>
                </a:solidFill>
                <a:latin typeface="Segoe UI"/>
              </a:rPr>
              <a:t>docker/ — docker-compose Redis</a:t>
            </a:r>
          </a:p>
        </p:txBody>
      </p:sp>
      <p:sp>
        <p:nvSpPr>
          <p:cNvPr id="14" name="Rounded Rectangle 13"/>
          <p:cNvSpPr/>
          <p:nvPr/>
        </p:nvSpPr>
        <p:spPr>
          <a:xfrm>
            <a:off x="4599432" y="1783080"/>
            <a:ext cx="3520440" cy="411480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599432" y="1783080"/>
            <a:ext cx="3520440" cy="713232"/>
          </a:xfrm>
          <a:prstGeom prst="roundRect">
            <a:avLst>
              <a:gd name="adj" fmla="val 1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36592" y="1828800"/>
            <a:ext cx="3246120" cy="384048"/>
          </a:xfrm>
          <a:prstGeom prst="rect">
            <a:avLst/>
          </a:prstGeom>
          <a:noFill/>
        </p:spPr>
        <p:txBody>
          <a:bodyPr wrap="square" anchor="t" lIns="50800" rIns="50800" tIns="25400" bIns="25400">
            <a:spAutoFit/>
          </a:bodyPr>
          <a:lstStyle/>
          <a:p>
            <a:pPr algn="ctr">
              <a:lnSpc>
                <a:spcPct val="100000"/>
              </a:lnSpc>
            </a:pPr>
            <a:r>
              <a:rPr sz="1550" b="1" i="0">
                <a:solidFill>
                  <a:srgbClr val="FFFFFF"/>
                </a:solidFill>
                <a:latin typeface="Segoe UI Semibold"/>
              </a:rPr>
              <a:t>🌐 frontend-web/</a:t>
            </a:r>
          </a:p>
        </p:txBody>
      </p:sp>
      <p:sp>
        <p:nvSpPr>
          <p:cNvPr id="17" name="TextBox 16"/>
          <p:cNvSpPr txBox="1"/>
          <p:nvPr/>
        </p:nvSpPr>
        <p:spPr>
          <a:xfrm>
            <a:off x="4736592" y="2194560"/>
            <a:ext cx="3246120" cy="274320"/>
          </a:xfrm>
          <a:prstGeom prst="rect">
            <a:avLst/>
          </a:prstGeom>
          <a:noFill/>
        </p:spPr>
        <p:txBody>
          <a:bodyPr wrap="square" anchor="t" lIns="50800" rIns="50800" tIns="25400" bIns="25400">
            <a:spAutoFit/>
          </a:bodyPr>
          <a:lstStyle/>
          <a:p>
            <a:pPr algn="ctr">
              <a:lnSpc>
                <a:spcPct val="100000"/>
              </a:lnSpc>
            </a:pPr>
            <a:r>
              <a:rPr sz="1100" b="0" i="1">
                <a:solidFill>
                  <a:srgbClr val="E6E6FA"/>
                </a:solidFill>
                <a:latin typeface="Segoe UI"/>
              </a:rPr>
              <a:t>React + Vite</a:t>
            </a:r>
          </a:p>
        </p:txBody>
      </p:sp>
      <p:sp>
        <p:nvSpPr>
          <p:cNvPr id="18" name="TextBox 17"/>
          <p:cNvSpPr txBox="1"/>
          <p:nvPr/>
        </p:nvSpPr>
        <p:spPr>
          <a:xfrm>
            <a:off x="4800600" y="2697480"/>
            <a:ext cx="3154680" cy="3108960"/>
          </a:xfrm>
          <a:prstGeom prst="rect">
            <a:avLst/>
          </a:prstGeom>
          <a:noFill/>
        </p:spPr>
        <p:txBody>
          <a:bodyPr wrap="square" lIns="25400" rIns="25400">
            <a:spAutoFit/>
          </a:bodyPr>
          <a:lstStyle/>
          <a:p>
            <a:pPr>
              <a:lnSpc>
                <a:spcPct val="105000"/>
              </a:lnSpc>
              <a:spcAft>
                <a:spcPts val="800"/>
              </a:spcAft>
            </a:pPr>
            <a:r>
              <a:rPr sz="1100" b="1">
                <a:solidFill>
                  <a:srgbClr val="2E93AE"/>
                </a:solidFill>
                <a:latin typeface="Segoe UI"/>
              </a:rPr>
              <a:t>▸  </a:t>
            </a:r>
            <a:r>
              <a:rPr sz="1100">
                <a:solidFill>
                  <a:srgbClr val="23426B"/>
                </a:solidFill>
                <a:latin typeface="Segoe UI"/>
              </a:rPr>
              <a:t>api/ · components/ · contexts/</a:t>
            </a:r>
          </a:p>
          <a:p>
            <a:pPr>
              <a:lnSpc>
                <a:spcPct val="105000"/>
              </a:lnSpc>
              <a:spcAft>
                <a:spcPts val="800"/>
              </a:spcAft>
            </a:pPr>
            <a:r>
              <a:rPr sz="1100" b="1">
                <a:solidFill>
                  <a:srgbClr val="2E93AE"/>
                </a:solidFill>
                <a:latin typeface="Segoe UI"/>
              </a:rPr>
              <a:t>▸  </a:t>
            </a:r>
            <a:r>
              <a:rPr sz="1100">
                <a:solidFill>
                  <a:srgbClr val="23426B"/>
                </a:solidFill>
                <a:latin typeface="Segoe UI"/>
              </a:rPr>
              <a:t>features/chat-ai/ — UI &amp; hooks AI</a:t>
            </a:r>
          </a:p>
          <a:p>
            <a:pPr>
              <a:lnSpc>
                <a:spcPct val="105000"/>
              </a:lnSpc>
              <a:spcAft>
                <a:spcPts val="800"/>
              </a:spcAft>
            </a:pPr>
            <a:r>
              <a:rPr sz="1100" b="1">
                <a:solidFill>
                  <a:srgbClr val="2E93AE"/>
                </a:solidFill>
                <a:latin typeface="Segoe UI"/>
              </a:rPr>
              <a:t>▸  </a:t>
            </a:r>
            <a:r>
              <a:rPr sz="1100">
                <a:solidFill>
                  <a:srgbClr val="23426B"/>
                </a:solidFill>
                <a:latin typeface="Segoe UI"/>
              </a:rPr>
              <a:t>hooks/ · pages/ · services/ (WebSocket singleton)</a:t>
            </a:r>
          </a:p>
          <a:p>
            <a:pPr>
              <a:lnSpc>
                <a:spcPct val="105000"/>
              </a:lnSpc>
              <a:spcAft>
                <a:spcPts val="800"/>
              </a:spcAft>
            </a:pPr>
            <a:r>
              <a:rPr sz="1100" b="1">
                <a:solidFill>
                  <a:srgbClr val="2E93AE"/>
                </a:solidFill>
                <a:latin typeface="Segoe UI"/>
              </a:rPr>
              <a:t>▸  </a:t>
            </a:r>
            <a:r>
              <a:rPr sz="1100">
                <a:solidFill>
                  <a:srgbClr val="23426B"/>
                </a:solidFill>
                <a:latin typeface="Segoe UI"/>
              </a:rPr>
              <a:t>stores/ · types/ · utils/</a:t>
            </a:r>
          </a:p>
          <a:p>
            <a:pPr>
              <a:lnSpc>
                <a:spcPct val="105000"/>
              </a:lnSpc>
              <a:spcAft>
                <a:spcPts val="800"/>
              </a:spcAft>
            </a:pPr>
            <a:r>
              <a:rPr sz="1100" b="1">
                <a:solidFill>
                  <a:srgbClr val="2E93AE"/>
                </a:solidFill>
                <a:latin typeface="Segoe UI"/>
              </a:rPr>
              <a:t>▸  </a:t>
            </a:r>
            <a:r>
              <a:rPr sz="1100">
                <a:solidFill>
                  <a:srgbClr val="23426B"/>
                </a:solidFill>
                <a:latin typeface="Segoe UI"/>
              </a:rPr>
              <a:t>vite.config.ts — proxy /api &amp; /ws</a:t>
            </a:r>
          </a:p>
        </p:txBody>
      </p:sp>
      <p:sp>
        <p:nvSpPr>
          <p:cNvPr id="19" name="Rounded Rectangle 18"/>
          <p:cNvSpPr/>
          <p:nvPr/>
        </p:nvSpPr>
        <p:spPr>
          <a:xfrm>
            <a:off x="8421624" y="1783080"/>
            <a:ext cx="3520440" cy="411480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421624" y="1783080"/>
            <a:ext cx="3520440" cy="713232"/>
          </a:xfrm>
          <a:prstGeom prst="roundRect">
            <a:avLst>
              <a:gd name="adj" fmla="val 1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58784" y="1828800"/>
            <a:ext cx="3246120" cy="384048"/>
          </a:xfrm>
          <a:prstGeom prst="rect">
            <a:avLst/>
          </a:prstGeom>
          <a:noFill/>
        </p:spPr>
        <p:txBody>
          <a:bodyPr wrap="square" anchor="t" lIns="50800" rIns="50800" tIns="25400" bIns="25400">
            <a:spAutoFit/>
          </a:bodyPr>
          <a:lstStyle/>
          <a:p>
            <a:pPr algn="ctr">
              <a:lnSpc>
                <a:spcPct val="100000"/>
              </a:lnSpc>
            </a:pPr>
            <a:r>
              <a:rPr sz="1550" b="1" i="0">
                <a:solidFill>
                  <a:srgbClr val="FFFFFF"/>
                </a:solidFill>
                <a:latin typeface="Segoe UI Semibold"/>
              </a:rPr>
              <a:t>📱 frontend-mobile/</a:t>
            </a:r>
          </a:p>
        </p:txBody>
      </p:sp>
      <p:sp>
        <p:nvSpPr>
          <p:cNvPr id="22" name="TextBox 21"/>
          <p:cNvSpPr txBox="1"/>
          <p:nvPr/>
        </p:nvSpPr>
        <p:spPr>
          <a:xfrm>
            <a:off x="8558784" y="2194560"/>
            <a:ext cx="3246120" cy="274320"/>
          </a:xfrm>
          <a:prstGeom prst="rect">
            <a:avLst/>
          </a:prstGeom>
          <a:noFill/>
        </p:spPr>
        <p:txBody>
          <a:bodyPr wrap="square" anchor="t" lIns="50800" rIns="50800" tIns="25400" bIns="25400">
            <a:spAutoFit/>
          </a:bodyPr>
          <a:lstStyle/>
          <a:p>
            <a:pPr algn="ctr">
              <a:lnSpc>
                <a:spcPct val="100000"/>
              </a:lnSpc>
            </a:pPr>
            <a:r>
              <a:rPr sz="1100" b="0" i="1">
                <a:solidFill>
                  <a:srgbClr val="E6E6FA"/>
                </a:solidFill>
                <a:latin typeface="Segoe UI"/>
              </a:rPr>
              <a:t>Expo Router</a:t>
            </a:r>
          </a:p>
        </p:txBody>
      </p:sp>
      <p:sp>
        <p:nvSpPr>
          <p:cNvPr id="23" name="TextBox 22"/>
          <p:cNvSpPr txBox="1"/>
          <p:nvPr/>
        </p:nvSpPr>
        <p:spPr>
          <a:xfrm>
            <a:off x="8622792" y="2697480"/>
            <a:ext cx="3154680" cy="3108960"/>
          </a:xfrm>
          <a:prstGeom prst="rect">
            <a:avLst/>
          </a:prstGeom>
          <a:noFill/>
        </p:spPr>
        <p:txBody>
          <a:bodyPr wrap="square" lIns="25400" rIns="25400">
            <a:spAutoFit/>
          </a:bodyPr>
          <a:lstStyle/>
          <a:p>
            <a:pPr>
              <a:lnSpc>
                <a:spcPct val="105000"/>
              </a:lnSpc>
              <a:spcAft>
                <a:spcPts val="800"/>
              </a:spcAft>
            </a:pPr>
            <a:r>
              <a:rPr sz="1100" b="1">
                <a:solidFill>
                  <a:srgbClr val="3A9BCE"/>
                </a:solidFill>
                <a:latin typeface="Segoe UI"/>
              </a:rPr>
              <a:t>▸  </a:t>
            </a:r>
            <a:r>
              <a:rPr sz="1100">
                <a:solidFill>
                  <a:srgbClr val="23426B"/>
                </a:solidFill>
                <a:latin typeface="Segoe UI"/>
              </a:rPr>
              <a:t>app/ — route groups</a:t>
            </a:r>
          </a:p>
          <a:p>
            <a:pPr>
              <a:lnSpc>
                <a:spcPct val="105000"/>
              </a:lnSpc>
              <a:spcAft>
                <a:spcPts val="800"/>
              </a:spcAft>
            </a:pPr>
            <a:r>
              <a:rPr sz="1100" b="1">
                <a:solidFill>
                  <a:srgbClr val="3A9BCE"/>
                </a:solidFill>
                <a:latin typeface="Segoe UI"/>
              </a:rPr>
              <a:t>▸  </a:t>
            </a:r>
            <a:r>
              <a:rPr sz="1100">
                <a:solidFill>
                  <a:srgbClr val="23426B"/>
                </a:solidFill>
                <a:latin typeface="Segoe UI"/>
              </a:rPr>
              <a:t>api/ — Axios client + token refresh</a:t>
            </a:r>
          </a:p>
          <a:p>
            <a:pPr>
              <a:lnSpc>
                <a:spcPct val="105000"/>
              </a:lnSpc>
              <a:spcAft>
                <a:spcPts val="800"/>
              </a:spcAft>
            </a:pPr>
            <a:r>
              <a:rPr sz="1100" b="1">
                <a:solidFill>
                  <a:srgbClr val="3A9BCE"/>
                </a:solidFill>
                <a:latin typeface="Segoe UI"/>
              </a:rPr>
              <a:t>▸  </a:t>
            </a:r>
            <a:r>
              <a:rPr sz="1100">
                <a:solidFill>
                  <a:srgbClr val="23426B"/>
                </a:solidFill>
                <a:latin typeface="Segoe UI"/>
              </a:rPr>
              <a:t>components/ · hooks/ · screens/</a:t>
            </a:r>
          </a:p>
          <a:p>
            <a:pPr>
              <a:lnSpc>
                <a:spcPct val="105000"/>
              </a:lnSpc>
              <a:spcAft>
                <a:spcPts val="800"/>
              </a:spcAft>
            </a:pPr>
            <a:r>
              <a:rPr sz="1100" b="1">
                <a:solidFill>
                  <a:srgbClr val="3A9BCE"/>
                </a:solidFill>
                <a:latin typeface="Segoe UI"/>
              </a:rPr>
              <a:t>▸  </a:t>
            </a:r>
            <a:r>
              <a:rPr sz="1100">
                <a:solidFill>
                  <a:srgbClr val="23426B"/>
                </a:solidFill>
                <a:latin typeface="Segoe UI"/>
              </a:rPr>
              <a:t>services/ — auth, chat, page, device, WS</a:t>
            </a:r>
          </a:p>
          <a:p>
            <a:pPr>
              <a:lnSpc>
                <a:spcPct val="105000"/>
              </a:lnSpc>
              <a:spcAft>
                <a:spcPts val="800"/>
              </a:spcAft>
            </a:pPr>
            <a:r>
              <a:rPr sz="1100" b="1">
                <a:solidFill>
                  <a:srgbClr val="3A9BCE"/>
                </a:solidFill>
                <a:latin typeface="Segoe UI"/>
              </a:rPr>
              <a:t>▸  </a:t>
            </a:r>
            <a:r>
              <a:rPr sz="1100">
                <a:solidFill>
                  <a:srgbClr val="23426B"/>
                </a:solidFill>
                <a:latin typeface="Segoe UI"/>
              </a:rPr>
              <a:t>stores/ · types/ · utils/</a:t>
            </a:r>
          </a:p>
        </p:txBody>
      </p:sp>
      <p:sp>
        <p:nvSpPr>
          <p:cNvPr id="24" name="TextBox 23"/>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25" name="Rounded Rectangle 24"/>
          <p:cNvSpPr/>
          <p:nvPr/>
        </p:nvSpPr>
        <p:spPr>
          <a:xfrm>
            <a:off x="11247120" y="6382512"/>
            <a:ext cx="502920" cy="310896"/>
          </a:xfrm>
          <a:prstGeom prst="roundRect">
            <a:avLst>
              <a:gd name="adj" fmla="val 50000"/>
            </a:avLst>
          </a:prstGeom>
          <a:gradFill>
            <a:gsLst>
              <a:gs pos="0">
                <a:srgbClr val="2F86A4"/>
              </a:gs>
              <a:gs pos="100000">
                <a:srgbClr val="6DAABF"/>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9921240" y="0"/>
            <a:ext cx="2103120" cy="2103120"/>
          </a:xfrm>
          <a:prstGeom prst="hexago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A4A93"/>
              </a:gs>
              <a:gs pos="100000">
                <a:srgbClr val="899BC3"/>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A4A93"/>
                </a:solidFill>
                <a:latin typeface="Segoe UI Semibold"/>
              </a:rPr>
              <a:t>AUTHENTICATION</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Xác thực &amp; Quản lý phiên</a:t>
            </a:r>
          </a:p>
        </p:txBody>
      </p:sp>
      <p:sp>
        <p:nvSpPr>
          <p:cNvPr id="9" name="Rounded Rectangle 8"/>
          <p:cNvSpPr/>
          <p:nvPr/>
        </p:nvSpPr>
        <p:spPr>
          <a:xfrm>
            <a:off x="777240" y="1783080"/>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AWS Cognito</a:t>
            </a:r>
          </a:p>
        </p:txBody>
      </p:sp>
      <p:sp>
        <p:nvSpPr>
          <p:cNvPr id="14" name="TextBox 13"/>
          <p:cNvSpPr txBox="1"/>
          <p:nvPr/>
        </p:nvSpPr>
        <p:spPr>
          <a:xfrm>
            <a:off x="960120" y="3081528"/>
            <a:ext cx="4846320" cy="64008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Đăng ký, đăng nhập, xác nhận, đặt lại mật khẩu, refresh token và đăng xuất do Cognito quản lý.</a:t>
            </a:r>
          </a:p>
        </p:txBody>
      </p:sp>
      <p:sp>
        <p:nvSpPr>
          <p:cNvPr id="15" name="Rounded Rectangle 14"/>
          <p:cNvSpPr/>
          <p:nvPr/>
        </p:nvSpPr>
        <p:spPr>
          <a:xfrm>
            <a:off x="6172200" y="1783080"/>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1783080"/>
            <a:ext cx="5212080"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3368"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635508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Token / Cookie</a:t>
            </a:r>
          </a:p>
        </p:txBody>
      </p:sp>
      <p:sp>
        <p:nvSpPr>
          <p:cNvPr id="20" name="TextBox 19"/>
          <p:cNvSpPr txBox="1"/>
          <p:nvPr/>
        </p:nvSpPr>
        <p:spPr>
          <a:xfrm>
            <a:off x="6355080" y="3081528"/>
            <a:ext cx="4846320" cy="64008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Web dùng cookie trình duyệt; mobile dùng Expo Secure Store. JWT xác thực mỗi request.</a:t>
            </a:r>
          </a:p>
        </p:txBody>
      </p:sp>
      <p:sp>
        <p:nvSpPr>
          <p:cNvPr id="21" name="Rounded Rectangle 20"/>
          <p:cNvSpPr/>
          <p:nvPr/>
        </p:nvSpPr>
        <p:spPr>
          <a:xfrm>
            <a:off x="777240" y="3995928"/>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995928"/>
            <a:ext cx="5212080"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 y="4251960"/>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4233672"/>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960120" y="4928616"/>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QR Login</a:t>
            </a:r>
          </a:p>
        </p:txBody>
      </p:sp>
      <p:sp>
        <p:nvSpPr>
          <p:cNvPr id="26" name="TextBox 25"/>
          <p:cNvSpPr txBox="1"/>
          <p:nvPr/>
        </p:nvSpPr>
        <p:spPr>
          <a:xfrm>
            <a:off x="960120" y="5294376"/>
            <a:ext cx="4846320" cy="64008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Ghép phiên đăng nhập web với xác nhận trên thiết bị di động qua mã QR.</a:t>
            </a:r>
          </a:p>
        </p:txBody>
      </p:sp>
      <p:sp>
        <p:nvSpPr>
          <p:cNvPr id="27" name="Rounded Rectangle 26"/>
          <p:cNvSpPr/>
          <p:nvPr/>
        </p:nvSpPr>
        <p:spPr>
          <a:xfrm>
            <a:off x="6172200" y="3995928"/>
            <a:ext cx="5212080" cy="201168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72200" y="3995928"/>
            <a:ext cx="5212080" cy="109728"/>
          </a:xfrm>
          <a:prstGeom prst="roundRect">
            <a:avLst>
              <a:gd name="adj" fmla="val 50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73368" y="4251960"/>
            <a:ext cx="603504" cy="603504"/>
          </a:xfrm>
          <a:prstGeom prst="roundRect">
            <a:avLst>
              <a:gd name="adj" fmla="val 30000"/>
            </a:avLst>
          </a:prstGeom>
          <a:gradFill>
            <a:gsLst>
              <a:gs pos="0">
                <a:srgbClr val="2F62C9"/>
              </a:gs>
              <a:gs pos="100000">
                <a:srgbClr val="5470CE"/>
              </a:gs>
            </a:gsLst>
            <a:lin ang="2700000" scaled="1"/>
          </a:gradFill>
          <a:ln>
            <a:noFill/>
          </a:ln>
          <a:effectLst>
            <a:outerShdw blurRad="54864" dist="36576" dir="5400000" rotWithShape="0">
              <a:srgbClr val="2F62C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4233672"/>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6355080" y="4928616"/>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Token Refresh</a:t>
            </a:r>
          </a:p>
        </p:txBody>
      </p:sp>
      <p:sp>
        <p:nvSpPr>
          <p:cNvPr id="32" name="TextBox 31"/>
          <p:cNvSpPr txBox="1"/>
          <p:nvPr/>
        </p:nvSpPr>
        <p:spPr>
          <a:xfrm>
            <a:off x="6355080" y="5294376"/>
            <a:ext cx="4846320" cy="64008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Axios client tự động làm mới access token khi hết hạn, duy trì phiên liền mạch.</a:t>
            </a:r>
          </a:p>
        </p:txBody>
      </p:sp>
      <p:sp>
        <p:nvSpPr>
          <p:cNvPr id="33" name="TextBox 32"/>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4" name="Rounded Rectangle 33"/>
          <p:cNvSpPr/>
          <p:nvPr/>
        </p:nvSpPr>
        <p:spPr>
          <a:xfrm>
            <a:off x="11247120" y="6382512"/>
            <a:ext cx="502920" cy="310896"/>
          </a:xfrm>
          <a:prstGeom prst="roundRect">
            <a:avLst>
              <a:gd name="adj" fmla="val 50000"/>
            </a:avLst>
          </a:prstGeom>
          <a:gradFill>
            <a:gsLst>
              <a:gs pos="0">
                <a:srgbClr val="2A4A93"/>
              </a:gs>
              <a:gs pos="100000">
                <a:srgbClr val="6980B3"/>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Callout 4"/>
          <p:cNvSpPr/>
          <p:nvPr/>
        </p:nvSpPr>
        <p:spPr>
          <a:xfrm>
            <a:off x="9784080" y="137160"/>
            <a:ext cx="2377440" cy="1828800"/>
          </a:xfrm>
          <a:prstGeom prst="wedgeEllipse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3A9BCE"/>
              </a:gs>
              <a:gs pos="100000">
                <a:srgbClr val="92C8E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3A9BCE"/>
                </a:solidFill>
                <a:latin typeface="Segoe UI Semibold"/>
              </a:rPr>
              <a:t>FLOW 01</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Luồng đăng ký &amp; xác nhận OTP</a:t>
            </a:r>
          </a:p>
        </p:txBody>
      </p:sp>
      <p:sp>
        <p:nvSpPr>
          <p:cNvPr id="9" name="Rounded Rectangle 8"/>
          <p:cNvSpPr/>
          <p:nvPr/>
        </p:nvSpPr>
        <p:spPr>
          <a:xfrm>
            <a:off x="640080" y="2331720"/>
            <a:ext cx="2057400" cy="1554480"/>
          </a:xfrm>
          <a:prstGeom prst="roundRect">
            <a:avLst>
              <a:gd name="adj" fmla="val 10000"/>
            </a:avLst>
          </a:prstGeom>
          <a:gradFill>
            <a:gsLst>
              <a:gs pos="0">
                <a:srgbClr val="5B63D6"/>
              </a:gs>
              <a:gs pos="100000">
                <a:srgbClr val="7A82E6"/>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41448"/>
            <a:ext cx="2057400" cy="54864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①</a:t>
            </a:r>
          </a:p>
        </p:txBody>
      </p:sp>
      <p:sp>
        <p:nvSpPr>
          <p:cNvPr id="11" name="TextBox 10"/>
          <p:cNvSpPr txBox="1"/>
          <p:nvPr/>
        </p:nvSpPr>
        <p:spPr>
          <a:xfrm>
            <a:off x="640080" y="2990088"/>
            <a:ext cx="205740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Đăng ký</a:t>
            </a:r>
          </a:p>
        </p:txBody>
      </p:sp>
      <p:sp>
        <p:nvSpPr>
          <p:cNvPr id="12" name="TextBox 11"/>
          <p:cNvSpPr txBox="1"/>
          <p:nvPr/>
        </p:nvSpPr>
        <p:spPr>
          <a:xfrm>
            <a:off x="713232" y="3355848"/>
            <a:ext cx="1911096" cy="502920"/>
          </a:xfrm>
          <a:prstGeom prst="rect">
            <a:avLst/>
          </a:prstGeom>
          <a:noFill/>
        </p:spPr>
        <p:txBody>
          <a:bodyPr wrap="square" anchor="t" lIns="50800" rIns="50800" tIns="25400" bIns="25400">
            <a:spAutoFit/>
          </a:bodyPr>
          <a:lstStyle/>
          <a:p>
            <a:pPr algn="ctr">
              <a:lnSpc>
                <a:spcPct val="100000"/>
              </a:lnSpc>
            </a:pPr>
            <a:r>
              <a:rPr sz="950" b="0" i="0">
                <a:solidFill>
                  <a:srgbClr val="ECECFB"/>
                </a:solidFill>
                <a:latin typeface="Segoe UI"/>
              </a:rPr>
              <a:t>POST /api/auth/register</a:t>
            </a:r>
          </a:p>
          <a:p>
            <a:pPr algn="ctr">
              <a:lnSpc>
                <a:spcPct val="100000"/>
              </a:lnSpc>
            </a:pPr>
            <a:r>
              <a:rPr sz="950" b="0" i="0">
                <a:solidFill>
                  <a:srgbClr val="ECECFB"/>
                </a:solidFill>
                <a:latin typeface="Segoe UI"/>
              </a:rPr>
              <a:t>Nhập SĐT + mật khẩu</a:t>
            </a:r>
          </a:p>
        </p:txBody>
      </p:sp>
      <p:cxnSp>
        <p:nvCxnSpPr>
          <p:cNvPr id="13" name="Connector 12"/>
          <p:cNvCxnSpPr/>
          <p:nvPr/>
        </p:nvCxnSpPr>
        <p:spPr>
          <a:xfrm>
            <a:off x="2697480" y="3108960"/>
            <a:ext cx="164592" cy="0"/>
          </a:xfrm>
          <a:prstGeom prst="line">
            <a:avLst/>
          </a:prstGeom>
          <a:ln w="31750">
            <a:solidFill>
              <a:srgbClr val="3A9BC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62072" y="2331720"/>
            <a:ext cx="2057400" cy="1554480"/>
          </a:xfrm>
          <a:prstGeom prst="roundRect">
            <a:avLst>
              <a:gd name="adj" fmla="val 10000"/>
            </a:avLst>
          </a:prstGeom>
          <a:gradFill>
            <a:gsLst>
              <a:gs pos="0">
                <a:srgbClr val="3E78D6"/>
              </a:gs>
              <a:gs pos="100000">
                <a:srgbClr val="2E93A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62072" y="2441448"/>
            <a:ext cx="2057400" cy="54864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②</a:t>
            </a:r>
          </a:p>
        </p:txBody>
      </p:sp>
      <p:sp>
        <p:nvSpPr>
          <p:cNvPr id="16" name="TextBox 15"/>
          <p:cNvSpPr txBox="1"/>
          <p:nvPr/>
        </p:nvSpPr>
        <p:spPr>
          <a:xfrm>
            <a:off x="2862072" y="2990088"/>
            <a:ext cx="205740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Gửi OTP</a:t>
            </a:r>
          </a:p>
        </p:txBody>
      </p:sp>
      <p:sp>
        <p:nvSpPr>
          <p:cNvPr id="17" name="TextBox 16"/>
          <p:cNvSpPr txBox="1"/>
          <p:nvPr/>
        </p:nvSpPr>
        <p:spPr>
          <a:xfrm>
            <a:off x="2935224" y="3355848"/>
            <a:ext cx="1911096" cy="502920"/>
          </a:xfrm>
          <a:prstGeom prst="rect">
            <a:avLst/>
          </a:prstGeom>
          <a:noFill/>
        </p:spPr>
        <p:txBody>
          <a:bodyPr wrap="square" anchor="t" lIns="50800" rIns="50800" tIns="25400" bIns="25400">
            <a:spAutoFit/>
          </a:bodyPr>
          <a:lstStyle/>
          <a:p>
            <a:pPr algn="ctr">
              <a:lnSpc>
                <a:spcPct val="100000"/>
              </a:lnSpc>
            </a:pPr>
            <a:r>
              <a:rPr sz="950" b="0" i="0">
                <a:solidFill>
                  <a:srgbClr val="ECECFB"/>
                </a:solidFill>
                <a:latin typeface="Segoe UI"/>
              </a:rPr>
              <a:t>Cognito gửi mã OTP</a:t>
            </a:r>
          </a:p>
          <a:p>
            <a:pPr algn="ctr">
              <a:lnSpc>
                <a:spcPct val="100000"/>
              </a:lnSpc>
            </a:pPr>
            <a:r>
              <a:rPr sz="950" b="0" i="0">
                <a:solidFill>
                  <a:srgbClr val="ECECFB"/>
                </a:solidFill>
                <a:latin typeface="Segoe UI"/>
              </a:rPr>
              <a:t>qua kênh xác nhận</a:t>
            </a:r>
          </a:p>
        </p:txBody>
      </p:sp>
      <p:cxnSp>
        <p:nvCxnSpPr>
          <p:cNvPr id="18" name="Connector 17"/>
          <p:cNvCxnSpPr/>
          <p:nvPr/>
        </p:nvCxnSpPr>
        <p:spPr>
          <a:xfrm>
            <a:off x="4919472" y="3108960"/>
            <a:ext cx="164592" cy="0"/>
          </a:xfrm>
          <a:prstGeom prst="line">
            <a:avLst/>
          </a:prstGeom>
          <a:ln w="31750">
            <a:solidFill>
              <a:srgbClr val="3A9BC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84064" y="2331720"/>
            <a:ext cx="2057400" cy="1554480"/>
          </a:xfrm>
          <a:prstGeom prst="roundRect">
            <a:avLst>
              <a:gd name="adj" fmla="val 10000"/>
            </a:avLst>
          </a:prstGeom>
          <a:gradFill>
            <a:gsLst>
              <a:gs pos="0">
                <a:srgbClr val="2F86A4"/>
              </a:gs>
              <a:gs pos="100000">
                <a:srgbClr val="3A9B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84064" y="2441448"/>
            <a:ext cx="2057400" cy="54864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③</a:t>
            </a:r>
          </a:p>
        </p:txBody>
      </p:sp>
      <p:sp>
        <p:nvSpPr>
          <p:cNvPr id="21" name="TextBox 20"/>
          <p:cNvSpPr txBox="1"/>
          <p:nvPr/>
        </p:nvSpPr>
        <p:spPr>
          <a:xfrm>
            <a:off x="5084064" y="2990088"/>
            <a:ext cx="205740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Xác nhận</a:t>
            </a:r>
          </a:p>
        </p:txBody>
      </p:sp>
      <p:sp>
        <p:nvSpPr>
          <p:cNvPr id="22" name="TextBox 21"/>
          <p:cNvSpPr txBox="1"/>
          <p:nvPr/>
        </p:nvSpPr>
        <p:spPr>
          <a:xfrm>
            <a:off x="5157216" y="3355848"/>
            <a:ext cx="1911096" cy="502920"/>
          </a:xfrm>
          <a:prstGeom prst="rect">
            <a:avLst/>
          </a:prstGeom>
          <a:noFill/>
        </p:spPr>
        <p:txBody>
          <a:bodyPr wrap="square" anchor="t" lIns="50800" rIns="50800" tIns="25400" bIns="25400">
            <a:spAutoFit/>
          </a:bodyPr>
          <a:lstStyle/>
          <a:p>
            <a:pPr algn="ctr">
              <a:lnSpc>
                <a:spcPct val="100000"/>
              </a:lnSpc>
            </a:pPr>
            <a:r>
              <a:rPr sz="950" b="0" i="0">
                <a:solidFill>
                  <a:srgbClr val="ECECFB"/>
                </a:solidFill>
                <a:latin typeface="Segoe UI"/>
              </a:rPr>
              <a:t>POST /api/auth/confirm</a:t>
            </a:r>
          </a:p>
          <a:p>
            <a:pPr algn="ctr">
              <a:lnSpc>
                <a:spcPct val="100000"/>
              </a:lnSpc>
            </a:pPr>
            <a:r>
              <a:rPr sz="950" b="0" i="0">
                <a:solidFill>
                  <a:srgbClr val="ECECFB"/>
                </a:solidFill>
                <a:latin typeface="Segoe UI"/>
              </a:rPr>
              <a:t>Người dùng nhập OTP</a:t>
            </a:r>
          </a:p>
        </p:txBody>
      </p:sp>
      <p:cxnSp>
        <p:nvCxnSpPr>
          <p:cNvPr id="23" name="Connector 22"/>
          <p:cNvCxnSpPr/>
          <p:nvPr/>
        </p:nvCxnSpPr>
        <p:spPr>
          <a:xfrm>
            <a:off x="7141464" y="3108960"/>
            <a:ext cx="164592" cy="0"/>
          </a:xfrm>
          <a:prstGeom prst="line">
            <a:avLst/>
          </a:prstGeom>
          <a:ln w="31750">
            <a:solidFill>
              <a:srgbClr val="3A9BC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06056" y="2331720"/>
            <a:ext cx="2057400" cy="1554480"/>
          </a:xfrm>
          <a:prstGeom prst="roundRect">
            <a:avLst>
              <a:gd name="adj" fmla="val 10000"/>
            </a:avLst>
          </a:prstGeom>
          <a:gradFill>
            <a:gsLst>
              <a:gs pos="0">
                <a:srgbClr val="2F62C9"/>
              </a:gs>
              <a:gs pos="100000">
                <a:srgbClr val="5470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06056" y="2441448"/>
            <a:ext cx="2057400" cy="54864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④</a:t>
            </a:r>
          </a:p>
        </p:txBody>
      </p:sp>
      <p:sp>
        <p:nvSpPr>
          <p:cNvPr id="26" name="TextBox 25"/>
          <p:cNvSpPr txBox="1"/>
          <p:nvPr/>
        </p:nvSpPr>
        <p:spPr>
          <a:xfrm>
            <a:off x="7306056" y="2990088"/>
            <a:ext cx="205740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Kích hoạt</a:t>
            </a:r>
          </a:p>
        </p:txBody>
      </p:sp>
      <p:sp>
        <p:nvSpPr>
          <p:cNvPr id="27" name="TextBox 26"/>
          <p:cNvSpPr txBox="1"/>
          <p:nvPr/>
        </p:nvSpPr>
        <p:spPr>
          <a:xfrm>
            <a:off x="7379208" y="3355848"/>
            <a:ext cx="1911096" cy="502920"/>
          </a:xfrm>
          <a:prstGeom prst="rect">
            <a:avLst/>
          </a:prstGeom>
          <a:noFill/>
        </p:spPr>
        <p:txBody>
          <a:bodyPr wrap="square" anchor="t" lIns="50800" rIns="50800" tIns="25400" bIns="25400">
            <a:spAutoFit/>
          </a:bodyPr>
          <a:lstStyle/>
          <a:p>
            <a:pPr algn="ctr">
              <a:lnSpc>
                <a:spcPct val="100000"/>
              </a:lnSpc>
            </a:pPr>
            <a:r>
              <a:rPr sz="950" b="0" i="0">
                <a:solidFill>
                  <a:srgbClr val="ECECFB"/>
                </a:solidFill>
                <a:latin typeface="Segoe UI"/>
              </a:rPr>
              <a:t>Tài khoản được</a:t>
            </a:r>
          </a:p>
          <a:p>
            <a:pPr algn="ctr">
              <a:lnSpc>
                <a:spcPct val="100000"/>
              </a:lnSpc>
            </a:pPr>
            <a:r>
              <a:rPr sz="950" b="0" i="0">
                <a:solidFill>
                  <a:srgbClr val="ECECFB"/>
                </a:solidFill>
                <a:latin typeface="Segoe UI"/>
              </a:rPr>
              <a:t>kích hoạt thành công</a:t>
            </a:r>
          </a:p>
        </p:txBody>
      </p:sp>
      <p:cxnSp>
        <p:nvCxnSpPr>
          <p:cNvPr id="28" name="Connector 27"/>
          <p:cNvCxnSpPr/>
          <p:nvPr/>
        </p:nvCxnSpPr>
        <p:spPr>
          <a:xfrm>
            <a:off x="9363456" y="3108960"/>
            <a:ext cx="164592" cy="0"/>
          </a:xfrm>
          <a:prstGeom prst="line">
            <a:avLst/>
          </a:prstGeom>
          <a:ln w="31750">
            <a:solidFill>
              <a:srgbClr val="3A9BC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528048" y="2331720"/>
            <a:ext cx="2057400" cy="1554480"/>
          </a:xfrm>
          <a:prstGeom prst="roundRect">
            <a:avLst>
              <a:gd name="adj" fmla="val 10000"/>
            </a:avLst>
          </a:prstGeom>
          <a:gradFill>
            <a:gsLst>
              <a:gs pos="0">
                <a:srgbClr val="2A4A93"/>
              </a:gs>
              <a:gs pos="100000">
                <a:srgbClr val="8FBDE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2441448"/>
            <a:ext cx="2057400" cy="54864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⑤</a:t>
            </a:r>
          </a:p>
        </p:txBody>
      </p:sp>
      <p:sp>
        <p:nvSpPr>
          <p:cNvPr id="31" name="TextBox 30"/>
          <p:cNvSpPr txBox="1"/>
          <p:nvPr/>
        </p:nvSpPr>
        <p:spPr>
          <a:xfrm>
            <a:off x="9528048" y="2990088"/>
            <a:ext cx="205740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Đăng nhập</a:t>
            </a:r>
          </a:p>
        </p:txBody>
      </p:sp>
      <p:sp>
        <p:nvSpPr>
          <p:cNvPr id="32" name="TextBox 31"/>
          <p:cNvSpPr txBox="1"/>
          <p:nvPr/>
        </p:nvSpPr>
        <p:spPr>
          <a:xfrm>
            <a:off x="9601200" y="3355848"/>
            <a:ext cx="1911096" cy="502920"/>
          </a:xfrm>
          <a:prstGeom prst="rect">
            <a:avLst/>
          </a:prstGeom>
          <a:noFill/>
        </p:spPr>
        <p:txBody>
          <a:bodyPr wrap="square" anchor="t" lIns="50800" rIns="50800" tIns="25400" bIns="25400">
            <a:spAutoFit/>
          </a:bodyPr>
          <a:lstStyle/>
          <a:p>
            <a:pPr algn="ctr">
              <a:lnSpc>
                <a:spcPct val="100000"/>
              </a:lnSpc>
            </a:pPr>
            <a:r>
              <a:rPr sz="950" b="0" i="0">
                <a:solidFill>
                  <a:srgbClr val="ECECFB"/>
                </a:solidFill>
                <a:latin typeface="Segoe UI"/>
              </a:rPr>
              <a:t>POST /api/auth/login</a:t>
            </a:r>
          </a:p>
          <a:p>
            <a:pPr algn="ctr">
              <a:lnSpc>
                <a:spcPct val="100000"/>
              </a:lnSpc>
            </a:pPr>
            <a:r>
              <a:rPr sz="950" b="0" i="0">
                <a:solidFill>
                  <a:srgbClr val="ECECFB"/>
                </a:solidFill>
                <a:latin typeface="Segoe UI"/>
              </a:rPr>
              <a:t>Nhận JWT + phiên</a:t>
            </a:r>
          </a:p>
        </p:txBody>
      </p:sp>
      <p:sp>
        <p:nvSpPr>
          <p:cNvPr id="33" name="Rounded Rectangle 32"/>
          <p:cNvSpPr/>
          <p:nvPr/>
        </p:nvSpPr>
        <p:spPr>
          <a:xfrm>
            <a:off x="777240" y="4480560"/>
            <a:ext cx="10607040" cy="1280160"/>
          </a:xfrm>
          <a:prstGeom prst="roundRect">
            <a:avLst>
              <a:gd name="adj" fmla="val 6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4617720"/>
            <a:ext cx="10241280" cy="365760"/>
          </a:xfrm>
          <a:prstGeom prst="rect">
            <a:avLst/>
          </a:prstGeom>
          <a:noFill/>
        </p:spPr>
        <p:txBody>
          <a:bodyPr wrap="square" anchor="t" lIns="50800" rIns="50800" tIns="25400" bIns="25400">
            <a:spAutoFit/>
          </a:bodyPr>
          <a:lstStyle/>
          <a:p>
            <a:pPr algn="l">
              <a:lnSpc>
                <a:spcPct val="100000"/>
              </a:lnSpc>
            </a:pPr>
            <a:r>
              <a:rPr sz="1400" b="1" i="0">
                <a:solidFill>
                  <a:srgbClr val="3A9BCE"/>
                </a:solidFill>
                <a:latin typeface="Segoe UI Semibold"/>
              </a:rPr>
              <a:t>💡  Phía client (web &amp; mobile)</a:t>
            </a:r>
          </a:p>
        </p:txBody>
      </p:sp>
      <p:sp>
        <p:nvSpPr>
          <p:cNvPr id="35" name="TextBox 34"/>
          <p:cNvSpPr txBox="1"/>
          <p:nvPr/>
        </p:nvSpPr>
        <p:spPr>
          <a:xfrm>
            <a:off x="1005840" y="5029200"/>
            <a:ext cx="10149840" cy="731520"/>
          </a:xfrm>
          <a:prstGeom prst="rect">
            <a:avLst/>
          </a:prstGeom>
          <a:noFill/>
        </p:spPr>
        <p:txBody>
          <a:bodyPr wrap="square" lIns="25400" rIns="25400">
            <a:spAutoFit/>
          </a:bodyPr>
          <a:lstStyle/>
          <a:p>
            <a:pPr>
              <a:lnSpc>
                <a:spcPct val="105000"/>
              </a:lnSpc>
              <a:spcAft>
                <a:spcPts val="600"/>
              </a:spcAft>
            </a:pPr>
            <a:r>
              <a:rPr sz="1200" b="1">
                <a:solidFill>
                  <a:srgbClr val="3A9BCE"/>
                </a:solidFill>
                <a:latin typeface="Segoe UI"/>
              </a:rPr>
              <a:t>▸  </a:t>
            </a:r>
            <a:r>
              <a:rPr sz="1200">
                <a:solidFill>
                  <a:srgbClr val="23426B"/>
                </a:solidFill>
                <a:latin typeface="Segoe UI"/>
              </a:rPr>
              <a:t>Validate SĐT (10–11 số) &amp; mật khẩu (6–50 ký tự) trước khi gọi API; hiển thị SuccessModal cho trạng thái loading/success/error.</a:t>
            </a:r>
          </a:p>
          <a:p>
            <a:pPr>
              <a:lnSpc>
                <a:spcPct val="105000"/>
              </a:lnSpc>
              <a:spcAft>
                <a:spcPts val="600"/>
              </a:spcAft>
            </a:pPr>
            <a:r>
              <a:rPr sz="1200" b="1">
                <a:solidFill>
                  <a:srgbClr val="3A9BCE"/>
                </a:solidFill>
                <a:latin typeface="Segoe UI"/>
              </a:rPr>
              <a:t>▸  </a:t>
            </a:r>
            <a:r>
              <a:rPr sz="1200">
                <a:solidFill>
                  <a:srgbClr val="23426B"/>
                </a:solidFill>
                <a:latin typeface="Segoe UI"/>
              </a:rPr>
              <a:t>Sau xác nhận thành công → điều hướng tới màn hình đăng nhập / verify-otp.</a:t>
            </a:r>
          </a:p>
        </p:txBody>
      </p:sp>
      <p:sp>
        <p:nvSpPr>
          <p:cNvPr id="36" name="TextBox 35"/>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7" name="Rounded Rectangle 36"/>
          <p:cNvSpPr/>
          <p:nvPr/>
        </p:nvSpPr>
        <p:spPr>
          <a:xfrm>
            <a:off x="11247120" y="6382512"/>
            <a:ext cx="502920" cy="310896"/>
          </a:xfrm>
          <a:prstGeom prst="roundRect">
            <a:avLst>
              <a:gd name="adj" fmla="val 50000"/>
            </a:avLst>
          </a:prstGeom>
          <a:gradFill>
            <a:gsLst>
              <a:gs pos="0">
                <a:srgbClr val="3A9BCE"/>
              </a:gs>
              <a:gs pos="100000">
                <a:srgbClr val="75B9DC"/>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onut 4"/>
          <p:cNvSpPr/>
          <p:nvPr/>
        </p:nvSpPr>
        <p:spPr>
          <a:xfrm>
            <a:off x="9921240" y="0"/>
            <a:ext cx="2103120" cy="2103120"/>
          </a:xfrm>
          <a:prstGeom prst="don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E93AE"/>
              </a:gs>
              <a:gs pos="100000">
                <a:srgbClr val="8CC3D2"/>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E93AE"/>
                </a:solidFill>
                <a:latin typeface="Segoe UI Semibold"/>
              </a:rPr>
              <a:t>FLOW 02</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Luồng đăng nhập QR (Web ↔ Mobile)</a:t>
            </a:r>
          </a:p>
        </p:txBody>
      </p:sp>
      <p:sp>
        <p:nvSpPr>
          <p:cNvPr id="9" name="TextBox 8"/>
          <p:cNvSpPr txBox="1"/>
          <p:nvPr/>
        </p:nvSpPr>
        <p:spPr>
          <a:xfrm>
            <a:off x="777240" y="1645920"/>
            <a:ext cx="5029200" cy="365760"/>
          </a:xfrm>
          <a:prstGeom prst="rect">
            <a:avLst/>
          </a:prstGeom>
          <a:noFill/>
        </p:spPr>
        <p:txBody>
          <a:bodyPr wrap="square" anchor="t" lIns="50800" rIns="50800" tIns="25400" bIns="25400">
            <a:spAutoFit/>
          </a:bodyPr>
          <a:lstStyle/>
          <a:p>
            <a:pPr algn="l">
              <a:lnSpc>
                <a:spcPct val="100000"/>
              </a:lnSpc>
            </a:pPr>
            <a:r>
              <a:rPr sz="1500" b="1" i="0">
                <a:solidFill>
                  <a:srgbClr val="3E78D6"/>
                </a:solidFill>
                <a:latin typeface="Segoe UI Semibold"/>
              </a:rPr>
              <a:t>🌐  Trình duyệt Web</a:t>
            </a:r>
          </a:p>
        </p:txBody>
      </p:sp>
      <p:sp>
        <p:nvSpPr>
          <p:cNvPr id="10" name="TextBox 9"/>
          <p:cNvSpPr txBox="1"/>
          <p:nvPr/>
        </p:nvSpPr>
        <p:spPr>
          <a:xfrm>
            <a:off x="6400800" y="1645920"/>
            <a:ext cx="5029200" cy="365760"/>
          </a:xfrm>
          <a:prstGeom prst="rect">
            <a:avLst/>
          </a:prstGeom>
          <a:noFill/>
        </p:spPr>
        <p:txBody>
          <a:bodyPr wrap="square" anchor="t" lIns="50800" rIns="50800" tIns="25400" bIns="25400">
            <a:spAutoFit/>
          </a:bodyPr>
          <a:lstStyle/>
          <a:p>
            <a:pPr algn="l">
              <a:lnSpc>
                <a:spcPct val="100000"/>
              </a:lnSpc>
            </a:pPr>
            <a:r>
              <a:rPr sz="1500" b="1" i="0">
                <a:solidFill>
                  <a:srgbClr val="2F86A4"/>
                </a:solidFill>
                <a:latin typeface="Segoe UI Semibold"/>
              </a:rPr>
              <a:t>📱  Ứng dụng Mobile</a:t>
            </a:r>
          </a:p>
        </p:txBody>
      </p:sp>
      <p:sp>
        <p:nvSpPr>
          <p:cNvPr id="11" name="Rounded Rectangle 10"/>
          <p:cNvSpPr/>
          <p:nvPr/>
        </p:nvSpPr>
        <p:spPr>
          <a:xfrm>
            <a:off x="777240" y="2103120"/>
            <a:ext cx="4937760" cy="960120"/>
          </a:xfrm>
          <a:prstGeom prst="roundRect">
            <a:avLst>
              <a:gd name="adj" fmla="val 12000"/>
            </a:avLst>
          </a:prstGeom>
          <a:gradFill>
            <a:gsLst>
              <a:gs pos="0">
                <a:srgbClr val="3E78D6"/>
              </a:gs>
              <a:gs pos="100000">
                <a:srgbClr val="2E93A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194560"/>
            <a:ext cx="4572000" cy="411480"/>
          </a:xfrm>
          <a:prstGeom prst="rect">
            <a:avLst/>
          </a:prstGeom>
          <a:noFill/>
        </p:spPr>
        <p:txBody>
          <a:bodyPr wrap="square" anchor="t" lIns="50800" rIns="50800" tIns="25400" bIns="25400">
            <a:spAutoFit/>
          </a:bodyPr>
          <a:lstStyle/>
          <a:p>
            <a:pPr algn="l">
              <a:lnSpc>
                <a:spcPct val="100000"/>
              </a:lnSpc>
            </a:pPr>
            <a:r>
              <a:rPr sz="1400" b="1" i="0">
                <a:solidFill>
                  <a:srgbClr val="FFFFFF"/>
                </a:solidFill>
                <a:latin typeface="Segoe UI Semibold"/>
              </a:rPr>
              <a:t>1. Tạo phiên QR</a:t>
            </a:r>
          </a:p>
        </p:txBody>
      </p:sp>
      <p:sp>
        <p:nvSpPr>
          <p:cNvPr id="13" name="TextBox 12"/>
          <p:cNvSpPr txBox="1"/>
          <p:nvPr/>
        </p:nvSpPr>
        <p:spPr>
          <a:xfrm>
            <a:off x="960120" y="2606040"/>
            <a:ext cx="4617720" cy="411480"/>
          </a:xfrm>
          <a:prstGeom prst="rect">
            <a:avLst/>
          </a:prstGeom>
          <a:noFill/>
        </p:spPr>
        <p:txBody>
          <a:bodyPr wrap="square" anchor="t" lIns="50800" rIns="50800" tIns="25400" bIns="25400">
            <a:spAutoFit/>
          </a:bodyPr>
          <a:lstStyle/>
          <a:p>
            <a:pPr algn="l">
              <a:lnSpc>
                <a:spcPct val="100000"/>
              </a:lnSpc>
            </a:pPr>
            <a:r>
              <a:rPr sz="1100" b="0" i="0">
                <a:solidFill>
                  <a:srgbClr val="ECECFB"/>
                </a:solidFill>
                <a:latin typeface="Segoe UI"/>
              </a:rPr>
              <a:t>POST /session/qr-login/create → hiển thị mã QR</a:t>
            </a:r>
          </a:p>
        </p:txBody>
      </p:sp>
      <p:sp>
        <p:nvSpPr>
          <p:cNvPr id="14" name="Rounded Rectangle 13"/>
          <p:cNvSpPr/>
          <p:nvPr/>
        </p:nvSpPr>
        <p:spPr>
          <a:xfrm>
            <a:off x="777240" y="3246120"/>
            <a:ext cx="4937760" cy="960120"/>
          </a:xfrm>
          <a:prstGeom prst="roundRect">
            <a:avLst>
              <a:gd name="adj" fmla="val 12000"/>
            </a:avLst>
          </a:prstGeom>
          <a:gradFill>
            <a:gsLst>
              <a:gs pos="0">
                <a:srgbClr val="3E78D6"/>
              </a:gs>
              <a:gs pos="100000">
                <a:srgbClr val="2E93A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337560"/>
            <a:ext cx="4572000" cy="411480"/>
          </a:xfrm>
          <a:prstGeom prst="rect">
            <a:avLst/>
          </a:prstGeom>
          <a:noFill/>
        </p:spPr>
        <p:txBody>
          <a:bodyPr wrap="square" anchor="t" lIns="50800" rIns="50800" tIns="25400" bIns="25400">
            <a:spAutoFit/>
          </a:bodyPr>
          <a:lstStyle/>
          <a:p>
            <a:pPr algn="l">
              <a:lnSpc>
                <a:spcPct val="100000"/>
              </a:lnSpc>
            </a:pPr>
            <a:r>
              <a:rPr sz="1400" b="1" i="0">
                <a:solidFill>
                  <a:srgbClr val="FFFFFF"/>
                </a:solidFill>
                <a:latin typeface="Segoe UI Semibold"/>
              </a:rPr>
              <a:t>2. Chờ trạng thái</a:t>
            </a:r>
          </a:p>
        </p:txBody>
      </p:sp>
      <p:sp>
        <p:nvSpPr>
          <p:cNvPr id="16" name="TextBox 15"/>
          <p:cNvSpPr txBox="1"/>
          <p:nvPr/>
        </p:nvSpPr>
        <p:spPr>
          <a:xfrm>
            <a:off x="960120" y="3749040"/>
            <a:ext cx="4617720" cy="411480"/>
          </a:xfrm>
          <a:prstGeom prst="rect">
            <a:avLst/>
          </a:prstGeom>
          <a:noFill/>
        </p:spPr>
        <p:txBody>
          <a:bodyPr wrap="square" anchor="t" lIns="50800" rIns="50800" tIns="25400" bIns="25400">
            <a:spAutoFit/>
          </a:bodyPr>
          <a:lstStyle/>
          <a:p>
            <a:pPr algn="l">
              <a:lnSpc>
                <a:spcPct val="100000"/>
              </a:lnSpc>
            </a:pPr>
            <a:r>
              <a:rPr sz="1100" b="0" i="0">
                <a:solidFill>
                  <a:srgbClr val="ECECFB"/>
                </a:solidFill>
                <a:latin typeface="Segoe UI"/>
              </a:rPr>
              <a:t>GET /qr-login/status/{sessionId} (polling)</a:t>
            </a:r>
          </a:p>
        </p:txBody>
      </p:sp>
      <p:sp>
        <p:nvSpPr>
          <p:cNvPr id="17" name="Rounded Rectangle 16"/>
          <p:cNvSpPr/>
          <p:nvPr/>
        </p:nvSpPr>
        <p:spPr>
          <a:xfrm>
            <a:off x="777240" y="4389120"/>
            <a:ext cx="4937760" cy="960120"/>
          </a:xfrm>
          <a:prstGeom prst="roundRect">
            <a:avLst>
              <a:gd name="adj" fmla="val 12000"/>
            </a:avLst>
          </a:prstGeom>
          <a:gradFill>
            <a:gsLst>
              <a:gs pos="0">
                <a:srgbClr val="3E78D6"/>
              </a:gs>
              <a:gs pos="100000">
                <a:srgbClr val="2E93A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480560"/>
            <a:ext cx="4572000" cy="411480"/>
          </a:xfrm>
          <a:prstGeom prst="rect">
            <a:avLst/>
          </a:prstGeom>
          <a:noFill/>
        </p:spPr>
        <p:txBody>
          <a:bodyPr wrap="square" anchor="t" lIns="50800" rIns="50800" tIns="25400" bIns="25400">
            <a:spAutoFit/>
          </a:bodyPr>
          <a:lstStyle/>
          <a:p>
            <a:pPr algn="l">
              <a:lnSpc>
                <a:spcPct val="100000"/>
              </a:lnSpc>
            </a:pPr>
            <a:r>
              <a:rPr sz="1400" b="1" i="0">
                <a:solidFill>
                  <a:srgbClr val="FFFFFF"/>
                </a:solidFill>
                <a:latin typeface="Segoe UI Semibold"/>
              </a:rPr>
              <a:t>3. Nhận access token</a:t>
            </a:r>
          </a:p>
        </p:txBody>
      </p:sp>
      <p:sp>
        <p:nvSpPr>
          <p:cNvPr id="19" name="TextBox 18"/>
          <p:cNvSpPr txBox="1"/>
          <p:nvPr/>
        </p:nvSpPr>
        <p:spPr>
          <a:xfrm>
            <a:off x="960120" y="4892040"/>
            <a:ext cx="4617720" cy="411480"/>
          </a:xfrm>
          <a:prstGeom prst="rect">
            <a:avLst/>
          </a:prstGeom>
          <a:noFill/>
        </p:spPr>
        <p:txBody>
          <a:bodyPr wrap="square" anchor="t" lIns="50800" rIns="50800" tIns="25400" bIns="25400">
            <a:spAutoFit/>
          </a:bodyPr>
          <a:lstStyle/>
          <a:p>
            <a:pPr algn="l">
              <a:lnSpc>
                <a:spcPct val="100000"/>
              </a:lnSpc>
            </a:pPr>
            <a:r>
              <a:rPr sz="1100" b="0" i="0">
                <a:solidFill>
                  <a:srgbClr val="ECECFB"/>
                </a:solidFill>
                <a:latin typeface="Segoe UI"/>
              </a:rPr>
              <a:t>GET /qr-login/access-token → đăng nhập web</a:t>
            </a:r>
          </a:p>
        </p:txBody>
      </p:sp>
      <p:sp>
        <p:nvSpPr>
          <p:cNvPr id="20" name="Rounded Rectangle 19"/>
          <p:cNvSpPr/>
          <p:nvPr/>
        </p:nvSpPr>
        <p:spPr>
          <a:xfrm>
            <a:off x="6400800" y="2606040"/>
            <a:ext cx="4937760" cy="960120"/>
          </a:xfrm>
          <a:prstGeom prst="roundRect">
            <a:avLst>
              <a:gd name="adj" fmla="val 12000"/>
            </a:avLst>
          </a:prstGeom>
          <a:gradFill>
            <a:gsLst>
              <a:gs pos="0">
                <a:srgbClr val="2F86A4"/>
              </a:gs>
              <a:gs pos="100000">
                <a:srgbClr val="3A9B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2697480"/>
            <a:ext cx="4572000" cy="411480"/>
          </a:xfrm>
          <a:prstGeom prst="rect">
            <a:avLst/>
          </a:prstGeom>
          <a:noFill/>
        </p:spPr>
        <p:txBody>
          <a:bodyPr wrap="square" anchor="t" lIns="50800" rIns="50800" tIns="25400" bIns="25400">
            <a:spAutoFit/>
          </a:bodyPr>
          <a:lstStyle/>
          <a:p>
            <a:pPr algn="l">
              <a:lnSpc>
                <a:spcPct val="100000"/>
              </a:lnSpc>
            </a:pPr>
            <a:r>
              <a:rPr sz="1400" b="1" i="0">
                <a:solidFill>
                  <a:srgbClr val="FFFFFF"/>
                </a:solidFill>
                <a:latin typeface="Segoe UI Semibold"/>
              </a:rPr>
              <a:t>1. Quét QR</a:t>
            </a:r>
          </a:p>
        </p:txBody>
      </p:sp>
      <p:sp>
        <p:nvSpPr>
          <p:cNvPr id="22" name="TextBox 21"/>
          <p:cNvSpPr txBox="1"/>
          <p:nvPr/>
        </p:nvSpPr>
        <p:spPr>
          <a:xfrm>
            <a:off x="6583680" y="3108960"/>
            <a:ext cx="4617720" cy="411480"/>
          </a:xfrm>
          <a:prstGeom prst="rect">
            <a:avLst/>
          </a:prstGeom>
          <a:noFill/>
        </p:spPr>
        <p:txBody>
          <a:bodyPr wrap="square" anchor="t" lIns="50800" rIns="50800" tIns="25400" bIns="25400">
            <a:spAutoFit/>
          </a:bodyPr>
          <a:lstStyle/>
          <a:p>
            <a:pPr algn="l">
              <a:lnSpc>
                <a:spcPct val="100000"/>
              </a:lnSpc>
            </a:pPr>
            <a:r>
              <a:rPr sz="1100" b="0" i="0">
                <a:solidFill>
                  <a:srgbClr val="ECECFB"/>
                </a:solidFill>
                <a:latin typeface="Segoe UI"/>
              </a:rPr>
              <a:t>Mobile (đã đăng nhập) quét mã bằng Expo Camera</a:t>
            </a:r>
          </a:p>
        </p:txBody>
      </p:sp>
      <p:sp>
        <p:nvSpPr>
          <p:cNvPr id="23" name="Rounded Rectangle 22"/>
          <p:cNvSpPr/>
          <p:nvPr/>
        </p:nvSpPr>
        <p:spPr>
          <a:xfrm>
            <a:off x="6400800" y="4069080"/>
            <a:ext cx="4937760" cy="960120"/>
          </a:xfrm>
          <a:prstGeom prst="roundRect">
            <a:avLst>
              <a:gd name="adj" fmla="val 12000"/>
            </a:avLst>
          </a:prstGeom>
          <a:gradFill>
            <a:gsLst>
              <a:gs pos="0">
                <a:srgbClr val="2F86A4"/>
              </a:gs>
              <a:gs pos="100000">
                <a:srgbClr val="3A9B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4160520"/>
            <a:ext cx="4572000" cy="411480"/>
          </a:xfrm>
          <a:prstGeom prst="rect">
            <a:avLst/>
          </a:prstGeom>
          <a:noFill/>
        </p:spPr>
        <p:txBody>
          <a:bodyPr wrap="square" anchor="t" lIns="50800" rIns="50800" tIns="25400" bIns="25400">
            <a:spAutoFit/>
          </a:bodyPr>
          <a:lstStyle/>
          <a:p>
            <a:pPr algn="l">
              <a:lnSpc>
                <a:spcPct val="100000"/>
              </a:lnSpc>
            </a:pPr>
            <a:r>
              <a:rPr sz="1400" b="1" i="0">
                <a:solidFill>
                  <a:srgbClr val="FFFFFF"/>
                </a:solidFill>
                <a:latin typeface="Segoe UI Semibold"/>
              </a:rPr>
              <a:t>2. Xác nhận</a:t>
            </a:r>
          </a:p>
        </p:txBody>
      </p:sp>
      <p:sp>
        <p:nvSpPr>
          <p:cNvPr id="25" name="TextBox 24"/>
          <p:cNvSpPr txBox="1"/>
          <p:nvPr/>
        </p:nvSpPr>
        <p:spPr>
          <a:xfrm>
            <a:off x="6583680" y="4572000"/>
            <a:ext cx="4617720" cy="411480"/>
          </a:xfrm>
          <a:prstGeom prst="rect">
            <a:avLst/>
          </a:prstGeom>
          <a:noFill/>
        </p:spPr>
        <p:txBody>
          <a:bodyPr wrap="square" anchor="t" lIns="50800" rIns="50800" tIns="25400" bIns="25400">
            <a:spAutoFit/>
          </a:bodyPr>
          <a:lstStyle/>
          <a:p>
            <a:pPr algn="l">
              <a:lnSpc>
                <a:spcPct val="100000"/>
              </a:lnSpc>
            </a:pPr>
            <a:r>
              <a:rPr sz="1100" b="0" i="0">
                <a:solidFill>
                  <a:srgbClr val="ECECFB"/>
                </a:solidFill>
                <a:latin typeface="Segoe UI"/>
              </a:rPr>
              <a:t>POST /qr-login/confirm — chấp thuận phiên</a:t>
            </a:r>
          </a:p>
        </p:txBody>
      </p:sp>
      <p:cxnSp>
        <p:nvCxnSpPr>
          <p:cNvPr id="26" name="Connector 25"/>
          <p:cNvCxnSpPr/>
          <p:nvPr/>
        </p:nvCxnSpPr>
        <p:spPr>
          <a:xfrm>
            <a:off x="5715000" y="3108960"/>
            <a:ext cx="68580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a:off x="5715000" y="4572000"/>
            <a:ext cx="68580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486400" y="2697480"/>
            <a:ext cx="1280160" cy="365760"/>
          </a:xfrm>
          <a:prstGeom prst="rect">
            <a:avLst/>
          </a:prstGeom>
          <a:noFill/>
        </p:spPr>
        <p:txBody>
          <a:bodyPr wrap="square" anchor="t" lIns="50800" rIns="50800" tIns="25400" bIns="25400">
            <a:spAutoFit/>
          </a:bodyPr>
          <a:lstStyle/>
          <a:p>
            <a:pPr algn="ctr">
              <a:lnSpc>
                <a:spcPct val="100000"/>
              </a:lnSpc>
            </a:pPr>
            <a:r>
              <a:rPr sz="1100" b="1" i="0">
                <a:solidFill>
                  <a:srgbClr val="2F62C9"/>
                </a:solidFill>
                <a:latin typeface="Segoe UI"/>
              </a:rPr>
              <a:t>QR</a:t>
            </a:r>
          </a:p>
        </p:txBody>
      </p:sp>
      <p:sp>
        <p:nvSpPr>
          <p:cNvPr id="29" name="TextBox 28"/>
          <p:cNvSpPr txBox="1"/>
          <p:nvPr/>
        </p:nvSpPr>
        <p:spPr>
          <a:xfrm>
            <a:off x="5486400" y="4709160"/>
            <a:ext cx="1280160" cy="365760"/>
          </a:xfrm>
          <a:prstGeom prst="rect">
            <a:avLst/>
          </a:prstGeom>
          <a:noFill/>
        </p:spPr>
        <p:txBody>
          <a:bodyPr wrap="square" anchor="t" lIns="50800" rIns="50800" tIns="25400" bIns="25400">
            <a:spAutoFit/>
          </a:bodyPr>
          <a:lstStyle/>
          <a:p>
            <a:pPr algn="ctr">
              <a:lnSpc>
                <a:spcPct val="100000"/>
              </a:lnSpc>
            </a:pPr>
            <a:r>
              <a:rPr sz="1000" b="1" i="0">
                <a:solidFill>
                  <a:srgbClr val="2F62C9"/>
                </a:solidFill>
                <a:latin typeface="Segoe UI"/>
              </a:rPr>
              <a:t>confirm</a:t>
            </a:r>
          </a:p>
        </p:txBody>
      </p:sp>
      <p:sp>
        <p:nvSpPr>
          <p:cNvPr id="30" name="Rounded Rectangle 29"/>
          <p:cNvSpPr/>
          <p:nvPr/>
        </p:nvSpPr>
        <p:spPr>
          <a:xfrm>
            <a:off x="777240" y="5577840"/>
            <a:ext cx="10561320" cy="566928"/>
          </a:xfrm>
          <a:prstGeom prst="roundRect">
            <a:avLst>
              <a:gd name="adj" fmla="val 2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5559552"/>
            <a:ext cx="10332720" cy="603504"/>
          </a:xfrm>
          <a:prstGeom prst="rect">
            <a:avLst/>
          </a:prstGeom>
          <a:noFill/>
        </p:spPr>
        <p:txBody>
          <a:bodyPr wrap="square" anchor="ctr" lIns="50800" rIns="50800" tIns="25400" bIns="25400">
            <a:spAutoFit/>
          </a:bodyPr>
          <a:lstStyle/>
          <a:p>
            <a:pPr algn="l">
              <a:lnSpc>
                <a:spcPct val="100000"/>
              </a:lnSpc>
            </a:pPr>
            <a:r>
              <a:rPr sz="1200" b="0" i="0">
                <a:solidFill>
                  <a:srgbClr val="23426B"/>
                </a:solidFill>
                <a:latin typeface="Segoe UI"/>
              </a:rPr>
              <a:t>🔐  Kết quả: phiên web được cấp access token sau khi mobile xác nhận — không cần nhập lại mật khẩu trên web.</a:t>
            </a:r>
          </a:p>
        </p:txBody>
      </p:sp>
      <p:sp>
        <p:nvSpPr>
          <p:cNvPr id="32" name="TextBox 31"/>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3" name="Rounded Rectangle 32"/>
          <p:cNvSpPr/>
          <p:nvPr/>
        </p:nvSpPr>
        <p:spPr>
          <a:xfrm>
            <a:off x="11247120" y="6382512"/>
            <a:ext cx="502920" cy="310896"/>
          </a:xfrm>
          <a:prstGeom prst="roundRect">
            <a:avLst>
              <a:gd name="adj" fmla="val 50000"/>
            </a:avLst>
          </a:prstGeom>
          <a:gradFill>
            <a:gsLst>
              <a:gs pos="0">
                <a:srgbClr val="2E93AE"/>
              </a:gs>
              <a:gs pos="100000">
                <a:srgbClr val="6CB3C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art 4"/>
          <p:cNvSpPr/>
          <p:nvPr/>
        </p:nvSpPr>
        <p:spPr>
          <a:xfrm>
            <a:off x="9921240" y="0"/>
            <a:ext cx="2103120" cy="2103120"/>
          </a:xfrm>
          <a:prstGeom prst="hear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3E78D6"/>
              </a:gs>
              <a:gs pos="100000">
                <a:srgbClr val="94B4E8"/>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3E78D6"/>
                </a:solidFill>
                <a:latin typeface="Segoe UI Semibold"/>
              </a:rPr>
              <a:t>MODULE · FEED</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Bảng tin mạng xã hội</a:t>
            </a:r>
          </a:p>
        </p:txBody>
      </p:sp>
      <p:sp>
        <p:nvSpPr>
          <p:cNvPr id="9" name="Rounded Rectangle 8"/>
          <p:cNvSpPr/>
          <p:nvPr/>
        </p:nvSpPr>
        <p:spPr>
          <a:xfrm>
            <a:off x="777240" y="1783080"/>
            <a:ext cx="5212080"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Bài viết</a:t>
            </a:r>
          </a:p>
        </p:txBody>
      </p:sp>
      <p:sp>
        <p:nvSpPr>
          <p:cNvPr id="14" name="TextBox 13"/>
          <p:cNvSpPr txBox="1"/>
          <p:nvPr/>
        </p:nvSpPr>
        <p:spPr>
          <a:xfrm>
            <a:off x="960120" y="3081528"/>
            <a:ext cx="4846320" cy="59436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Tạo, sửa, xóa, xem bài viết; feed theo hồ sơ người dùng.</a:t>
            </a:r>
          </a:p>
        </p:txBody>
      </p:sp>
      <p:sp>
        <p:nvSpPr>
          <p:cNvPr id="15" name="Rounded Rectangle 14"/>
          <p:cNvSpPr/>
          <p:nvPr/>
        </p:nvSpPr>
        <p:spPr>
          <a:xfrm>
            <a:off x="6172200" y="1783080"/>
            <a:ext cx="5212080"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1783080"/>
            <a:ext cx="5212080"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3368"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635508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Upload Media</a:t>
            </a:r>
          </a:p>
        </p:txBody>
      </p:sp>
      <p:sp>
        <p:nvSpPr>
          <p:cNvPr id="20" name="TextBox 19"/>
          <p:cNvSpPr txBox="1"/>
          <p:nvPr/>
        </p:nvSpPr>
        <p:spPr>
          <a:xfrm>
            <a:off x="6355080" y="3081528"/>
            <a:ext cx="4846320" cy="59436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Tải media qua luồng presigned URL (POST /posts/upload-url).</a:t>
            </a:r>
          </a:p>
        </p:txBody>
      </p:sp>
      <p:sp>
        <p:nvSpPr>
          <p:cNvPr id="21" name="Rounded Rectangle 20"/>
          <p:cNvSpPr/>
          <p:nvPr/>
        </p:nvSpPr>
        <p:spPr>
          <a:xfrm>
            <a:off x="777240" y="3931920"/>
            <a:ext cx="5212080"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931920"/>
            <a:ext cx="5212080"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 y="418795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960120" y="486460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Tương tác</a:t>
            </a:r>
          </a:p>
        </p:txBody>
      </p:sp>
      <p:sp>
        <p:nvSpPr>
          <p:cNvPr id="26" name="TextBox 25"/>
          <p:cNvSpPr txBox="1"/>
          <p:nvPr/>
        </p:nvSpPr>
        <p:spPr>
          <a:xfrm>
            <a:off x="960120" y="5230368"/>
            <a:ext cx="4846320" cy="59436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Bình luận, trả lời lồng nhau, cảm xúc (reactions), bài đã lưu.</a:t>
            </a:r>
          </a:p>
        </p:txBody>
      </p:sp>
      <p:sp>
        <p:nvSpPr>
          <p:cNvPr id="27" name="Rounded Rectangle 26"/>
          <p:cNvSpPr/>
          <p:nvPr/>
        </p:nvSpPr>
        <p:spPr>
          <a:xfrm>
            <a:off x="6172200" y="3931920"/>
            <a:ext cx="5212080"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72200" y="3931920"/>
            <a:ext cx="5212080" cy="109728"/>
          </a:xfrm>
          <a:prstGeom prst="roundRect">
            <a:avLst>
              <a:gd name="adj" fmla="val 50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73368" y="4187952"/>
            <a:ext cx="603504" cy="603504"/>
          </a:xfrm>
          <a:prstGeom prst="roundRect">
            <a:avLst>
              <a:gd name="adj" fmla="val 30000"/>
            </a:avLst>
          </a:prstGeom>
          <a:gradFill>
            <a:gsLst>
              <a:gs pos="0">
                <a:srgbClr val="2F62C9"/>
              </a:gs>
              <a:gs pos="100000">
                <a:srgbClr val="5470CE"/>
              </a:gs>
            </a:gsLst>
            <a:lin ang="2700000" scaled="1"/>
          </a:gradFill>
          <a:ln>
            <a:noFill/>
          </a:ln>
          <a:effectLst>
            <a:outerShdw blurRad="54864" dist="36576" dir="5400000" rotWithShape="0">
              <a:srgbClr val="2F62C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6355080" y="486460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Tagged &amp; Saved</a:t>
            </a:r>
          </a:p>
        </p:txBody>
      </p:sp>
      <p:sp>
        <p:nvSpPr>
          <p:cNvPr id="32" name="TextBox 31"/>
          <p:cNvSpPr txBox="1"/>
          <p:nvPr/>
        </p:nvSpPr>
        <p:spPr>
          <a:xfrm>
            <a:off x="6355080" y="5230368"/>
            <a:ext cx="4846320" cy="594360"/>
          </a:xfrm>
          <a:prstGeom prst="rect">
            <a:avLst/>
          </a:prstGeom>
          <a:noFill/>
        </p:spPr>
        <p:txBody>
          <a:bodyPr wrap="square" anchor="t" lIns="50800" rIns="50800" tIns="25400" bIns="25400">
            <a:spAutoFit/>
          </a:bodyPr>
          <a:lstStyle/>
          <a:p>
            <a:pPr algn="l">
              <a:lnSpc>
                <a:spcPct val="105000"/>
              </a:lnSpc>
            </a:pPr>
            <a:r>
              <a:rPr sz="1250" b="0" i="0">
                <a:solidFill>
                  <a:srgbClr val="23426B"/>
                </a:solidFill>
                <a:latin typeface="Segoe UI"/>
              </a:rPr>
              <a:t>Bài được gắn thẻ và bộ sưu tập bài đã lưu của người dùng.</a:t>
            </a:r>
          </a:p>
        </p:txBody>
      </p:sp>
      <p:sp>
        <p:nvSpPr>
          <p:cNvPr id="33" name="Rounded Rectangle 32"/>
          <p:cNvSpPr/>
          <p:nvPr/>
        </p:nvSpPr>
        <p:spPr>
          <a:xfrm>
            <a:off x="777240" y="5897880"/>
            <a:ext cx="2057400"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885180"/>
            <a:ext cx="2057400" cy="384048"/>
          </a:xfrm>
          <a:prstGeom prst="rect">
            <a:avLst/>
          </a:prstGeom>
          <a:noFill/>
        </p:spPr>
        <p:txBody>
          <a:bodyPr wrap="square" anchor="ctr" lIns="50800" rIns="50800" tIns="25400" bIns="25400">
            <a:spAutoFit/>
          </a:bodyPr>
          <a:lstStyle/>
          <a:p>
            <a:pPr algn="ctr">
              <a:lnSpc>
                <a:spcPct val="100000"/>
              </a:lnSpc>
            </a:pPr>
            <a:r>
              <a:rPr sz="1050" b="1" i="0">
                <a:solidFill>
                  <a:srgbClr val="2E93AE"/>
                </a:solidFill>
                <a:latin typeface="Segoe UI Semibold"/>
              </a:rPr>
              <a:t>/api/posts</a:t>
            </a:r>
          </a:p>
        </p:txBody>
      </p:sp>
      <p:sp>
        <p:nvSpPr>
          <p:cNvPr id="35" name="Rounded Rectangle 34"/>
          <p:cNvSpPr/>
          <p:nvPr/>
        </p:nvSpPr>
        <p:spPr>
          <a:xfrm>
            <a:off x="2926080" y="5897880"/>
            <a:ext cx="2057400"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26080" y="5885180"/>
            <a:ext cx="2057400" cy="384048"/>
          </a:xfrm>
          <a:prstGeom prst="rect">
            <a:avLst/>
          </a:prstGeom>
          <a:noFill/>
        </p:spPr>
        <p:txBody>
          <a:bodyPr wrap="square" anchor="ctr" lIns="50800" rIns="50800" tIns="25400" bIns="25400">
            <a:spAutoFit/>
          </a:bodyPr>
          <a:lstStyle/>
          <a:p>
            <a:pPr algn="ctr">
              <a:lnSpc>
                <a:spcPct val="100000"/>
              </a:lnSpc>
            </a:pPr>
            <a:r>
              <a:rPr sz="1050" b="1" i="0">
                <a:solidFill>
                  <a:srgbClr val="2E93AE"/>
                </a:solidFill>
                <a:latin typeface="Segoe UI Semibold"/>
              </a:rPr>
              <a:t>/api/comments</a:t>
            </a:r>
          </a:p>
        </p:txBody>
      </p:sp>
      <p:sp>
        <p:nvSpPr>
          <p:cNvPr id="37" name="Rounded Rectangle 36"/>
          <p:cNvSpPr/>
          <p:nvPr/>
        </p:nvSpPr>
        <p:spPr>
          <a:xfrm>
            <a:off x="5074920" y="5897880"/>
            <a:ext cx="2057400"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74920" y="5885180"/>
            <a:ext cx="2057400" cy="384048"/>
          </a:xfrm>
          <a:prstGeom prst="rect">
            <a:avLst/>
          </a:prstGeom>
          <a:noFill/>
        </p:spPr>
        <p:txBody>
          <a:bodyPr wrap="square" anchor="ctr" lIns="50800" rIns="50800" tIns="25400" bIns="25400">
            <a:spAutoFit/>
          </a:bodyPr>
          <a:lstStyle/>
          <a:p>
            <a:pPr algn="ctr">
              <a:lnSpc>
                <a:spcPct val="100000"/>
              </a:lnSpc>
            </a:pPr>
            <a:r>
              <a:rPr sz="1050" b="1" i="0">
                <a:solidFill>
                  <a:srgbClr val="2E93AE"/>
                </a:solidFill>
                <a:latin typeface="Segoe UI Semibold"/>
              </a:rPr>
              <a:t>/api/reactions/toggle</a:t>
            </a:r>
          </a:p>
        </p:txBody>
      </p:sp>
      <p:sp>
        <p:nvSpPr>
          <p:cNvPr id="39" name="Rounded Rectangle 38"/>
          <p:cNvSpPr/>
          <p:nvPr/>
        </p:nvSpPr>
        <p:spPr>
          <a:xfrm>
            <a:off x="7223760" y="5897880"/>
            <a:ext cx="2057400"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223760" y="5885180"/>
            <a:ext cx="2057400" cy="384048"/>
          </a:xfrm>
          <a:prstGeom prst="rect">
            <a:avLst/>
          </a:prstGeom>
          <a:noFill/>
        </p:spPr>
        <p:txBody>
          <a:bodyPr wrap="square" anchor="ctr" lIns="50800" rIns="50800" tIns="25400" bIns="25400">
            <a:spAutoFit/>
          </a:bodyPr>
          <a:lstStyle/>
          <a:p>
            <a:pPr algn="ctr">
              <a:lnSpc>
                <a:spcPct val="100000"/>
              </a:lnSpc>
            </a:pPr>
            <a:r>
              <a:rPr sz="1050" b="1" i="0">
                <a:solidFill>
                  <a:srgbClr val="2E93AE"/>
                </a:solidFill>
                <a:latin typeface="Segoe UI Semibold"/>
              </a:rPr>
              <a:t>/api/saved-posts/toggle</a:t>
            </a:r>
          </a:p>
        </p:txBody>
      </p:sp>
      <p:sp>
        <p:nvSpPr>
          <p:cNvPr id="41" name="Rounded Rectangle 40"/>
          <p:cNvSpPr/>
          <p:nvPr/>
        </p:nvSpPr>
        <p:spPr>
          <a:xfrm>
            <a:off x="9372600" y="5897880"/>
            <a:ext cx="2057400"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372600" y="5885180"/>
            <a:ext cx="2057400" cy="384048"/>
          </a:xfrm>
          <a:prstGeom prst="rect">
            <a:avLst/>
          </a:prstGeom>
          <a:noFill/>
        </p:spPr>
        <p:txBody>
          <a:bodyPr wrap="square" anchor="ctr" lIns="50800" rIns="50800" tIns="25400" bIns="25400">
            <a:spAutoFit/>
          </a:bodyPr>
          <a:lstStyle/>
          <a:p>
            <a:pPr algn="ctr">
              <a:lnSpc>
                <a:spcPct val="100000"/>
              </a:lnSpc>
            </a:pPr>
            <a:r>
              <a:rPr sz="1050" b="1" i="0">
                <a:solidFill>
                  <a:srgbClr val="2E93AE"/>
                </a:solidFill>
                <a:latin typeface="Segoe UI Semibold"/>
              </a:rPr>
              <a:t>/api/posts/tagged/{id}</a:t>
            </a:r>
          </a:p>
        </p:txBody>
      </p:sp>
      <p:sp>
        <p:nvSpPr>
          <p:cNvPr id="43" name="TextBox 42"/>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4" name="Rounded Rectangle 43"/>
          <p:cNvSpPr/>
          <p:nvPr/>
        </p:nvSpPr>
        <p:spPr>
          <a:xfrm>
            <a:off x="11247120" y="6382512"/>
            <a:ext cx="502920" cy="310896"/>
          </a:xfrm>
          <a:prstGeom prst="roundRect">
            <a:avLst>
              <a:gd name="adj" fmla="val 50000"/>
            </a:avLst>
          </a:prstGeom>
          <a:gradFill>
            <a:gsLst>
              <a:gs pos="0">
                <a:srgbClr val="3E78D6"/>
              </a:gs>
              <a:gs pos="100000">
                <a:srgbClr val="77A0E2"/>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Callout 4"/>
          <p:cNvSpPr/>
          <p:nvPr/>
        </p:nvSpPr>
        <p:spPr>
          <a:xfrm>
            <a:off x="9784080" y="137160"/>
            <a:ext cx="2377440" cy="1828800"/>
          </a:xfrm>
          <a:prstGeom prst="wedgeEllipse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8FBDEE"/>
              </a:gs>
              <a:gs pos="100000">
                <a:srgbClr val="C1DAF5"/>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8FBDEE"/>
                </a:solidFill>
                <a:latin typeface="Segoe UI Semibold"/>
              </a:rPr>
              <a:t>MODULE · STORIES</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Stories &amp; Trải nghiệm hồ sơ</a:t>
            </a:r>
          </a:p>
        </p:txBody>
      </p:sp>
      <p:sp>
        <p:nvSpPr>
          <p:cNvPr id="9" name="Rounded Rectangle 8"/>
          <p:cNvSpPr/>
          <p:nvPr/>
        </p:nvSpPr>
        <p:spPr>
          <a:xfrm>
            <a:off x="777240" y="1783080"/>
            <a:ext cx="5212080" cy="41605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658368"/>
          </a:xfrm>
          <a:prstGeom prst="roundRect">
            <a:avLst>
              <a:gd name="adj" fmla="val 10000"/>
            </a:avLst>
          </a:prstGeom>
          <a:gradFill>
            <a:gsLst>
              <a:gs pos="0">
                <a:srgbClr val="8FBDEE"/>
              </a:gs>
              <a:gs pos="100000">
                <a:srgbClr val="2A4A93"/>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658368"/>
          </a:xfrm>
          <a:prstGeom prst="rect">
            <a:avLst/>
          </a:prstGeom>
          <a:noFill/>
        </p:spPr>
        <p:txBody>
          <a:bodyPr wrap="square" anchor="ctr" lIns="50800" rIns="50800" tIns="25400" bIns="25400">
            <a:spAutoFit/>
          </a:bodyPr>
          <a:lstStyle/>
          <a:p>
            <a:pPr algn="ctr">
              <a:lnSpc>
                <a:spcPct val="100000"/>
              </a:lnSpc>
            </a:pPr>
            <a:r>
              <a:rPr sz="1800" b="1" i="0">
                <a:solidFill>
                  <a:srgbClr val="FFFFFF"/>
                </a:solidFill>
                <a:latin typeface="Segoe UI Semibold"/>
              </a:rPr>
              <a:t>📸  Stories</a:t>
            </a:r>
          </a:p>
        </p:txBody>
      </p:sp>
      <p:sp>
        <p:nvSpPr>
          <p:cNvPr id="12" name="TextBox 11"/>
          <p:cNvSpPr txBox="1"/>
          <p:nvPr/>
        </p:nvSpPr>
        <p:spPr>
          <a:xfrm>
            <a:off x="1005840" y="2697480"/>
            <a:ext cx="4800600" cy="3108960"/>
          </a:xfrm>
          <a:prstGeom prst="rect">
            <a:avLst/>
          </a:prstGeom>
          <a:noFill/>
        </p:spPr>
        <p:txBody>
          <a:bodyPr wrap="square" lIns="25400" rIns="25400">
            <a:spAutoFit/>
          </a:bodyPr>
          <a:lstStyle/>
          <a:p>
            <a:pPr>
              <a:lnSpc>
                <a:spcPct val="105000"/>
              </a:lnSpc>
              <a:spcAft>
                <a:spcPts val="1200"/>
              </a:spcAft>
            </a:pPr>
            <a:r>
              <a:rPr sz="1400" b="1">
                <a:solidFill>
                  <a:srgbClr val="8FBDEE"/>
                </a:solidFill>
                <a:latin typeface="Segoe UI"/>
              </a:rPr>
              <a:t>▸  </a:t>
            </a:r>
            <a:r>
              <a:rPr sz="1400">
                <a:solidFill>
                  <a:srgbClr val="23426B"/>
                </a:solidFill>
                <a:latin typeface="Segoe UI"/>
              </a:rPr>
              <a:t>Tạo story &amp; lấy feed story</a:t>
            </a:r>
          </a:p>
          <a:p>
            <a:pPr>
              <a:lnSpc>
                <a:spcPct val="105000"/>
              </a:lnSpc>
              <a:spcAft>
                <a:spcPts val="1200"/>
              </a:spcAft>
            </a:pPr>
            <a:r>
              <a:rPr sz="1400" b="1">
                <a:solidFill>
                  <a:srgbClr val="8FBDEE"/>
                </a:solidFill>
                <a:latin typeface="Segoe UI"/>
              </a:rPr>
              <a:t>▸  </a:t>
            </a:r>
            <a:r>
              <a:rPr sz="1400">
                <a:solidFill>
                  <a:srgbClr val="23426B"/>
                </a:solidFill>
                <a:latin typeface="Segoe UI"/>
              </a:rPr>
              <a:t>Danh sách người xem story</a:t>
            </a:r>
          </a:p>
          <a:p>
            <a:pPr>
              <a:lnSpc>
                <a:spcPct val="105000"/>
              </a:lnSpc>
              <a:spcAft>
                <a:spcPts val="1200"/>
              </a:spcAft>
            </a:pPr>
            <a:r>
              <a:rPr sz="1400" b="1">
                <a:solidFill>
                  <a:srgbClr val="8FBDEE"/>
                </a:solidFill>
                <a:latin typeface="Segoe UI"/>
              </a:rPr>
              <a:t>▸  </a:t>
            </a:r>
            <a:r>
              <a:rPr sz="1400">
                <a:solidFill>
                  <a:srgbClr val="23426B"/>
                </a:solidFill>
                <a:latin typeface="Segoe UI"/>
              </a:rPr>
              <a:t>Reaction trên story</a:t>
            </a:r>
          </a:p>
          <a:p>
            <a:pPr>
              <a:lnSpc>
                <a:spcPct val="105000"/>
              </a:lnSpc>
              <a:spcAft>
                <a:spcPts val="1200"/>
              </a:spcAft>
            </a:pPr>
            <a:r>
              <a:rPr sz="1400" b="1">
                <a:solidFill>
                  <a:srgbClr val="8FBDEE"/>
                </a:solidFill>
                <a:latin typeface="Segoe UI"/>
              </a:rPr>
              <a:t>▸  </a:t>
            </a:r>
            <a:r>
              <a:rPr sz="1400">
                <a:solidFill>
                  <a:srgbClr val="23426B"/>
                </a:solidFill>
                <a:latin typeface="Segoe UI"/>
              </a:rPr>
              <a:t>Highlights (lưu nổi bật)</a:t>
            </a:r>
          </a:p>
          <a:p>
            <a:pPr>
              <a:lnSpc>
                <a:spcPct val="105000"/>
              </a:lnSpc>
              <a:spcAft>
                <a:spcPts val="1200"/>
              </a:spcAft>
            </a:pPr>
            <a:r>
              <a:rPr sz="1400" b="1">
                <a:solidFill>
                  <a:srgbClr val="8FBDEE"/>
                </a:solidFill>
                <a:latin typeface="Segoe UI"/>
              </a:rPr>
              <a:t>▸  </a:t>
            </a:r>
            <a:r>
              <a:rPr sz="1400">
                <a:solidFill>
                  <a:srgbClr val="23426B"/>
                </a:solidFill>
                <a:latin typeface="Segoe UI"/>
              </a:rPr>
              <a:t>Xóa story</a:t>
            </a:r>
          </a:p>
        </p:txBody>
      </p:sp>
      <p:sp>
        <p:nvSpPr>
          <p:cNvPr id="13" name="Rounded Rectangle 12"/>
          <p:cNvSpPr/>
          <p:nvPr/>
        </p:nvSpPr>
        <p:spPr>
          <a:xfrm>
            <a:off x="6172200" y="1783080"/>
            <a:ext cx="5212080" cy="41605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72200" y="1783080"/>
            <a:ext cx="5212080" cy="658368"/>
          </a:xfrm>
          <a:prstGeom prst="roundRect">
            <a:avLst>
              <a:gd name="adj" fmla="val 1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783080"/>
            <a:ext cx="5212080" cy="658368"/>
          </a:xfrm>
          <a:prstGeom prst="rect">
            <a:avLst/>
          </a:prstGeom>
          <a:noFill/>
        </p:spPr>
        <p:txBody>
          <a:bodyPr wrap="square" anchor="ctr" lIns="50800" rIns="50800" tIns="25400" bIns="25400">
            <a:spAutoFit/>
          </a:bodyPr>
          <a:lstStyle/>
          <a:p>
            <a:pPr algn="ctr">
              <a:lnSpc>
                <a:spcPct val="100000"/>
              </a:lnSpc>
            </a:pPr>
            <a:r>
              <a:rPr sz="1800" b="1" i="0">
                <a:solidFill>
                  <a:srgbClr val="FFFFFF"/>
                </a:solidFill>
                <a:latin typeface="Segoe UI Semibold"/>
              </a:rPr>
              <a:t>👤  Hồ sơ</a:t>
            </a:r>
          </a:p>
        </p:txBody>
      </p:sp>
      <p:sp>
        <p:nvSpPr>
          <p:cNvPr id="16" name="TextBox 15"/>
          <p:cNvSpPr txBox="1"/>
          <p:nvPr/>
        </p:nvSpPr>
        <p:spPr>
          <a:xfrm>
            <a:off x="6400800" y="2697480"/>
            <a:ext cx="4800600" cy="3108960"/>
          </a:xfrm>
          <a:prstGeom prst="rect">
            <a:avLst/>
          </a:prstGeom>
          <a:noFill/>
        </p:spPr>
        <p:txBody>
          <a:bodyPr wrap="square" lIns="25400" rIns="25400">
            <a:spAutoFit/>
          </a:bodyPr>
          <a:lstStyle/>
          <a:p>
            <a:pPr>
              <a:lnSpc>
                <a:spcPct val="105000"/>
              </a:lnSpc>
              <a:spcAft>
                <a:spcPts val="1200"/>
              </a:spcAft>
            </a:pPr>
            <a:r>
              <a:rPr sz="1400" b="1">
                <a:solidFill>
                  <a:srgbClr val="7A82E6"/>
                </a:solidFill>
                <a:latin typeface="Segoe UI"/>
              </a:rPr>
              <a:t>▸  </a:t>
            </a:r>
            <a:r>
              <a:rPr sz="1400">
                <a:solidFill>
                  <a:srgbClr val="23426B"/>
                </a:solidFill>
                <a:latin typeface="Segoe UI"/>
              </a:rPr>
              <a:t>Trang hồ sơ: bài viết, bài đã lưu, bài gắn thẻ</a:t>
            </a:r>
          </a:p>
          <a:p>
            <a:pPr>
              <a:lnSpc>
                <a:spcPct val="105000"/>
              </a:lnSpc>
              <a:spcAft>
                <a:spcPts val="1200"/>
              </a:spcAft>
            </a:pPr>
            <a:r>
              <a:rPr sz="1400" b="1">
                <a:solidFill>
                  <a:srgbClr val="7A82E6"/>
                </a:solidFill>
                <a:latin typeface="Segoe UI"/>
              </a:rPr>
              <a:t>▸  </a:t>
            </a:r>
            <a:r>
              <a:rPr sz="1400">
                <a:solidFill>
                  <a:srgbClr val="23426B"/>
                </a:solidFill>
                <a:latin typeface="Segoe UI"/>
              </a:rPr>
              <a:t>Danh sách người bị chặn</a:t>
            </a:r>
          </a:p>
          <a:p>
            <a:pPr>
              <a:lnSpc>
                <a:spcPct val="105000"/>
              </a:lnSpc>
              <a:spcAft>
                <a:spcPts val="1200"/>
              </a:spcAft>
            </a:pPr>
            <a:r>
              <a:rPr sz="1400" b="1">
                <a:solidFill>
                  <a:srgbClr val="7A82E6"/>
                </a:solidFill>
                <a:latin typeface="Segoe UI"/>
              </a:rPr>
              <a:t>▸  </a:t>
            </a:r>
            <a:r>
              <a:rPr sz="1400">
                <a:solidFill>
                  <a:srgbClr val="23426B"/>
                </a:solidFill>
                <a:latin typeface="Segoe UI"/>
              </a:rPr>
              <a:t>Chỉnh sửa thông tin tài khoản</a:t>
            </a:r>
          </a:p>
          <a:p>
            <a:pPr>
              <a:lnSpc>
                <a:spcPct val="105000"/>
              </a:lnSpc>
              <a:spcAft>
                <a:spcPts val="1200"/>
              </a:spcAft>
            </a:pPr>
            <a:r>
              <a:rPr sz="1400" b="1">
                <a:solidFill>
                  <a:srgbClr val="7A82E6"/>
                </a:solidFill>
                <a:latin typeface="Segoe UI"/>
              </a:rPr>
              <a:t>▸  </a:t>
            </a:r>
            <a:r>
              <a:rPr sz="1400">
                <a:solidFill>
                  <a:srgbClr val="23426B"/>
                </a:solidFill>
                <a:latin typeface="Segoe UI"/>
              </a:rPr>
              <a:t>Quyền riêng tư hồ sơ (Profile privacy)</a:t>
            </a:r>
          </a:p>
          <a:p>
            <a:pPr>
              <a:lnSpc>
                <a:spcPct val="105000"/>
              </a:lnSpc>
              <a:spcAft>
                <a:spcPts val="1200"/>
              </a:spcAft>
            </a:pPr>
            <a:r>
              <a:rPr sz="1400" b="1">
                <a:solidFill>
                  <a:srgbClr val="7A82E6"/>
                </a:solidFill>
                <a:latin typeface="Segoe UI"/>
              </a:rPr>
              <a:t>▸  </a:t>
            </a:r>
            <a:r>
              <a:rPr sz="1400">
                <a:solidFill>
                  <a:srgbClr val="23426B"/>
                </a:solidFill>
                <a:latin typeface="Segoe UI"/>
              </a:rPr>
              <a:t>Hiển thị ngày sinh &amp; giới tính</a:t>
            </a:r>
          </a:p>
        </p:txBody>
      </p:sp>
      <p:sp>
        <p:nvSpPr>
          <p:cNvPr id="17" name="TextBox 16"/>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18" name="Rounded Rectangle 17"/>
          <p:cNvSpPr/>
          <p:nvPr/>
        </p:nvSpPr>
        <p:spPr>
          <a:xfrm>
            <a:off x="11247120" y="6382512"/>
            <a:ext cx="502920" cy="310896"/>
          </a:xfrm>
          <a:prstGeom prst="roundRect">
            <a:avLst>
              <a:gd name="adj" fmla="val 50000"/>
            </a:avLst>
          </a:prstGeom>
          <a:gradFill>
            <a:gsLst>
              <a:gs pos="0">
                <a:srgbClr val="8FBDEE"/>
              </a:gs>
              <a:gs pos="100000">
                <a:srgbClr val="B0D0F3"/>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ular Callout 4"/>
          <p:cNvSpPr/>
          <p:nvPr/>
        </p:nvSpPr>
        <p:spPr>
          <a:xfrm>
            <a:off x="9784080" y="137160"/>
            <a:ext cx="2377440" cy="1828800"/>
          </a:xfrm>
          <a:prstGeom prst="wedgeRoundRect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F86A4"/>
              </a:gs>
              <a:gs pos="100000">
                <a:srgbClr val="8CBCCC"/>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F86A4"/>
                </a:solidFill>
                <a:latin typeface="Segoe UI Semibold"/>
              </a:rPr>
              <a:t>MODULE · SOCIAL GRAPH</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Bạn bè · Chặn · Trang (Pages)</a:t>
            </a:r>
          </a:p>
        </p:txBody>
      </p:sp>
      <p:sp>
        <p:nvSpPr>
          <p:cNvPr id="9" name="Rounded Rectangle 8"/>
          <p:cNvSpPr/>
          <p:nvPr/>
        </p:nvSpPr>
        <p:spPr>
          <a:xfrm>
            <a:off x="777240" y="1783080"/>
            <a:ext cx="5212080" cy="41605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658368"/>
          </a:xfrm>
          <a:prstGeom prst="roundRect">
            <a:avLst>
              <a:gd name="adj" fmla="val 10000"/>
            </a:avLst>
          </a:prstGeom>
          <a:gradFill>
            <a:gsLst>
              <a:gs pos="0">
                <a:srgbClr val="3A9BCE"/>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5212080" cy="658368"/>
          </a:xfrm>
          <a:prstGeom prst="rect">
            <a:avLst/>
          </a:prstGeom>
          <a:noFill/>
        </p:spPr>
        <p:txBody>
          <a:bodyPr wrap="square" anchor="ctr" lIns="50800" rIns="50800" tIns="25400" bIns="25400">
            <a:spAutoFit/>
          </a:bodyPr>
          <a:lstStyle/>
          <a:p>
            <a:pPr algn="ctr">
              <a:lnSpc>
                <a:spcPct val="100000"/>
              </a:lnSpc>
            </a:pPr>
            <a:r>
              <a:rPr sz="1800" b="1" i="0">
                <a:solidFill>
                  <a:srgbClr val="FFFFFF"/>
                </a:solidFill>
                <a:latin typeface="Segoe UI Semibold"/>
              </a:rPr>
              <a:t>👥  Bạn bè &amp; Chặn</a:t>
            </a:r>
          </a:p>
        </p:txBody>
      </p:sp>
      <p:sp>
        <p:nvSpPr>
          <p:cNvPr id="12" name="TextBox 11"/>
          <p:cNvSpPr txBox="1"/>
          <p:nvPr/>
        </p:nvSpPr>
        <p:spPr>
          <a:xfrm>
            <a:off x="1005840" y="2697480"/>
            <a:ext cx="4800600" cy="3108960"/>
          </a:xfrm>
          <a:prstGeom prst="rect">
            <a:avLst/>
          </a:prstGeom>
          <a:noFill/>
        </p:spPr>
        <p:txBody>
          <a:bodyPr wrap="square" lIns="25400" rIns="25400">
            <a:spAutoFit/>
          </a:bodyPr>
          <a:lstStyle/>
          <a:p>
            <a:pPr>
              <a:lnSpc>
                <a:spcPct val="105000"/>
              </a:lnSpc>
              <a:spcAft>
                <a:spcPts val="1100"/>
              </a:spcAft>
            </a:pPr>
            <a:r>
              <a:rPr sz="1350" b="1">
                <a:solidFill>
                  <a:srgbClr val="2E93AE"/>
                </a:solidFill>
                <a:latin typeface="Segoe UI"/>
              </a:rPr>
              <a:t>▸  </a:t>
            </a:r>
            <a:r>
              <a:rPr sz="1350">
                <a:solidFill>
                  <a:srgbClr val="23426B"/>
                </a:solidFill>
                <a:latin typeface="Segoe UI"/>
              </a:rPr>
              <a:t>Gửi, chấp nhận, từ chối, hủy lời mời kết bạn</a:t>
            </a:r>
          </a:p>
          <a:p>
            <a:pPr>
              <a:lnSpc>
                <a:spcPct val="105000"/>
              </a:lnSpc>
              <a:spcAft>
                <a:spcPts val="1100"/>
              </a:spcAft>
            </a:pPr>
            <a:r>
              <a:rPr sz="1350" b="1">
                <a:solidFill>
                  <a:srgbClr val="2E93AE"/>
                </a:solidFill>
                <a:latin typeface="Segoe UI"/>
              </a:rPr>
              <a:t>▸  </a:t>
            </a:r>
            <a:r>
              <a:rPr sz="1350">
                <a:solidFill>
                  <a:srgbClr val="23426B"/>
                </a:solidFill>
                <a:latin typeface="Segoe UI"/>
              </a:rPr>
              <a:t>Danh sách bạn bè &amp; lời mời đến/đi</a:t>
            </a:r>
          </a:p>
          <a:p>
            <a:pPr>
              <a:lnSpc>
                <a:spcPct val="105000"/>
              </a:lnSpc>
              <a:spcAft>
                <a:spcPts val="1100"/>
              </a:spcAft>
            </a:pPr>
            <a:r>
              <a:rPr sz="1350" b="1">
                <a:solidFill>
                  <a:srgbClr val="2E93AE"/>
                </a:solidFill>
                <a:latin typeface="Segoe UI"/>
              </a:rPr>
              <a:t>▸  </a:t>
            </a:r>
            <a:r>
              <a:rPr sz="1350">
                <a:solidFill>
                  <a:srgbClr val="23426B"/>
                </a:solidFill>
                <a:latin typeface="Segoe UI"/>
              </a:rPr>
              <a:t>Chặn / bỏ chặn người dùng</a:t>
            </a:r>
          </a:p>
          <a:p>
            <a:pPr>
              <a:lnSpc>
                <a:spcPct val="105000"/>
              </a:lnSpc>
              <a:spcAft>
                <a:spcPts val="1100"/>
              </a:spcAft>
            </a:pPr>
            <a:r>
              <a:rPr sz="1350" b="1">
                <a:solidFill>
                  <a:srgbClr val="2E93AE"/>
                </a:solidFill>
                <a:latin typeface="Segoe UI"/>
              </a:rPr>
              <a:t>▸  </a:t>
            </a:r>
            <a:r>
              <a:rPr sz="1350">
                <a:solidFill>
                  <a:srgbClr val="23426B"/>
                </a:solidFill>
                <a:latin typeface="Segoe UI"/>
              </a:rPr>
              <a:t>Đếm số bạn bè realtime trên hồ sơ</a:t>
            </a:r>
          </a:p>
          <a:p>
            <a:pPr>
              <a:lnSpc>
                <a:spcPct val="105000"/>
              </a:lnSpc>
              <a:spcAft>
                <a:spcPts val="1100"/>
              </a:spcAft>
            </a:pPr>
            <a:r>
              <a:rPr sz="1350" b="1">
                <a:solidFill>
                  <a:srgbClr val="2E93AE"/>
                </a:solidFill>
                <a:latin typeface="Segoe UI"/>
              </a:rPr>
              <a:t>▸  </a:t>
            </a:r>
            <a:r>
              <a:rPr sz="1350">
                <a:solidFill>
                  <a:srgbClr val="23426B"/>
                </a:solidFill>
                <a:latin typeface="Segoe UI"/>
              </a:rPr>
              <a:t>Luồng chặn người dùng trong chat (read-only)</a:t>
            </a:r>
          </a:p>
        </p:txBody>
      </p:sp>
      <p:sp>
        <p:nvSpPr>
          <p:cNvPr id="13" name="Rounded Rectangle 12"/>
          <p:cNvSpPr/>
          <p:nvPr/>
        </p:nvSpPr>
        <p:spPr>
          <a:xfrm>
            <a:off x="6172200" y="1783080"/>
            <a:ext cx="5212080" cy="41605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72200" y="1783080"/>
            <a:ext cx="5212080" cy="658368"/>
          </a:xfrm>
          <a:prstGeom prst="roundRect">
            <a:avLst>
              <a:gd name="adj" fmla="val 10000"/>
            </a:avLst>
          </a:prstGeom>
          <a:gradFill>
            <a:gsLst>
              <a:gs pos="0">
                <a:srgbClr val="5158C4"/>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783080"/>
            <a:ext cx="5212080" cy="658368"/>
          </a:xfrm>
          <a:prstGeom prst="rect">
            <a:avLst/>
          </a:prstGeom>
          <a:noFill/>
        </p:spPr>
        <p:txBody>
          <a:bodyPr wrap="square" anchor="ctr" lIns="50800" rIns="50800" tIns="25400" bIns="25400">
            <a:spAutoFit/>
          </a:bodyPr>
          <a:lstStyle/>
          <a:p>
            <a:pPr algn="ctr">
              <a:lnSpc>
                <a:spcPct val="100000"/>
              </a:lnSpc>
            </a:pPr>
            <a:r>
              <a:rPr sz="1800" b="1" i="0">
                <a:solidFill>
                  <a:srgbClr val="FFFFFF"/>
                </a:solidFill>
                <a:latin typeface="Segoe UI Semibold"/>
              </a:rPr>
              <a:t>📄  Trang (Pages)</a:t>
            </a:r>
          </a:p>
        </p:txBody>
      </p:sp>
      <p:sp>
        <p:nvSpPr>
          <p:cNvPr id="16" name="TextBox 15"/>
          <p:cNvSpPr txBox="1"/>
          <p:nvPr/>
        </p:nvSpPr>
        <p:spPr>
          <a:xfrm>
            <a:off x="6400800" y="2697480"/>
            <a:ext cx="4800600" cy="3108960"/>
          </a:xfrm>
          <a:prstGeom prst="rect">
            <a:avLst/>
          </a:prstGeom>
          <a:noFill/>
        </p:spPr>
        <p:txBody>
          <a:bodyPr wrap="square" lIns="25400" rIns="25400">
            <a:spAutoFit/>
          </a:bodyPr>
          <a:lstStyle/>
          <a:p>
            <a:pPr>
              <a:lnSpc>
                <a:spcPct val="105000"/>
              </a:lnSpc>
              <a:spcAft>
                <a:spcPts val="1100"/>
              </a:spcAft>
            </a:pPr>
            <a:r>
              <a:rPr sz="1350" b="1">
                <a:solidFill>
                  <a:srgbClr val="7A82E6"/>
                </a:solidFill>
                <a:latin typeface="Segoe UI"/>
              </a:rPr>
              <a:t>▸  </a:t>
            </a:r>
            <a:r>
              <a:rPr sz="1350">
                <a:solidFill>
                  <a:srgbClr val="23426B"/>
                </a:solidFill>
                <a:latin typeface="Segoe UI"/>
              </a:rPr>
              <a:t>Tạo, cập nhật, xóa, thích, theo dõi trang</a:t>
            </a:r>
          </a:p>
          <a:p>
            <a:pPr>
              <a:lnSpc>
                <a:spcPct val="105000"/>
              </a:lnSpc>
              <a:spcAft>
                <a:spcPts val="1100"/>
              </a:spcAft>
            </a:pPr>
            <a:r>
              <a:rPr sz="1350" b="1">
                <a:solidFill>
                  <a:srgbClr val="7A82E6"/>
                </a:solidFill>
                <a:latin typeface="Segoe UI"/>
              </a:rPr>
              <a:t>▸  </a:t>
            </a:r>
            <a:r>
              <a:rPr sz="1350">
                <a:solidFill>
                  <a:srgbClr val="23426B"/>
                </a:solidFill>
                <a:latin typeface="Segoe UI"/>
              </a:rPr>
              <a:t>Bài viết trang &amp; duyệt/từ chối bài</a:t>
            </a:r>
          </a:p>
          <a:p>
            <a:pPr>
              <a:lnSpc>
                <a:spcPct val="105000"/>
              </a:lnSpc>
              <a:spcAft>
                <a:spcPts val="1100"/>
              </a:spcAft>
            </a:pPr>
            <a:r>
              <a:rPr sz="1350" b="1">
                <a:solidFill>
                  <a:srgbClr val="7A82E6"/>
                </a:solidFill>
                <a:latin typeface="Segoe UI"/>
              </a:rPr>
              <a:t>▸  </a:t>
            </a:r>
            <a:r>
              <a:rPr sz="1350">
                <a:solidFill>
                  <a:srgbClr val="23426B"/>
                </a:solidFill>
                <a:latin typeface="Segoe UI"/>
              </a:rPr>
              <a:t>Thêm/xóa thành viên, phân quyền vai trò</a:t>
            </a:r>
          </a:p>
          <a:p>
            <a:pPr>
              <a:lnSpc>
                <a:spcPct val="105000"/>
              </a:lnSpc>
              <a:spcAft>
                <a:spcPts val="1100"/>
              </a:spcAft>
            </a:pPr>
            <a:r>
              <a:rPr sz="1350" b="1">
                <a:solidFill>
                  <a:srgbClr val="7A82E6"/>
                </a:solidFill>
                <a:latin typeface="Segoe UI"/>
              </a:rPr>
              <a:t>▸  </a:t>
            </a:r>
            <a:r>
              <a:rPr sz="1350">
                <a:solidFill>
                  <a:srgbClr val="23426B"/>
                </a:solidFill>
                <a:latin typeface="Segoe UI"/>
              </a:rPr>
              <a:t>Yêu cầu tham gia &amp; duyệt yêu cầu</a:t>
            </a:r>
          </a:p>
          <a:p>
            <a:pPr>
              <a:lnSpc>
                <a:spcPct val="105000"/>
              </a:lnSpc>
              <a:spcAft>
                <a:spcPts val="1100"/>
              </a:spcAft>
            </a:pPr>
            <a:r>
              <a:rPr sz="1350" b="1">
                <a:solidFill>
                  <a:srgbClr val="7A82E6"/>
                </a:solidFill>
                <a:latin typeface="Segoe UI"/>
              </a:rPr>
              <a:t>▸  </a:t>
            </a:r>
            <a:r>
              <a:rPr sz="1350">
                <a:solidFill>
                  <a:srgbClr val="23426B"/>
                </a:solidFill>
                <a:latin typeface="Segoe UI"/>
              </a:rPr>
              <a:t>Quản lý yêu cầu đang chờ (pending)</a:t>
            </a:r>
          </a:p>
        </p:txBody>
      </p:sp>
      <p:sp>
        <p:nvSpPr>
          <p:cNvPr id="17" name="TextBox 16"/>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18" name="Rounded Rectangle 17"/>
          <p:cNvSpPr/>
          <p:nvPr/>
        </p:nvSpPr>
        <p:spPr>
          <a:xfrm>
            <a:off x="11247120" y="6382512"/>
            <a:ext cx="502920" cy="310896"/>
          </a:xfrm>
          <a:prstGeom prst="roundRect">
            <a:avLst>
              <a:gd name="adj" fmla="val 50000"/>
            </a:avLst>
          </a:prstGeom>
          <a:gradFill>
            <a:gsLst>
              <a:gs pos="0">
                <a:srgbClr val="2F86A4"/>
              </a:gs>
              <a:gs pos="100000">
                <a:srgbClr val="6DAABF"/>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ular Callout 4"/>
          <p:cNvSpPr/>
          <p:nvPr/>
        </p:nvSpPr>
        <p:spPr>
          <a:xfrm>
            <a:off x="9784080" y="137160"/>
            <a:ext cx="2377440" cy="1828800"/>
          </a:xfrm>
          <a:prstGeom prst="wedgeRoundRect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A4A93"/>
              </a:gs>
              <a:gs pos="100000">
                <a:srgbClr val="899BC3"/>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A4A93"/>
                </a:solidFill>
                <a:latin typeface="Segoe UI Semibold"/>
              </a:rPr>
              <a:t>MODULE · CHAT</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Nhắn tin Realtime — Tổng quan</a:t>
            </a:r>
          </a:p>
        </p:txBody>
      </p:sp>
      <p:sp>
        <p:nvSpPr>
          <p:cNvPr id="9" name="Rounded Rectangle 8"/>
          <p:cNvSpPr/>
          <p:nvPr/>
        </p:nvSpPr>
        <p:spPr>
          <a:xfrm>
            <a:off x="777240" y="1783080"/>
            <a:ext cx="5212080" cy="169164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521208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Hội thoại</a:t>
            </a:r>
          </a:p>
        </p:txBody>
      </p:sp>
      <p:sp>
        <p:nvSpPr>
          <p:cNvPr id="14" name="TextBox 13"/>
          <p:cNvSpPr txBox="1"/>
          <p:nvPr/>
        </p:nvSpPr>
        <p:spPr>
          <a:xfrm>
            <a:off x="960120" y="3081528"/>
            <a:ext cx="4846320" cy="32004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1-1 &amp; nhóm; tạo nhóm, phân trang tin nhắn.</a:t>
            </a:r>
          </a:p>
        </p:txBody>
      </p:sp>
      <p:sp>
        <p:nvSpPr>
          <p:cNvPr id="15" name="Rounded Rectangle 14"/>
          <p:cNvSpPr/>
          <p:nvPr/>
        </p:nvSpPr>
        <p:spPr>
          <a:xfrm>
            <a:off x="6172200" y="1783080"/>
            <a:ext cx="5212080" cy="169164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1783080"/>
            <a:ext cx="5212080"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3368"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6355080" y="271576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Tin nhắn</a:t>
            </a:r>
          </a:p>
        </p:txBody>
      </p:sp>
      <p:sp>
        <p:nvSpPr>
          <p:cNvPr id="20" name="TextBox 19"/>
          <p:cNvSpPr txBox="1"/>
          <p:nvPr/>
        </p:nvSpPr>
        <p:spPr>
          <a:xfrm>
            <a:off x="6355080" y="3081528"/>
            <a:ext cx="4846320" cy="32004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Gửi, thu hồi (recall), xóa-cho-tôi, đã đọc.</a:t>
            </a:r>
          </a:p>
        </p:txBody>
      </p:sp>
      <p:sp>
        <p:nvSpPr>
          <p:cNvPr id="21" name="Rounded Rectangle 20"/>
          <p:cNvSpPr/>
          <p:nvPr/>
        </p:nvSpPr>
        <p:spPr>
          <a:xfrm>
            <a:off x="777240" y="3657600"/>
            <a:ext cx="5212080" cy="169164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657600"/>
            <a:ext cx="5212080" cy="109728"/>
          </a:xfrm>
          <a:prstGeom prst="roundRect">
            <a:avLst>
              <a:gd name="adj" fmla="val 50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 y="3913632"/>
            <a:ext cx="603504" cy="603504"/>
          </a:xfrm>
          <a:prstGeom prst="roundRect">
            <a:avLst>
              <a:gd name="adj" fmla="val 30000"/>
            </a:avLst>
          </a:prstGeom>
          <a:gradFill>
            <a:gsLst>
              <a:gs pos="0">
                <a:srgbClr val="2A4A93"/>
              </a:gs>
              <a:gs pos="100000">
                <a:srgbClr val="8FBDEE"/>
              </a:gs>
            </a:gsLst>
            <a:lin ang="2700000" scaled="1"/>
          </a:gradFill>
          <a:ln>
            <a:noFill/>
          </a:ln>
          <a:effectLst>
            <a:outerShdw blurRad="54864" dist="36576" dir="5400000" rotWithShape="0">
              <a:srgbClr val="2A4A93">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89534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960120" y="459028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Pin &amp; Typing</a:t>
            </a:r>
          </a:p>
        </p:txBody>
      </p:sp>
      <p:sp>
        <p:nvSpPr>
          <p:cNvPr id="26" name="TextBox 25"/>
          <p:cNvSpPr txBox="1"/>
          <p:nvPr/>
        </p:nvSpPr>
        <p:spPr>
          <a:xfrm>
            <a:off x="960120" y="4956048"/>
            <a:ext cx="4846320" cy="32004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Ghim tin nhắn, chỉ báo đang nhập, seen.</a:t>
            </a:r>
          </a:p>
        </p:txBody>
      </p:sp>
      <p:sp>
        <p:nvSpPr>
          <p:cNvPr id="27" name="Rounded Rectangle 26"/>
          <p:cNvSpPr/>
          <p:nvPr/>
        </p:nvSpPr>
        <p:spPr>
          <a:xfrm>
            <a:off x="6172200" y="3657600"/>
            <a:ext cx="5212080" cy="169164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72200" y="3657600"/>
            <a:ext cx="5212080"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73368" y="391363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389534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6355080" y="4590288"/>
            <a:ext cx="4846320" cy="365760"/>
          </a:xfrm>
          <a:prstGeom prst="rect">
            <a:avLst/>
          </a:prstGeom>
          <a:noFill/>
        </p:spPr>
        <p:txBody>
          <a:bodyPr wrap="square" anchor="t" lIns="50800" rIns="50800" tIns="25400" bIns="25400">
            <a:spAutoFit/>
          </a:bodyPr>
          <a:lstStyle/>
          <a:p>
            <a:pPr algn="l">
              <a:lnSpc>
                <a:spcPct val="100000"/>
              </a:lnSpc>
            </a:pPr>
            <a:r>
              <a:rPr sz="1600" b="1" i="0">
                <a:solidFill>
                  <a:srgbClr val="0B2545"/>
                </a:solidFill>
                <a:latin typeface="Segoe UI Semibold"/>
              </a:rPr>
              <a:t>Quản lý nhóm</a:t>
            </a:r>
          </a:p>
        </p:txBody>
      </p:sp>
      <p:sp>
        <p:nvSpPr>
          <p:cNvPr id="32" name="TextBox 31"/>
          <p:cNvSpPr txBox="1"/>
          <p:nvPr/>
        </p:nvSpPr>
        <p:spPr>
          <a:xfrm>
            <a:off x="6355080" y="4956048"/>
            <a:ext cx="4846320" cy="320040"/>
          </a:xfrm>
          <a:prstGeom prst="rect">
            <a:avLst/>
          </a:prstGeom>
          <a:noFill/>
        </p:spPr>
        <p:txBody>
          <a:bodyPr wrap="square" anchor="t" lIns="50800" rIns="50800" tIns="25400" bIns="25400">
            <a:spAutoFit/>
          </a:bodyPr>
          <a:lstStyle/>
          <a:p>
            <a:pPr algn="l">
              <a:lnSpc>
                <a:spcPct val="105000"/>
              </a:lnSpc>
            </a:pPr>
            <a:r>
              <a:rPr sz="1200" b="0" i="0">
                <a:solidFill>
                  <a:srgbClr val="23426B"/>
                </a:solidFill>
                <a:latin typeface="Segoe UI"/>
              </a:rPr>
              <a:t>Biệt danh, vai trò, rời/kick/giải tán nhóm.</a:t>
            </a:r>
          </a:p>
        </p:txBody>
      </p:sp>
      <p:sp>
        <p:nvSpPr>
          <p:cNvPr id="33" name="Rounded Rectangle 32"/>
          <p:cNvSpPr/>
          <p:nvPr/>
        </p:nvSpPr>
        <p:spPr>
          <a:xfrm>
            <a:off x="777240" y="5440680"/>
            <a:ext cx="10607040" cy="777240"/>
          </a:xfrm>
          <a:prstGeom prst="roundRect">
            <a:avLst>
              <a:gd name="adj" fmla="val 12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486400"/>
            <a:ext cx="10332720" cy="365760"/>
          </a:xfrm>
          <a:prstGeom prst="rect">
            <a:avLst/>
          </a:prstGeom>
          <a:noFill/>
        </p:spPr>
        <p:txBody>
          <a:bodyPr wrap="square" anchor="t" lIns="50800" rIns="50800" tIns="25400" bIns="25400">
            <a:spAutoFit/>
          </a:bodyPr>
          <a:lstStyle/>
          <a:p>
            <a:pPr algn="l">
              <a:lnSpc>
                <a:spcPct val="100000"/>
              </a:lnSpc>
            </a:pPr>
            <a:r>
              <a:rPr sz="1250" b="1" i="0">
                <a:solidFill>
                  <a:srgbClr val="2A4A93"/>
                </a:solidFill>
                <a:latin typeface="Segoe UI Semibold"/>
              </a:rPr>
              <a:t>📡  STOMP topics tiêu biểu</a:t>
            </a:r>
          </a:p>
        </p:txBody>
      </p:sp>
      <p:sp>
        <p:nvSpPr>
          <p:cNvPr id="35" name="TextBox 34"/>
          <p:cNvSpPr txBox="1"/>
          <p:nvPr/>
        </p:nvSpPr>
        <p:spPr>
          <a:xfrm>
            <a:off x="960120" y="5833872"/>
            <a:ext cx="10332720" cy="365760"/>
          </a:xfrm>
          <a:prstGeom prst="rect">
            <a:avLst/>
          </a:prstGeom>
          <a:noFill/>
        </p:spPr>
        <p:txBody>
          <a:bodyPr wrap="square" anchor="t" lIns="50800" rIns="50800" tIns="25400" bIns="25400">
            <a:spAutoFit/>
          </a:bodyPr>
          <a:lstStyle/>
          <a:p>
            <a:pPr algn="l">
              <a:lnSpc>
                <a:spcPct val="100000"/>
              </a:lnSpc>
            </a:pPr>
            <a:r>
              <a:rPr sz="1200" b="0" i="0">
                <a:solidFill>
                  <a:srgbClr val="23426B"/>
                </a:solidFill>
                <a:latin typeface="Consolas"/>
              </a:rPr>
              <a:t>/topic/conversation/{id}   ·   /topic/user/{id}/conversations   ·   /topic/user/{id}/calls</a:t>
            </a:r>
          </a:p>
        </p:txBody>
      </p:sp>
      <p:sp>
        <p:nvSpPr>
          <p:cNvPr id="36" name="TextBox 35"/>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7" name="Rounded Rectangle 36"/>
          <p:cNvSpPr/>
          <p:nvPr/>
        </p:nvSpPr>
        <p:spPr>
          <a:xfrm>
            <a:off x="11247120" y="6382512"/>
            <a:ext cx="502920" cy="310896"/>
          </a:xfrm>
          <a:prstGeom prst="roundRect">
            <a:avLst>
              <a:gd name="adj" fmla="val 50000"/>
            </a:avLst>
          </a:prstGeom>
          <a:gradFill>
            <a:gsLst>
              <a:gs pos="0">
                <a:srgbClr val="2A4A93"/>
              </a:gs>
              <a:gs pos="100000">
                <a:srgbClr val="6980B3"/>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ular Callout 4"/>
          <p:cNvSpPr/>
          <p:nvPr/>
        </p:nvSpPr>
        <p:spPr>
          <a:xfrm>
            <a:off x="9784080" y="137160"/>
            <a:ext cx="2377440" cy="1828800"/>
          </a:xfrm>
          <a:prstGeom prst="wedgeRoundRect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8FBDEE"/>
              </a:gs>
              <a:gs pos="100000">
                <a:srgbClr val="C1DAF5"/>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8FBDEE"/>
                </a:solidFill>
                <a:latin typeface="Segoe UI Semibold"/>
              </a:rPr>
              <a:t>FLOW 03</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Luồng gửi tin nhắn Realtime</a:t>
            </a:r>
          </a:p>
        </p:txBody>
      </p:sp>
      <p:sp>
        <p:nvSpPr>
          <p:cNvPr id="9" name="Rounded Rectangle 8"/>
          <p:cNvSpPr/>
          <p:nvPr/>
        </p:nvSpPr>
        <p:spPr>
          <a:xfrm>
            <a:off x="777240" y="1828800"/>
            <a:ext cx="2377440" cy="914400"/>
          </a:xfrm>
          <a:prstGeom prst="roundRect">
            <a:avLst>
              <a:gd name="adj" fmla="val 12000"/>
            </a:avLst>
          </a:prstGeom>
          <a:gradFill>
            <a:gsLst>
              <a:gs pos="0">
                <a:srgbClr val="5B63D6"/>
              </a:gs>
              <a:gs pos="100000">
                <a:srgbClr val="7A82E6"/>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38528"/>
            <a:ext cx="219456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Người gửi (A)</a:t>
            </a:r>
          </a:p>
        </p:txBody>
      </p:sp>
      <p:sp>
        <p:nvSpPr>
          <p:cNvPr id="11" name="TextBox 10"/>
          <p:cNvSpPr txBox="1"/>
          <p:nvPr/>
        </p:nvSpPr>
        <p:spPr>
          <a:xfrm>
            <a:off x="850392" y="2176272"/>
            <a:ext cx="223113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POST /api/messages/send</a:t>
            </a:r>
          </a:p>
        </p:txBody>
      </p:sp>
      <p:sp>
        <p:nvSpPr>
          <p:cNvPr id="12" name="Rounded Rectangle 11"/>
          <p:cNvSpPr/>
          <p:nvPr/>
        </p:nvSpPr>
        <p:spPr>
          <a:xfrm>
            <a:off x="3657600" y="1828800"/>
            <a:ext cx="2377440" cy="914400"/>
          </a:xfrm>
          <a:prstGeom prst="roundRect">
            <a:avLst>
              <a:gd name="adj" fmla="val 12000"/>
            </a:avLst>
          </a:prstGeom>
          <a:gradFill>
            <a:gsLst>
              <a:gs pos="0">
                <a:srgbClr val="3E78D6"/>
              </a:gs>
              <a:gs pos="100000">
                <a:srgbClr val="2E93A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0" y="1938528"/>
            <a:ext cx="219456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Backend API</a:t>
            </a:r>
          </a:p>
        </p:txBody>
      </p:sp>
      <p:sp>
        <p:nvSpPr>
          <p:cNvPr id="14" name="TextBox 13"/>
          <p:cNvSpPr txBox="1"/>
          <p:nvPr/>
        </p:nvSpPr>
        <p:spPr>
          <a:xfrm>
            <a:off x="3730752" y="2176272"/>
            <a:ext cx="223113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Lưu MongoDB + tạo event</a:t>
            </a:r>
          </a:p>
        </p:txBody>
      </p:sp>
      <p:sp>
        <p:nvSpPr>
          <p:cNvPr id="15" name="Rounded Rectangle 14"/>
          <p:cNvSpPr/>
          <p:nvPr/>
        </p:nvSpPr>
        <p:spPr>
          <a:xfrm>
            <a:off x="6537960" y="1828800"/>
            <a:ext cx="2377440" cy="914400"/>
          </a:xfrm>
          <a:prstGeom prst="roundRect">
            <a:avLst>
              <a:gd name="adj" fmla="val 12000"/>
            </a:avLst>
          </a:prstGeom>
          <a:gradFill>
            <a:gsLst>
              <a:gs pos="0">
                <a:srgbClr val="2A4A93"/>
              </a:gs>
              <a:gs pos="100000">
                <a:srgbClr val="8FBDE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1938528"/>
            <a:ext cx="219456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Redis Pub/Sub</a:t>
            </a:r>
          </a:p>
        </p:txBody>
      </p:sp>
      <p:sp>
        <p:nvSpPr>
          <p:cNvPr id="17" name="TextBox 16"/>
          <p:cNvSpPr txBox="1"/>
          <p:nvPr/>
        </p:nvSpPr>
        <p:spPr>
          <a:xfrm>
            <a:off x="6611112" y="2176272"/>
            <a:ext cx="223113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Phát tán sự kiện</a:t>
            </a:r>
          </a:p>
        </p:txBody>
      </p:sp>
      <p:sp>
        <p:nvSpPr>
          <p:cNvPr id="18" name="Rounded Rectangle 17"/>
          <p:cNvSpPr/>
          <p:nvPr/>
        </p:nvSpPr>
        <p:spPr>
          <a:xfrm>
            <a:off x="9418320" y="1828800"/>
            <a:ext cx="2011680" cy="914400"/>
          </a:xfrm>
          <a:prstGeom prst="roundRect">
            <a:avLst>
              <a:gd name="adj" fmla="val 12000"/>
            </a:avLst>
          </a:prstGeom>
          <a:gradFill>
            <a:gsLst>
              <a:gs pos="0">
                <a:srgbClr val="5158C4"/>
              </a:gs>
              <a:gs pos="100000">
                <a:srgbClr val="7A82E6"/>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938528"/>
            <a:ext cx="182880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STOMP Broker</a:t>
            </a:r>
          </a:p>
        </p:txBody>
      </p:sp>
      <p:sp>
        <p:nvSpPr>
          <p:cNvPr id="20" name="TextBox 19"/>
          <p:cNvSpPr txBox="1"/>
          <p:nvPr/>
        </p:nvSpPr>
        <p:spPr>
          <a:xfrm>
            <a:off x="9491472" y="2176272"/>
            <a:ext cx="186537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Broadcast topic</a:t>
            </a:r>
          </a:p>
        </p:txBody>
      </p:sp>
      <p:cxnSp>
        <p:nvCxnSpPr>
          <p:cNvPr id="21" name="Connector 20"/>
          <p:cNvCxnSpPr/>
          <p:nvPr/>
        </p:nvCxnSpPr>
        <p:spPr>
          <a:xfrm>
            <a:off x="3154680" y="2286000"/>
            <a:ext cx="50292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35040" y="2286000"/>
            <a:ext cx="50292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915400" y="2286000"/>
            <a:ext cx="50292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424160" y="2743200"/>
            <a:ext cx="0" cy="640080"/>
          </a:xfrm>
          <a:prstGeom prst="line">
            <a:avLst/>
          </a:prstGeom>
          <a:ln w="25400">
            <a:solidFill>
              <a:srgbClr val="5158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200400" y="3383280"/>
            <a:ext cx="5760720" cy="822960"/>
          </a:xfrm>
          <a:prstGeom prst="roundRect">
            <a:avLst>
              <a:gd name="adj" fmla="val 15000"/>
            </a:avLst>
          </a:prstGeom>
          <a:gradFill>
            <a:gsLst>
              <a:gs pos="0">
                <a:srgbClr val="2F86A4"/>
              </a:gs>
              <a:gs pos="100000">
                <a:srgbClr val="3A9B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0" y="3383280"/>
            <a:ext cx="5760720" cy="822960"/>
          </a:xfrm>
          <a:prstGeom prst="rect">
            <a:avLst/>
          </a:prstGeom>
          <a:noFill/>
        </p:spPr>
        <p:txBody>
          <a:bodyPr wrap="square" anchor="ctr" lIns="50800" rIns="50800" tIns="25400" bIns="25400">
            <a:spAutoFit/>
          </a:bodyPr>
          <a:lstStyle/>
          <a:p>
            <a:pPr algn="ctr">
              <a:lnSpc>
                <a:spcPct val="100000"/>
              </a:lnSpc>
            </a:pPr>
            <a:r>
              <a:rPr sz="1400" b="1" i="0">
                <a:solidFill>
                  <a:srgbClr val="FFFFFF"/>
                </a:solidFill>
                <a:latin typeface="Segoe UI Semibold"/>
              </a:rPr>
              <a:t>Thành viên hội thoại đã subscribe  →  nhận tin tức thời</a:t>
            </a:r>
          </a:p>
        </p:txBody>
      </p:sp>
      <p:cxnSp>
        <p:nvCxnSpPr>
          <p:cNvPr id="27" name="Connector 26"/>
          <p:cNvCxnSpPr/>
          <p:nvPr/>
        </p:nvCxnSpPr>
        <p:spPr>
          <a:xfrm flipH="1">
            <a:off x="8961120" y="3794760"/>
            <a:ext cx="1097280" cy="0"/>
          </a:xfrm>
          <a:prstGeom prst="line">
            <a:avLst/>
          </a:prstGeom>
          <a:ln w="25400">
            <a:solidFill>
              <a:srgbClr val="5158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 y="4526280"/>
            <a:ext cx="10607040" cy="1417320"/>
          </a:xfrm>
          <a:prstGeom prst="roundRect">
            <a:avLst>
              <a:gd name="adj" fmla="val 6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4663440"/>
            <a:ext cx="10241280" cy="365760"/>
          </a:xfrm>
          <a:prstGeom prst="rect">
            <a:avLst/>
          </a:prstGeom>
          <a:noFill/>
        </p:spPr>
        <p:txBody>
          <a:bodyPr wrap="square" anchor="t" lIns="50800" rIns="50800" tIns="25400" bIns="25400">
            <a:spAutoFit/>
          </a:bodyPr>
          <a:lstStyle/>
          <a:p>
            <a:pPr algn="l">
              <a:lnSpc>
                <a:spcPct val="100000"/>
              </a:lnSpc>
            </a:pPr>
            <a:r>
              <a:rPr sz="1400" b="1" i="0">
                <a:solidFill>
                  <a:srgbClr val="8FBDEE"/>
                </a:solidFill>
                <a:latin typeface="Segoe UI Semibold"/>
              </a:rPr>
              <a:t>📨  Các sự kiện được broadcast qua topic</a:t>
            </a:r>
          </a:p>
        </p:txBody>
      </p:sp>
      <p:sp>
        <p:nvSpPr>
          <p:cNvPr id="30" name="Rounded Rectangle 29"/>
          <p:cNvSpPr/>
          <p:nvPr/>
        </p:nvSpPr>
        <p:spPr>
          <a:xfrm>
            <a:off x="1005840" y="5120640"/>
            <a:ext cx="1664208"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107940"/>
            <a:ext cx="1664208" cy="384048"/>
          </a:xfrm>
          <a:prstGeom prst="rect">
            <a:avLst/>
          </a:prstGeom>
          <a:noFill/>
        </p:spPr>
        <p:txBody>
          <a:bodyPr wrap="square" anchor="ctr" lIns="50800" rIns="50800" tIns="25400" bIns="25400">
            <a:spAutoFit/>
          </a:bodyPr>
          <a:lstStyle/>
          <a:p>
            <a:pPr algn="ctr">
              <a:lnSpc>
                <a:spcPct val="100000"/>
              </a:lnSpc>
            </a:pPr>
            <a:r>
              <a:rPr sz="1100" b="1" i="0">
                <a:solidFill>
                  <a:srgbClr val="2E93AE"/>
                </a:solidFill>
                <a:latin typeface="Segoe UI Semibold"/>
              </a:rPr>
              <a:t>new message</a:t>
            </a:r>
          </a:p>
        </p:txBody>
      </p:sp>
      <p:sp>
        <p:nvSpPr>
          <p:cNvPr id="32" name="Rounded Rectangle 31"/>
          <p:cNvSpPr/>
          <p:nvPr/>
        </p:nvSpPr>
        <p:spPr>
          <a:xfrm>
            <a:off x="2761488" y="5120640"/>
            <a:ext cx="1664208"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61488" y="5107940"/>
            <a:ext cx="1664208" cy="384048"/>
          </a:xfrm>
          <a:prstGeom prst="rect">
            <a:avLst/>
          </a:prstGeom>
          <a:noFill/>
        </p:spPr>
        <p:txBody>
          <a:bodyPr wrap="square" anchor="ctr" lIns="50800" rIns="50800" tIns="25400" bIns="25400">
            <a:spAutoFit/>
          </a:bodyPr>
          <a:lstStyle/>
          <a:p>
            <a:pPr algn="ctr">
              <a:lnSpc>
                <a:spcPct val="100000"/>
              </a:lnSpc>
            </a:pPr>
            <a:r>
              <a:rPr sz="1100" b="1" i="0">
                <a:solidFill>
                  <a:srgbClr val="2E93AE"/>
                </a:solidFill>
                <a:latin typeface="Segoe UI Semibold"/>
              </a:rPr>
              <a:t>recall</a:t>
            </a:r>
          </a:p>
        </p:txBody>
      </p:sp>
      <p:sp>
        <p:nvSpPr>
          <p:cNvPr id="34" name="Rounded Rectangle 33"/>
          <p:cNvSpPr/>
          <p:nvPr/>
        </p:nvSpPr>
        <p:spPr>
          <a:xfrm>
            <a:off x="4517136" y="5120640"/>
            <a:ext cx="1664208"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5107940"/>
            <a:ext cx="1664208" cy="384048"/>
          </a:xfrm>
          <a:prstGeom prst="rect">
            <a:avLst/>
          </a:prstGeom>
          <a:noFill/>
        </p:spPr>
        <p:txBody>
          <a:bodyPr wrap="square" anchor="ctr" lIns="50800" rIns="50800" tIns="25400" bIns="25400">
            <a:spAutoFit/>
          </a:bodyPr>
          <a:lstStyle/>
          <a:p>
            <a:pPr algn="ctr">
              <a:lnSpc>
                <a:spcPct val="100000"/>
              </a:lnSpc>
            </a:pPr>
            <a:r>
              <a:rPr sz="1100" b="1" i="0">
                <a:solidFill>
                  <a:srgbClr val="2E93AE"/>
                </a:solidFill>
                <a:latin typeface="Segoe UI Semibold"/>
              </a:rPr>
              <a:t>seen/đã đọc</a:t>
            </a:r>
          </a:p>
        </p:txBody>
      </p:sp>
      <p:sp>
        <p:nvSpPr>
          <p:cNvPr id="36" name="Rounded Rectangle 35"/>
          <p:cNvSpPr/>
          <p:nvPr/>
        </p:nvSpPr>
        <p:spPr>
          <a:xfrm>
            <a:off x="6272784" y="5120640"/>
            <a:ext cx="1664208"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2784" y="5107940"/>
            <a:ext cx="1664208" cy="384048"/>
          </a:xfrm>
          <a:prstGeom prst="rect">
            <a:avLst/>
          </a:prstGeom>
          <a:noFill/>
        </p:spPr>
        <p:txBody>
          <a:bodyPr wrap="square" anchor="ctr" lIns="50800" rIns="50800" tIns="25400" bIns="25400">
            <a:spAutoFit/>
          </a:bodyPr>
          <a:lstStyle/>
          <a:p>
            <a:pPr algn="ctr">
              <a:lnSpc>
                <a:spcPct val="100000"/>
              </a:lnSpc>
            </a:pPr>
            <a:r>
              <a:rPr sz="1100" b="1" i="0">
                <a:solidFill>
                  <a:srgbClr val="2E93AE"/>
                </a:solidFill>
                <a:latin typeface="Segoe UI Semibold"/>
              </a:rPr>
              <a:t>typing</a:t>
            </a:r>
          </a:p>
        </p:txBody>
      </p:sp>
      <p:sp>
        <p:nvSpPr>
          <p:cNvPr id="38" name="Rounded Rectangle 37"/>
          <p:cNvSpPr/>
          <p:nvPr/>
        </p:nvSpPr>
        <p:spPr>
          <a:xfrm>
            <a:off x="8028432" y="5120640"/>
            <a:ext cx="1664208"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8432" y="5107940"/>
            <a:ext cx="1664208" cy="384048"/>
          </a:xfrm>
          <a:prstGeom prst="rect">
            <a:avLst/>
          </a:prstGeom>
          <a:noFill/>
        </p:spPr>
        <p:txBody>
          <a:bodyPr wrap="square" anchor="ctr" lIns="50800" rIns="50800" tIns="25400" bIns="25400">
            <a:spAutoFit/>
          </a:bodyPr>
          <a:lstStyle/>
          <a:p>
            <a:pPr algn="ctr">
              <a:lnSpc>
                <a:spcPct val="100000"/>
              </a:lnSpc>
            </a:pPr>
            <a:r>
              <a:rPr sz="1100" b="1" i="0">
                <a:solidFill>
                  <a:srgbClr val="2E93AE"/>
                </a:solidFill>
                <a:latin typeface="Segoe UI Semibold"/>
              </a:rPr>
              <a:t>pin/unpin</a:t>
            </a:r>
          </a:p>
        </p:txBody>
      </p:sp>
      <p:sp>
        <p:nvSpPr>
          <p:cNvPr id="40" name="Rounded Rectangle 39"/>
          <p:cNvSpPr/>
          <p:nvPr/>
        </p:nvSpPr>
        <p:spPr>
          <a:xfrm>
            <a:off x="9784080" y="5120640"/>
            <a:ext cx="1664208" cy="384048"/>
          </a:xfrm>
          <a:prstGeom prst="roundRect">
            <a:avLst>
              <a:gd name="adj" fmla="val 50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84080" y="5107940"/>
            <a:ext cx="1664208" cy="384048"/>
          </a:xfrm>
          <a:prstGeom prst="rect">
            <a:avLst/>
          </a:prstGeom>
          <a:noFill/>
        </p:spPr>
        <p:txBody>
          <a:bodyPr wrap="square" anchor="ctr" lIns="50800" rIns="50800" tIns="25400" bIns="25400">
            <a:spAutoFit/>
          </a:bodyPr>
          <a:lstStyle/>
          <a:p>
            <a:pPr algn="ctr">
              <a:lnSpc>
                <a:spcPct val="100000"/>
              </a:lnSpc>
            </a:pPr>
            <a:r>
              <a:rPr sz="1100" b="1" i="0">
                <a:solidFill>
                  <a:srgbClr val="2E93AE"/>
                </a:solidFill>
                <a:latin typeface="Segoe UI Semibold"/>
              </a:rPr>
              <a:t>member update</a:t>
            </a:r>
          </a:p>
        </p:txBody>
      </p:sp>
      <p:sp>
        <p:nvSpPr>
          <p:cNvPr id="42" name="TextBox 41"/>
          <p:cNvSpPr txBox="1"/>
          <p:nvPr/>
        </p:nvSpPr>
        <p:spPr>
          <a:xfrm>
            <a:off x="1005840" y="5596128"/>
            <a:ext cx="10241280" cy="320040"/>
          </a:xfrm>
          <a:prstGeom prst="rect">
            <a:avLst/>
          </a:prstGeom>
          <a:noFill/>
        </p:spPr>
        <p:txBody>
          <a:bodyPr wrap="square" anchor="t" lIns="50800" rIns="50800" tIns="25400" bIns="25400">
            <a:spAutoFit/>
          </a:bodyPr>
          <a:lstStyle/>
          <a:p>
            <a:pPr algn="l">
              <a:lnSpc>
                <a:spcPct val="100000"/>
              </a:lnSpc>
            </a:pPr>
            <a:r>
              <a:rPr sz="1150" b="0" i="0">
                <a:solidFill>
                  <a:srgbClr val="6E7F9B"/>
                </a:solidFill>
                <a:latin typeface="Segoe UI"/>
              </a:rPr>
              <a:t>Client publish typing qua /app/chat/{id}/typing — server fan-out tới /topic/conversation/{id}.</a:t>
            </a:r>
          </a:p>
        </p:txBody>
      </p:sp>
      <p:sp>
        <p:nvSpPr>
          <p:cNvPr id="43" name="TextBox 42"/>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4" name="Rounded Rectangle 43"/>
          <p:cNvSpPr/>
          <p:nvPr/>
        </p:nvSpPr>
        <p:spPr>
          <a:xfrm>
            <a:off x="11247120" y="6382512"/>
            <a:ext cx="502920" cy="310896"/>
          </a:xfrm>
          <a:prstGeom prst="roundRect">
            <a:avLst>
              <a:gd name="adj" fmla="val 50000"/>
            </a:avLst>
          </a:prstGeom>
          <a:gradFill>
            <a:gsLst>
              <a:gs pos="0">
                <a:srgbClr val="8FBDEE"/>
              </a:gs>
              <a:gs pos="100000">
                <a:srgbClr val="B0D0F3"/>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ightning Bolt 4"/>
          <p:cNvSpPr/>
          <p:nvPr/>
        </p:nvSpPr>
        <p:spPr>
          <a:xfrm>
            <a:off x="10195560" y="-91440"/>
            <a:ext cx="1554480" cy="2286000"/>
          </a:xfrm>
          <a:prstGeom prst="lightningBol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5158C4"/>
              </a:gs>
              <a:gs pos="100000">
                <a:srgbClr val="9FA3D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5158C4"/>
                </a:solidFill>
                <a:latin typeface="Segoe UI Semibold"/>
              </a:rPr>
              <a:t>WEBSOCKET API</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Các đích đến WebSocket (STOMP)</a:t>
            </a:r>
          </a:p>
        </p:txBody>
      </p:sp>
      <p:sp>
        <p:nvSpPr>
          <p:cNvPr id="9" name="Rounded Rectangle 8"/>
          <p:cNvSpPr/>
          <p:nvPr/>
        </p:nvSpPr>
        <p:spPr>
          <a:xfrm>
            <a:off x="777240" y="1783080"/>
            <a:ext cx="10607040" cy="502920"/>
          </a:xfrm>
          <a:prstGeom prst="roundRect">
            <a:avLst>
              <a:gd name="adj" fmla="val 10000"/>
            </a:avLst>
          </a:prstGeom>
          <a:gradFill>
            <a:gsLst>
              <a:gs pos="0">
                <a:srgbClr val="5B63D6"/>
              </a:gs>
              <a:gs pos="100000">
                <a:srgbClr val="5158C4"/>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783080"/>
            <a:ext cx="3931920" cy="502920"/>
          </a:xfrm>
          <a:prstGeom prst="rect">
            <a:avLst/>
          </a:prstGeom>
          <a:noFill/>
        </p:spPr>
        <p:txBody>
          <a:bodyPr wrap="square" anchor="ctr" lIns="50800" rIns="50800" tIns="25400" bIns="25400">
            <a:spAutoFit/>
          </a:bodyPr>
          <a:lstStyle/>
          <a:p>
            <a:pPr algn="l">
              <a:lnSpc>
                <a:spcPct val="100000"/>
              </a:lnSpc>
            </a:pPr>
            <a:r>
              <a:rPr sz="1300" b="1" i="0">
                <a:solidFill>
                  <a:srgbClr val="FFFFFF"/>
                </a:solidFill>
                <a:latin typeface="Segoe UI Semibold"/>
              </a:rPr>
              <a:t>Destination</a:t>
            </a:r>
          </a:p>
        </p:txBody>
      </p:sp>
      <p:sp>
        <p:nvSpPr>
          <p:cNvPr id="11" name="TextBox 10"/>
          <p:cNvSpPr txBox="1"/>
          <p:nvPr/>
        </p:nvSpPr>
        <p:spPr>
          <a:xfrm>
            <a:off x="5029200" y="1783080"/>
            <a:ext cx="2377440" cy="502920"/>
          </a:xfrm>
          <a:prstGeom prst="rect">
            <a:avLst/>
          </a:prstGeom>
          <a:noFill/>
        </p:spPr>
        <p:txBody>
          <a:bodyPr wrap="square" anchor="ctr" lIns="50800" rIns="50800" tIns="25400" bIns="25400">
            <a:spAutoFit/>
          </a:bodyPr>
          <a:lstStyle/>
          <a:p>
            <a:pPr algn="l">
              <a:lnSpc>
                <a:spcPct val="100000"/>
              </a:lnSpc>
            </a:pPr>
            <a:r>
              <a:rPr sz="1300" b="1" i="0">
                <a:solidFill>
                  <a:srgbClr val="FFFFFF"/>
                </a:solidFill>
                <a:latin typeface="Segoe UI Semibold"/>
              </a:rPr>
              <a:t>Hướng</a:t>
            </a:r>
          </a:p>
        </p:txBody>
      </p:sp>
      <p:sp>
        <p:nvSpPr>
          <p:cNvPr id="12" name="TextBox 11"/>
          <p:cNvSpPr txBox="1"/>
          <p:nvPr/>
        </p:nvSpPr>
        <p:spPr>
          <a:xfrm>
            <a:off x="7589520" y="1783080"/>
            <a:ext cx="3657600" cy="502920"/>
          </a:xfrm>
          <a:prstGeom prst="rect">
            <a:avLst/>
          </a:prstGeom>
          <a:noFill/>
        </p:spPr>
        <p:txBody>
          <a:bodyPr wrap="square" anchor="ctr" lIns="50800" rIns="50800" tIns="25400" bIns="25400">
            <a:spAutoFit/>
          </a:bodyPr>
          <a:lstStyle/>
          <a:p>
            <a:pPr algn="l">
              <a:lnSpc>
                <a:spcPct val="100000"/>
              </a:lnSpc>
            </a:pPr>
            <a:r>
              <a:rPr sz="1300" b="1" i="0">
                <a:solidFill>
                  <a:srgbClr val="FFFFFF"/>
                </a:solidFill>
                <a:latin typeface="Segoe UI Semibold"/>
              </a:rPr>
              <a:t>Mục đích</a:t>
            </a:r>
          </a:p>
        </p:txBody>
      </p:sp>
      <p:sp>
        <p:nvSpPr>
          <p:cNvPr id="13" name="Rounded Rectangle 12"/>
          <p:cNvSpPr/>
          <p:nvPr/>
        </p:nvSpPr>
        <p:spPr>
          <a:xfrm>
            <a:off x="777240" y="2350008"/>
            <a:ext cx="10607040" cy="566928"/>
          </a:xfrm>
          <a:prstGeom prst="roundRect">
            <a:avLst>
              <a:gd name="adj" fmla="val 6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350008"/>
            <a:ext cx="91440" cy="566928"/>
          </a:xfrm>
          <a:prstGeom prst="rect">
            <a:avLst/>
          </a:prstGeom>
          <a:solidFill>
            <a:srgbClr val="2E93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350008"/>
            <a:ext cx="4023360" cy="566928"/>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/app/chat/{id}/typing</a:t>
            </a:r>
          </a:p>
        </p:txBody>
      </p:sp>
      <p:sp>
        <p:nvSpPr>
          <p:cNvPr id="16" name="TextBox 15"/>
          <p:cNvSpPr txBox="1"/>
          <p:nvPr/>
        </p:nvSpPr>
        <p:spPr>
          <a:xfrm>
            <a:off x="5029200" y="2350008"/>
            <a:ext cx="2377440" cy="566928"/>
          </a:xfrm>
          <a:prstGeom prst="rect">
            <a:avLst/>
          </a:prstGeom>
          <a:noFill/>
        </p:spPr>
        <p:txBody>
          <a:bodyPr wrap="square" anchor="ctr" lIns="50800" rIns="50800" tIns="25400" bIns="25400">
            <a:spAutoFit/>
          </a:bodyPr>
          <a:lstStyle/>
          <a:p>
            <a:pPr algn="l">
              <a:lnSpc>
                <a:spcPct val="100000"/>
              </a:lnSpc>
            </a:pPr>
            <a:r>
              <a:rPr sz="1150" b="1" i="0">
                <a:solidFill>
                  <a:srgbClr val="2F62C9"/>
                </a:solidFill>
                <a:latin typeface="Segoe UI"/>
              </a:rPr>
              <a:t>Client → Server</a:t>
            </a:r>
          </a:p>
        </p:txBody>
      </p:sp>
      <p:sp>
        <p:nvSpPr>
          <p:cNvPr id="17" name="TextBox 16"/>
          <p:cNvSpPr txBox="1"/>
          <p:nvPr/>
        </p:nvSpPr>
        <p:spPr>
          <a:xfrm>
            <a:off x="7589520" y="2350008"/>
            <a:ext cx="3657600" cy="566928"/>
          </a:xfrm>
          <a:prstGeom prst="rect">
            <a:avLst/>
          </a:prstGeom>
          <a:noFill/>
        </p:spPr>
        <p:txBody>
          <a:bodyPr wrap="square" anchor="ctr" lIns="50800" rIns="50800" tIns="25400" bIns="25400">
            <a:spAutoFit/>
          </a:bodyPr>
          <a:lstStyle/>
          <a:p>
            <a:pPr algn="l">
              <a:lnSpc>
                <a:spcPct val="100000"/>
              </a:lnSpc>
            </a:pPr>
            <a:r>
              <a:rPr sz="1150" b="0" i="0">
                <a:solidFill>
                  <a:srgbClr val="23426B"/>
                </a:solidFill>
                <a:latin typeface="Segoe UI"/>
              </a:rPr>
              <a:t>Gửi trạng thái đang nhập</a:t>
            </a:r>
          </a:p>
        </p:txBody>
      </p:sp>
      <p:sp>
        <p:nvSpPr>
          <p:cNvPr id="18" name="Rounded Rectangle 17"/>
          <p:cNvSpPr/>
          <p:nvPr/>
        </p:nvSpPr>
        <p:spPr>
          <a:xfrm>
            <a:off x="777240" y="2971800"/>
            <a:ext cx="10607040" cy="566928"/>
          </a:xfrm>
          <a:prstGeom prst="roundRect">
            <a:avLst>
              <a:gd name="adj" fmla="val 6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2971800"/>
            <a:ext cx="91440" cy="566928"/>
          </a:xfrm>
          <a:prstGeom prst="rect">
            <a:avLst/>
          </a:prstGeom>
          <a:solidFill>
            <a:srgbClr val="2F6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971800"/>
            <a:ext cx="4023360" cy="566928"/>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/app/call.signal</a:t>
            </a:r>
          </a:p>
        </p:txBody>
      </p:sp>
      <p:sp>
        <p:nvSpPr>
          <p:cNvPr id="21" name="TextBox 20"/>
          <p:cNvSpPr txBox="1"/>
          <p:nvPr/>
        </p:nvSpPr>
        <p:spPr>
          <a:xfrm>
            <a:off x="5029200" y="2971800"/>
            <a:ext cx="2377440" cy="566928"/>
          </a:xfrm>
          <a:prstGeom prst="rect">
            <a:avLst/>
          </a:prstGeom>
          <a:noFill/>
        </p:spPr>
        <p:txBody>
          <a:bodyPr wrap="square" anchor="ctr" lIns="50800" rIns="50800" tIns="25400" bIns="25400">
            <a:spAutoFit/>
          </a:bodyPr>
          <a:lstStyle/>
          <a:p>
            <a:pPr algn="l">
              <a:lnSpc>
                <a:spcPct val="100000"/>
              </a:lnSpc>
            </a:pPr>
            <a:r>
              <a:rPr sz="1150" b="1" i="0">
                <a:solidFill>
                  <a:srgbClr val="2F62C9"/>
                </a:solidFill>
                <a:latin typeface="Segoe UI"/>
              </a:rPr>
              <a:t>Client → Server</a:t>
            </a:r>
          </a:p>
        </p:txBody>
      </p:sp>
      <p:sp>
        <p:nvSpPr>
          <p:cNvPr id="22" name="TextBox 21"/>
          <p:cNvSpPr txBox="1"/>
          <p:nvPr/>
        </p:nvSpPr>
        <p:spPr>
          <a:xfrm>
            <a:off x="7589520" y="2971800"/>
            <a:ext cx="3657600" cy="566928"/>
          </a:xfrm>
          <a:prstGeom prst="rect">
            <a:avLst/>
          </a:prstGeom>
          <a:noFill/>
        </p:spPr>
        <p:txBody>
          <a:bodyPr wrap="square" anchor="ctr" lIns="50800" rIns="50800" tIns="25400" bIns="25400">
            <a:spAutoFit/>
          </a:bodyPr>
          <a:lstStyle/>
          <a:p>
            <a:pPr algn="l">
              <a:lnSpc>
                <a:spcPct val="100000"/>
              </a:lnSpc>
            </a:pPr>
            <a:r>
              <a:rPr sz="1150" b="0" i="0">
                <a:solidFill>
                  <a:srgbClr val="23426B"/>
                </a:solidFill>
                <a:latin typeface="Segoe UI"/>
              </a:rPr>
              <a:t>Gửi payload tín hiệu gọi audio/video</a:t>
            </a:r>
          </a:p>
        </p:txBody>
      </p:sp>
      <p:sp>
        <p:nvSpPr>
          <p:cNvPr id="23" name="Rounded Rectangle 22"/>
          <p:cNvSpPr/>
          <p:nvPr/>
        </p:nvSpPr>
        <p:spPr>
          <a:xfrm>
            <a:off x="777240" y="3593592"/>
            <a:ext cx="10607040" cy="566928"/>
          </a:xfrm>
          <a:prstGeom prst="roundRect">
            <a:avLst>
              <a:gd name="adj" fmla="val 6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3593592"/>
            <a:ext cx="91440" cy="566928"/>
          </a:xfrm>
          <a:prstGeom prst="rect">
            <a:avLst/>
          </a:prstGeom>
          <a:solidFill>
            <a:srgbClr val="3A9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593592"/>
            <a:ext cx="4023360" cy="566928"/>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/topic/conversation/{id}</a:t>
            </a:r>
          </a:p>
        </p:txBody>
      </p:sp>
      <p:sp>
        <p:nvSpPr>
          <p:cNvPr id="26" name="TextBox 25"/>
          <p:cNvSpPr txBox="1"/>
          <p:nvPr/>
        </p:nvSpPr>
        <p:spPr>
          <a:xfrm>
            <a:off x="5029200" y="3593592"/>
            <a:ext cx="2377440" cy="566928"/>
          </a:xfrm>
          <a:prstGeom prst="rect">
            <a:avLst/>
          </a:prstGeom>
          <a:noFill/>
        </p:spPr>
        <p:txBody>
          <a:bodyPr wrap="square" anchor="ctr" lIns="50800" rIns="50800" tIns="25400" bIns="25400">
            <a:spAutoFit/>
          </a:bodyPr>
          <a:lstStyle/>
          <a:p>
            <a:pPr algn="l">
              <a:lnSpc>
                <a:spcPct val="100000"/>
              </a:lnSpc>
            </a:pPr>
            <a:r>
              <a:rPr sz="1150" b="1" i="0">
                <a:solidFill>
                  <a:srgbClr val="3A9BCE"/>
                </a:solidFill>
                <a:latin typeface="Segoe UI"/>
              </a:rPr>
              <a:t>Server → Client</a:t>
            </a:r>
          </a:p>
        </p:txBody>
      </p:sp>
      <p:sp>
        <p:nvSpPr>
          <p:cNvPr id="27" name="TextBox 26"/>
          <p:cNvSpPr txBox="1"/>
          <p:nvPr/>
        </p:nvSpPr>
        <p:spPr>
          <a:xfrm>
            <a:off x="7589520" y="3593592"/>
            <a:ext cx="3657600" cy="566928"/>
          </a:xfrm>
          <a:prstGeom prst="rect">
            <a:avLst/>
          </a:prstGeom>
          <a:noFill/>
        </p:spPr>
        <p:txBody>
          <a:bodyPr wrap="square" anchor="ctr" lIns="50800" rIns="50800" tIns="25400" bIns="25400">
            <a:spAutoFit/>
          </a:bodyPr>
          <a:lstStyle/>
          <a:p>
            <a:pPr algn="l">
              <a:lnSpc>
                <a:spcPct val="100000"/>
              </a:lnSpc>
            </a:pPr>
            <a:r>
              <a:rPr sz="1150" b="0" i="0">
                <a:solidFill>
                  <a:srgbClr val="23426B"/>
                </a:solidFill>
                <a:latin typeface="Segoe UI"/>
              </a:rPr>
              <a:t>Tin nhắn, thu hồi, seen, typing</a:t>
            </a:r>
          </a:p>
        </p:txBody>
      </p:sp>
      <p:sp>
        <p:nvSpPr>
          <p:cNvPr id="28" name="Rounded Rectangle 27"/>
          <p:cNvSpPr/>
          <p:nvPr/>
        </p:nvSpPr>
        <p:spPr>
          <a:xfrm>
            <a:off x="777240" y="4215384"/>
            <a:ext cx="10607040" cy="566928"/>
          </a:xfrm>
          <a:prstGeom prst="roundRect">
            <a:avLst>
              <a:gd name="adj" fmla="val 6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4215384"/>
            <a:ext cx="91440" cy="566928"/>
          </a:xfrm>
          <a:prstGeom prst="rect">
            <a:avLst/>
          </a:prstGeom>
          <a:solidFill>
            <a:srgbClr val="8FB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4215384"/>
            <a:ext cx="4023360" cy="566928"/>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/topic/conversations/{id}/pins</a:t>
            </a:r>
          </a:p>
        </p:txBody>
      </p:sp>
      <p:sp>
        <p:nvSpPr>
          <p:cNvPr id="31" name="TextBox 30"/>
          <p:cNvSpPr txBox="1"/>
          <p:nvPr/>
        </p:nvSpPr>
        <p:spPr>
          <a:xfrm>
            <a:off x="5029200" y="4215384"/>
            <a:ext cx="2377440" cy="566928"/>
          </a:xfrm>
          <a:prstGeom prst="rect">
            <a:avLst/>
          </a:prstGeom>
          <a:noFill/>
        </p:spPr>
        <p:txBody>
          <a:bodyPr wrap="square" anchor="ctr" lIns="50800" rIns="50800" tIns="25400" bIns="25400">
            <a:spAutoFit/>
          </a:bodyPr>
          <a:lstStyle/>
          <a:p>
            <a:pPr algn="l">
              <a:lnSpc>
                <a:spcPct val="100000"/>
              </a:lnSpc>
            </a:pPr>
            <a:r>
              <a:rPr sz="1150" b="1" i="0">
                <a:solidFill>
                  <a:srgbClr val="3A9BCE"/>
                </a:solidFill>
                <a:latin typeface="Segoe UI"/>
              </a:rPr>
              <a:t>Server → Client</a:t>
            </a:r>
          </a:p>
        </p:txBody>
      </p:sp>
      <p:sp>
        <p:nvSpPr>
          <p:cNvPr id="32" name="TextBox 31"/>
          <p:cNvSpPr txBox="1"/>
          <p:nvPr/>
        </p:nvSpPr>
        <p:spPr>
          <a:xfrm>
            <a:off x="7589520" y="4215384"/>
            <a:ext cx="3657600" cy="566928"/>
          </a:xfrm>
          <a:prstGeom prst="rect">
            <a:avLst/>
          </a:prstGeom>
          <a:noFill/>
        </p:spPr>
        <p:txBody>
          <a:bodyPr wrap="square" anchor="ctr" lIns="50800" rIns="50800" tIns="25400" bIns="25400">
            <a:spAutoFit/>
          </a:bodyPr>
          <a:lstStyle/>
          <a:p>
            <a:pPr algn="l">
              <a:lnSpc>
                <a:spcPct val="100000"/>
              </a:lnSpc>
            </a:pPr>
            <a:r>
              <a:rPr sz="1150" b="0" i="0">
                <a:solidFill>
                  <a:srgbClr val="23426B"/>
                </a:solidFill>
                <a:latin typeface="Segoe UI"/>
              </a:rPr>
              <a:t>Cập nhật ghim/bỏ ghim tin nhắn</a:t>
            </a:r>
          </a:p>
        </p:txBody>
      </p:sp>
      <p:sp>
        <p:nvSpPr>
          <p:cNvPr id="33" name="Rounded Rectangle 32"/>
          <p:cNvSpPr/>
          <p:nvPr/>
        </p:nvSpPr>
        <p:spPr>
          <a:xfrm>
            <a:off x="777240" y="4837176"/>
            <a:ext cx="10607040" cy="566928"/>
          </a:xfrm>
          <a:prstGeom prst="roundRect">
            <a:avLst>
              <a:gd name="adj" fmla="val 6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4837176"/>
            <a:ext cx="91440" cy="566928"/>
          </a:xfrm>
          <a:prstGeom prst="rect">
            <a:avLst/>
          </a:prstGeom>
          <a:solidFill>
            <a:srgbClr val="7A8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0120" y="4837176"/>
            <a:ext cx="4023360" cy="566928"/>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/topic/conversations/{id}/members</a:t>
            </a:r>
          </a:p>
        </p:txBody>
      </p:sp>
      <p:sp>
        <p:nvSpPr>
          <p:cNvPr id="36" name="TextBox 35"/>
          <p:cNvSpPr txBox="1"/>
          <p:nvPr/>
        </p:nvSpPr>
        <p:spPr>
          <a:xfrm>
            <a:off x="5029200" y="4837176"/>
            <a:ext cx="2377440" cy="566928"/>
          </a:xfrm>
          <a:prstGeom prst="rect">
            <a:avLst/>
          </a:prstGeom>
          <a:noFill/>
        </p:spPr>
        <p:txBody>
          <a:bodyPr wrap="square" anchor="ctr" lIns="50800" rIns="50800" tIns="25400" bIns="25400">
            <a:spAutoFit/>
          </a:bodyPr>
          <a:lstStyle/>
          <a:p>
            <a:pPr algn="l">
              <a:lnSpc>
                <a:spcPct val="100000"/>
              </a:lnSpc>
            </a:pPr>
            <a:r>
              <a:rPr sz="1150" b="1" i="0">
                <a:solidFill>
                  <a:srgbClr val="3A9BCE"/>
                </a:solidFill>
                <a:latin typeface="Segoe UI"/>
              </a:rPr>
              <a:t>Server → Client</a:t>
            </a:r>
          </a:p>
        </p:txBody>
      </p:sp>
      <p:sp>
        <p:nvSpPr>
          <p:cNvPr id="37" name="TextBox 36"/>
          <p:cNvSpPr txBox="1"/>
          <p:nvPr/>
        </p:nvSpPr>
        <p:spPr>
          <a:xfrm>
            <a:off x="7589520" y="4837176"/>
            <a:ext cx="3657600" cy="566928"/>
          </a:xfrm>
          <a:prstGeom prst="rect">
            <a:avLst/>
          </a:prstGeom>
          <a:noFill/>
        </p:spPr>
        <p:txBody>
          <a:bodyPr wrap="square" anchor="ctr" lIns="50800" rIns="50800" tIns="25400" bIns="25400">
            <a:spAutoFit/>
          </a:bodyPr>
          <a:lstStyle/>
          <a:p>
            <a:pPr algn="l">
              <a:lnSpc>
                <a:spcPct val="100000"/>
              </a:lnSpc>
            </a:pPr>
            <a:r>
              <a:rPr sz="1150" b="0" i="0">
                <a:solidFill>
                  <a:srgbClr val="23426B"/>
                </a:solidFill>
                <a:latin typeface="Segoe UI"/>
              </a:rPr>
              <a:t>Cập nhật thành viên/biệt danh nhóm</a:t>
            </a:r>
          </a:p>
        </p:txBody>
      </p:sp>
      <p:sp>
        <p:nvSpPr>
          <p:cNvPr id="38" name="Rounded Rectangle 37"/>
          <p:cNvSpPr/>
          <p:nvPr/>
        </p:nvSpPr>
        <p:spPr>
          <a:xfrm>
            <a:off x="777240" y="5458968"/>
            <a:ext cx="10607040" cy="566928"/>
          </a:xfrm>
          <a:prstGeom prst="roundRect">
            <a:avLst>
              <a:gd name="adj" fmla="val 6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77240" y="5458968"/>
            <a:ext cx="91440" cy="566928"/>
          </a:xfrm>
          <a:prstGeom prst="rect">
            <a:avLst/>
          </a:prstGeom>
          <a:solidFill>
            <a:srgbClr val="3E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5458968"/>
            <a:ext cx="4023360" cy="566928"/>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/topic/user/{id}/conversations</a:t>
            </a:r>
          </a:p>
        </p:txBody>
      </p:sp>
      <p:sp>
        <p:nvSpPr>
          <p:cNvPr id="41" name="TextBox 40"/>
          <p:cNvSpPr txBox="1"/>
          <p:nvPr/>
        </p:nvSpPr>
        <p:spPr>
          <a:xfrm>
            <a:off x="5029200" y="5458968"/>
            <a:ext cx="2377440" cy="566928"/>
          </a:xfrm>
          <a:prstGeom prst="rect">
            <a:avLst/>
          </a:prstGeom>
          <a:noFill/>
        </p:spPr>
        <p:txBody>
          <a:bodyPr wrap="square" anchor="ctr" lIns="50800" rIns="50800" tIns="25400" bIns="25400">
            <a:spAutoFit/>
          </a:bodyPr>
          <a:lstStyle/>
          <a:p>
            <a:pPr algn="l">
              <a:lnSpc>
                <a:spcPct val="100000"/>
              </a:lnSpc>
            </a:pPr>
            <a:r>
              <a:rPr sz="1150" b="1" i="0">
                <a:solidFill>
                  <a:srgbClr val="3A9BCE"/>
                </a:solidFill>
                <a:latin typeface="Segoe UI"/>
              </a:rPr>
              <a:t>Server → Client</a:t>
            </a:r>
          </a:p>
        </p:txBody>
      </p:sp>
      <p:sp>
        <p:nvSpPr>
          <p:cNvPr id="42" name="TextBox 41"/>
          <p:cNvSpPr txBox="1"/>
          <p:nvPr/>
        </p:nvSpPr>
        <p:spPr>
          <a:xfrm>
            <a:off x="7589520" y="5458968"/>
            <a:ext cx="3657600" cy="566928"/>
          </a:xfrm>
          <a:prstGeom prst="rect">
            <a:avLst/>
          </a:prstGeom>
          <a:noFill/>
        </p:spPr>
        <p:txBody>
          <a:bodyPr wrap="square" anchor="ctr" lIns="50800" rIns="50800" tIns="25400" bIns="25400">
            <a:spAutoFit/>
          </a:bodyPr>
          <a:lstStyle/>
          <a:p>
            <a:pPr algn="l">
              <a:lnSpc>
                <a:spcPct val="100000"/>
              </a:lnSpc>
            </a:pPr>
            <a:r>
              <a:rPr sz="1150" b="0" i="0">
                <a:solidFill>
                  <a:srgbClr val="23426B"/>
                </a:solidFill>
                <a:latin typeface="Segoe UI"/>
              </a:rPr>
              <a:t>Thay đổi danh sách hội thoại &amp; nhóm</a:t>
            </a:r>
          </a:p>
        </p:txBody>
      </p:sp>
      <p:sp>
        <p:nvSpPr>
          <p:cNvPr id="43" name="Rounded Rectangle 42"/>
          <p:cNvSpPr/>
          <p:nvPr/>
        </p:nvSpPr>
        <p:spPr>
          <a:xfrm>
            <a:off x="777240" y="6080760"/>
            <a:ext cx="10607040" cy="566928"/>
          </a:xfrm>
          <a:prstGeom prst="roundRect">
            <a:avLst>
              <a:gd name="adj" fmla="val 6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6080760"/>
            <a:ext cx="91440" cy="566928"/>
          </a:xfrm>
          <a:prstGeom prst="rect">
            <a:avLst/>
          </a:prstGeom>
          <a:solidFill>
            <a:srgbClr val="2A4A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60120" y="6080760"/>
            <a:ext cx="4023360" cy="566928"/>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/topic/user/{id}/calls</a:t>
            </a:r>
          </a:p>
        </p:txBody>
      </p:sp>
      <p:sp>
        <p:nvSpPr>
          <p:cNvPr id="46" name="TextBox 45"/>
          <p:cNvSpPr txBox="1"/>
          <p:nvPr/>
        </p:nvSpPr>
        <p:spPr>
          <a:xfrm>
            <a:off x="5029200" y="6080760"/>
            <a:ext cx="2377440" cy="566928"/>
          </a:xfrm>
          <a:prstGeom prst="rect">
            <a:avLst/>
          </a:prstGeom>
          <a:noFill/>
        </p:spPr>
        <p:txBody>
          <a:bodyPr wrap="square" anchor="ctr" lIns="50800" rIns="50800" tIns="25400" bIns="25400">
            <a:spAutoFit/>
          </a:bodyPr>
          <a:lstStyle/>
          <a:p>
            <a:pPr algn="l">
              <a:lnSpc>
                <a:spcPct val="100000"/>
              </a:lnSpc>
            </a:pPr>
            <a:r>
              <a:rPr sz="1150" b="1" i="0">
                <a:solidFill>
                  <a:srgbClr val="3A9BCE"/>
                </a:solidFill>
                <a:latin typeface="Segoe UI"/>
              </a:rPr>
              <a:t>Server → Client</a:t>
            </a:r>
          </a:p>
        </p:txBody>
      </p:sp>
      <p:sp>
        <p:nvSpPr>
          <p:cNvPr id="47" name="TextBox 46"/>
          <p:cNvSpPr txBox="1"/>
          <p:nvPr/>
        </p:nvSpPr>
        <p:spPr>
          <a:xfrm>
            <a:off x="7589520" y="6080760"/>
            <a:ext cx="3657600" cy="566928"/>
          </a:xfrm>
          <a:prstGeom prst="rect">
            <a:avLst/>
          </a:prstGeom>
          <a:noFill/>
        </p:spPr>
        <p:txBody>
          <a:bodyPr wrap="square" anchor="ctr" lIns="50800" rIns="50800" tIns="25400" bIns="25400">
            <a:spAutoFit/>
          </a:bodyPr>
          <a:lstStyle/>
          <a:p>
            <a:pPr algn="l">
              <a:lnSpc>
                <a:spcPct val="100000"/>
              </a:lnSpc>
            </a:pPr>
            <a:r>
              <a:rPr sz="1150" b="0" i="0">
                <a:solidFill>
                  <a:srgbClr val="23426B"/>
                </a:solidFill>
                <a:latin typeface="Segoe UI"/>
              </a:rPr>
              <a:t>Cuộc gọi đến &amp; trạng thái cuộc gọi</a:t>
            </a:r>
          </a:p>
        </p:txBody>
      </p:sp>
      <p:sp>
        <p:nvSpPr>
          <p:cNvPr id="48" name="TextBox 47"/>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9" name="Rounded Rectangle 48"/>
          <p:cNvSpPr/>
          <p:nvPr/>
        </p:nvSpPr>
        <p:spPr>
          <a:xfrm>
            <a:off x="11247120" y="6382512"/>
            <a:ext cx="502920" cy="310896"/>
          </a:xfrm>
          <a:prstGeom prst="roundRect">
            <a:avLst>
              <a:gd name="adj" fmla="val 50000"/>
            </a:avLst>
          </a:prstGeom>
          <a:gradFill>
            <a:gsLst>
              <a:gs pos="0">
                <a:srgbClr val="5158C4"/>
              </a:gs>
              <a:gs pos="100000">
                <a:srgbClr val="858AD5"/>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Callout 4"/>
          <p:cNvSpPr/>
          <p:nvPr/>
        </p:nvSpPr>
        <p:spPr>
          <a:xfrm>
            <a:off x="9784080" y="137160"/>
            <a:ext cx="2377440" cy="1828800"/>
          </a:xfrm>
          <a:prstGeom prst="wedgeEllipse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5470CE"/>
              </a:gs>
              <a:gs pos="100000">
                <a:srgbClr val="A0B0E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5470CE"/>
                </a:solidFill>
                <a:latin typeface="Segoe UI Semibold"/>
              </a:rPr>
              <a:t>MODULE · CALLS</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Tín hiệu gọi Audio/Video</a:t>
            </a:r>
          </a:p>
        </p:txBody>
      </p:sp>
      <p:sp>
        <p:nvSpPr>
          <p:cNvPr id="9" name="TextBox 8"/>
          <p:cNvSpPr txBox="1"/>
          <p:nvPr/>
        </p:nvSpPr>
        <p:spPr>
          <a:xfrm>
            <a:off x="777240" y="1645920"/>
            <a:ext cx="10607040" cy="457200"/>
          </a:xfrm>
          <a:prstGeom prst="rect">
            <a:avLst/>
          </a:prstGeom>
          <a:noFill/>
        </p:spPr>
        <p:txBody>
          <a:bodyPr wrap="square" anchor="t" lIns="50800" rIns="50800" tIns="25400" bIns="25400">
            <a:spAutoFit/>
          </a:bodyPr>
          <a:lstStyle/>
          <a:p>
            <a:pPr algn="l">
              <a:lnSpc>
                <a:spcPct val="100000"/>
              </a:lnSpc>
            </a:pPr>
            <a:r>
              <a:rPr sz="1400" b="0" i="0">
                <a:solidFill>
                  <a:srgbClr val="23426B"/>
                </a:solidFill>
                <a:latin typeface="Segoe UI"/>
              </a:rPr>
              <a:t>WebSocket signaling cho các sự kiện cuộc gọi — backend đóng vai trò trung gian trao đổi tín hiệu.</a:t>
            </a:r>
          </a:p>
        </p:txBody>
      </p:sp>
      <p:sp>
        <p:nvSpPr>
          <p:cNvPr id="10" name="Rounded Rectangle 9"/>
          <p:cNvSpPr/>
          <p:nvPr/>
        </p:nvSpPr>
        <p:spPr>
          <a:xfrm>
            <a:off x="777240" y="2377440"/>
            <a:ext cx="2011680" cy="1783080"/>
          </a:xfrm>
          <a:prstGeom prst="roundRect">
            <a:avLst>
              <a:gd name="adj" fmla="val 10000"/>
            </a:avLst>
          </a:prstGeom>
          <a:gradFill>
            <a:gsLst>
              <a:gs pos="0">
                <a:srgbClr val="5B63D6"/>
              </a:gs>
              <a:gs pos="100000">
                <a:srgbClr val="7A82E6"/>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560320"/>
            <a:ext cx="2011680" cy="640080"/>
          </a:xfrm>
          <a:prstGeom prst="rect">
            <a:avLst/>
          </a:prstGeom>
          <a:noFill/>
        </p:spPr>
        <p:txBody>
          <a:bodyPr wrap="square" anchor="t" lIns="50800" rIns="50800" tIns="25400" bIns="25400">
            <a:spAutoFit/>
          </a:bodyPr>
          <a:lstStyle/>
          <a:p>
            <a:pPr algn="ctr">
              <a:lnSpc>
                <a:spcPct val="100000"/>
              </a:lnSpc>
            </a:pPr>
            <a:r>
              <a:rPr sz="3400" b="0" i="0">
                <a:solidFill>
                  <a:srgbClr val="FFFFFF"/>
                </a:solidFill>
                <a:latin typeface="Segoe UI"/>
              </a:rPr>
              <a:t>📞</a:t>
            </a:r>
          </a:p>
        </p:txBody>
      </p:sp>
      <p:sp>
        <p:nvSpPr>
          <p:cNvPr id="12" name="TextBox 11"/>
          <p:cNvSpPr txBox="1"/>
          <p:nvPr/>
        </p:nvSpPr>
        <p:spPr>
          <a:xfrm>
            <a:off x="777240" y="3246120"/>
            <a:ext cx="201168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Call</a:t>
            </a:r>
          </a:p>
        </p:txBody>
      </p:sp>
      <p:sp>
        <p:nvSpPr>
          <p:cNvPr id="13" name="TextBox 12"/>
          <p:cNvSpPr txBox="1"/>
          <p:nvPr/>
        </p:nvSpPr>
        <p:spPr>
          <a:xfrm>
            <a:off x="868680" y="3611880"/>
            <a:ext cx="18288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Bên gọi khởi tạo cuộc gọi tới đối phương</a:t>
            </a:r>
          </a:p>
        </p:txBody>
      </p:sp>
      <p:sp>
        <p:nvSpPr>
          <p:cNvPr id="14" name="Rounded Rectangle 13"/>
          <p:cNvSpPr/>
          <p:nvPr/>
        </p:nvSpPr>
        <p:spPr>
          <a:xfrm>
            <a:off x="2907792" y="2377440"/>
            <a:ext cx="2011680" cy="1783080"/>
          </a:xfrm>
          <a:prstGeom prst="roundRect">
            <a:avLst>
              <a:gd name="adj" fmla="val 10000"/>
            </a:avLst>
          </a:prstGeom>
          <a:gradFill>
            <a:gsLst>
              <a:gs pos="0">
                <a:srgbClr val="3E78D6"/>
              </a:gs>
              <a:gs pos="100000">
                <a:srgbClr val="2E93A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07792" y="2560320"/>
            <a:ext cx="2011680" cy="640080"/>
          </a:xfrm>
          <a:prstGeom prst="rect">
            <a:avLst/>
          </a:prstGeom>
          <a:noFill/>
        </p:spPr>
        <p:txBody>
          <a:bodyPr wrap="square" anchor="t" lIns="50800" rIns="50800" tIns="25400" bIns="25400">
            <a:spAutoFit/>
          </a:bodyPr>
          <a:lstStyle/>
          <a:p>
            <a:pPr algn="ctr">
              <a:lnSpc>
                <a:spcPct val="100000"/>
              </a:lnSpc>
            </a:pPr>
            <a:r>
              <a:rPr sz="3400" b="0" i="0">
                <a:solidFill>
                  <a:srgbClr val="FFFFFF"/>
                </a:solidFill>
                <a:latin typeface="Segoe UI"/>
              </a:rPr>
              <a:t>✅</a:t>
            </a:r>
          </a:p>
        </p:txBody>
      </p:sp>
      <p:sp>
        <p:nvSpPr>
          <p:cNvPr id="16" name="TextBox 15"/>
          <p:cNvSpPr txBox="1"/>
          <p:nvPr/>
        </p:nvSpPr>
        <p:spPr>
          <a:xfrm>
            <a:off x="2907792" y="3246120"/>
            <a:ext cx="201168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Answer</a:t>
            </a:r>
          </a:p>
        </p:txBody>
      </p:sp>
      <p:sp>
        <p:nvSpPr>
          <p:cNvPr id="17" name="TextBox 16"/>
          <p:cNvSpPr txBox="1"/>
          <p:nvPr/>
        </p:nvSpPr>
        <p:spPr>
          <a:xfrm>
            <a:off x="2999232" y="3611880"/>
            <a:ext cx="18288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Bên nhận chấp nhận cuộc gọi</a:t>
            </a:r>
          </a:p>
        </p:txBody>
      </p:sp>
      <p:sp>
        <p:nvSpPr>
          <p:cNvPr id="18" name="Rounded Rectangle 17"/>
          <p:cNvSpPr/>
          <p:nvPr/>
        </p:nvSpPr>
        <p:spPr>
          <a:xfrm>
            <a:off x="5038344" y="2377440"/>
            <a:ext cx="2011680" cy="1783080"/>
          </a:xfrm>
          <a:prstGeom prst="roundRect">
            <a:avLst>
              <a:gd name="adj" fmla="val 10000"/>
            </a:avLst>
          </a:prstGeom>
          <a:gradFill>
            <a:gsLst>
              <a:gs pos="0">
                <a:srgbClr val="2F86A4"/>
              </a:gs>
              <a:gs pos="100000">
                <a:srgbClr val="3A9B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8344" y="2560320"/>
            <a:ext cx="2011680" cy="640080"/>
          </a:xfrm>
          <a:prstGeom prst="rect">
            <a:avLst/>
          </a:prstGeom>
          <a:noFill/>
        </p:spPr>
        <p:txBody>
          <a:bodyPr wrap="square" anchor="t" lIns="50800" rIns="50800" tIns="25400" bIns="25400">
            <a:spAutoFit/>
          </a:bodyPr>
          <a:lstStyle/>
          <a:p>
            <a:pPr algn="ctr">
              <a:lnSpc>
                <a:spcPct val="100000"/>
              </a:lnSpc>
            </a:pPr>
            <a:r>
              <a:rPr sz="3400" b="0" i="0">
                <a:solidFill>
                  <a:srgbClr val="FFFFFF"/>
                </a:solidFill>
                <a:latin typeface="Segoe UI"/>
              </a:rPr>
              <a:t>🧊</a:t>
            </a:r>
          </a:p>
        </p:txBody>
      </p:sp>
      <p:sp>
        <p:nvSpPr>
          <p:cNvPr id="20" name="TextBox 19"/>
          <p:cNvSpPr txBox="1"/>
          <p:nvPr/>
        </p:nvSpPr>
        <p:spPr>
          <a:xfrm>
            <a:off x="5038344" y="3246120"/>
            <a:ext cx="201168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ICE Candidate</a:t>
            </a:r>
          </a:p>
        </p:txBody>
      </p:sp>
      <p:sp>
        <p:nvSpPr>
          <p:cNvPr id="21" name="TextBox 20"/>
          <p:cNvSpPr txBox="1"/>
          <p:nvPr/>
        </p:nvSpPr>
        <p:spPr>
          <a:xfrm>
            <a:off x="5129784" y="3611880"/>
            <a:ext cx="18288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Trao đổi ứng viên kết nối ICE</a:t>
            </a:r>
          </a:p>
        </p:txBody>
      </p:sp>
      <p:sp>
        <p:nvSpPr>
          <p:cNvPr id="22" name="Rounded Rectangle 21"/>
          <p:cNvSpPr/>
          <p:nvPr/>
        </p:nvSpPr>
        <p:spPr>
          <a:xfrm>
            <a:off x="7168896" y="2377440"/>
            <a:ext cx="2011680" cy="1783080"/>
          </a:xfrm>
          <a:prstGeom prst="roundRect">
            <a:avLst>
              <a:gd name="adj" fmla="val 10000"/>
            </a:avLst>
          </a:prstGeom>
          <a:gradFill>
            <a:gsLst>
              <a:gs pos="0">
                <a:srgbClr val="2A4A93"/>
              </a:gs>
              <a:gs pos="100000">
                <a:srgbClr val="8FBDE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68896" y="2560320"/>
            <a:ext cx="2011680" cy="640080"/>
          </a:xfrm>
          <a:prstGeom prst="rect">
            <a:avLst/>
          </a:prstGeom>
          <a:noFill/>
        </p:spPr>
        <p:txBody>
          <a:bodyPr wrap="square" anchor="t" lIns="50800" rIns="50800" tIns="25400" bIns="25400">
            <a:spAutoFit/>
          </a:bodyPr>
          <a:lstStyle/>
          <a:p>
            <a:pPr algn="ctr">
              <a:lnSpc>
                <a:spcPct val="100000"/>
              </a:lnSpc>
            </a:pPr>
            <a:r>
              <a:rPr sz="3400" b="0" i="0">
                <a:solidFill>
                  <a:srgbClr val="FFFFFF"/>
                </a:solidFill>
                <a:latin typeface="Segoe UI"/>
              </a:rPr>
              <a:t>🚫</a:t>
            </a:r>
          </a:p>
        </p:txBody>
      </p:sp>
      <p:sp>
        <p:nvSpPr>
          <p:cNvPr id="24" name="TextBox 23"/>
          <p:cNvSpPr txBox="1"/>
          <p:nvPr/>
        </p:nvSpPr>
        <p:spPr>
          <a:xfrm>
            <a:off x="7168896" y="3246120"/>
            <a:ext cx="201168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Reject</a:t>
            </a:r>
          </a:p>
        </p:txBody>
      </p:sp>
      <p:sp>
        <p:nvSpPr>
          <p:cNvPr id="25" name="TextBox 24"/>
          <p:cNvSpPr txBox="1"/>
          <p:nvPr/>
        </p:nvSpPr>
        <p:spPr>
          <a:xfrm>
            <a:off x="7260336" y="3611880"/>
            <a:ext cx="18288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Từ chối cuộc gọi đến</a:t>
            </a:r>
          </a:p>
        </p:txBody>
      </p:sp>
      <p:sp>
        <p:nvSpPr>
          <p:cNvPr id="26" name="Rounded Rectangle 25"/>
          <p:cNvSpPr/>
          <p:nvPr/>
        </p:nvSpPr>
        <p:spPr>
          <a:xfrm>
            <a:off x="9299448" y="2377440"/>
            <a:ext cx="2011680" cy="1783080"/>
          </a:xfrm>
          <a:prstGeom prst="roundRect">
            <a:avLst>
              <a:gd name="adj" fmla="val 10000"/>
            </a:avLst>
          </a:prstGeom>
          <a:gradFill>
            <a:gsLst>
              <a:gs pos="0">
                <a:srgbClr val="2F62C9"/>
              </a:gs>
              <a:gs pos="100000">
                <a:srgbClr val="5470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99448" y="2560320"/>
            <a:ext cx="2011680" cy="640080"/>
          </a:xfrm>
          <a:prstGeom prst="rect">
            <a:avLst/>
          </a:prstGeom>
          <a:noFill/>
        </p:spPr>
        <p:txBody>
          <a:bodyPr wrap="square" anchor="t" lIns="50800" rIns="50800" tIns="25400" bIns="25400">
            <a:spAutoFit/>
          </a:bodyPr>
          <a:lstStyle/>
          <a:p>
            <a:pPr algn="ctr">
              <a:lnSpc>
                <a:spcPct val="100000"/>
              </a:lnSpc>
            </a:pPr>
            <a:r>
              <a:rPr sz="3400" b="0" i="0">
                <a:solidFill>
                  <a:srgbClr val="FFFFFF"/>
                </a:solidFill>
                <a:latin typeface="Segoe UI"/>
              </a:rPr>
              <a:t>🔚</a:t>
            </a:r>
          </a:p>
        </p:txBody>
      </p:sp>
      <p:sp>
        <p:nvSpPr>
          <p:cNvPr id="28" name="TextBox 27"/>
          <p:cNvSpPr txBox="1"/>
          <p:nvPr/>
        </p:nvSpPr>
        <p:spPr>
          <a:xfrm>
            <a:off x="9299448" y="3246120"/>
            <a:ext cx="2011680" cy="365760"/>
          </a:xfrm>
          <a:prstGeom prst="rect">
            <a:avLst/>
          </a:prstGeom>
          <a:noFill/>
        </p:spPr>
        <p:txBody>
          <a:bodyPr wrap="square" anchor="t" lIns="50800" rIns="50800" tIns="25400" bIns="25400">
            <a:spAutoFit/>
          </a:bodyPr>
          <a:lstStyle/>
          <a:p>
            <a:pPr algn="ctr">
              <a:lnSpc>
                <a:spcPct val="100000"/>
              </a:lnSpc>
            </a:pPr>
            <a:r>
              <a:rPr sz="1500" b="1" i="0">
                <a:solidFill>
                  <a:srgbClr val="FFFFFF"/>
                </a:solidFill>
                <a:latin typeface="Segoe UI Semibold"/>
              </a:rPr>
              <a:t>End Call</a:t>
            </a:r>
          </a:p>
        </p:txBody>
      </p:sp>
      <p:sp>
        <p:nvSpPr>
          <p:cNvPr id="29" name="TextBox 28"/>
          <p:cNvSpPr txBox="1"/>
          <p:nvPr/>
        </p:nvSpPr>
        <p:spPr>
          <a:xfrm>
            <a:off x="9390888" y="3611880"/>
            <a:ext cx="18288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Kết thúc &amp; dọn dẹp phiên gọi</a:t>
            </a:r>
          </a:p>
        </p:txBody>
      </p:sp>
      <p:sp>
        <p:nvSpPr>
          <p:cNvPr id="30" name="Rounded Rectangle 29"/>
          <p:cNvSpPr/>
          <p:nvPr/>
        </p:nvSpPr>
        <p:spPr>
          <a:xfrm>
            <a:off x="777240" y="4526280"/>
            <a:ext cx="10607040" cy="1325880"/>
          </a:xfrm>
          <a:prstGeom prst="roundRect">
            <a:avLst>
              <a:gd name="adj" fmla="val 6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663440"/>
            <a:ext cx="10241280" cy="365760"/>
          </a:xfrm>
          <a:prstGeom prst="rect">
            <a:avLst/>
          </a:prstGeom>
          <a:noFill/>
        </p:spPr>
        <p:txBody>
          <a:bodyPr wrap="square" anchor="t" lIns="50800" rIns="50800" tIns="25400" bIns="25400">
            <a:spAutoFit/>
          </a:bodyPr>
          <a:lstStyle/>
          <a:p>
            <a:pPr algn="l">
              <a:lnSpc>
                <a:spcPct val="100000"/>
              </a:lnSpc>
            </a:pPr>
            <a:r>
              <a:rPr sz="1400" b="1" i="0">
                <a:solidFill>
                  <a:srgbClr val="5470CE"/>
                </a:solidFill>
                <a:latin typeface="Segoe UI Semibold"/>
              </a:rPr>
              <a:t>📡  Kênh tín hiệu</a:t>
            </a:r>
          </a:p>
        </p:txBody>
      </p:sp>
      <p:sp>
        <p:nvSpPr>
          <p:cNvPr id="32" name="TextBox 31"/>
          <p:cNvSpPr txBox="1"/>
          <p:nvPr/>
        </p:nvSpPr>
        <p:spPr>
          <a:xfrm>
            <a:off x="1005840" y="5074920"/>
            <a:ext cx="10149840" cy="731520"/>
          </a:xfrm>
          <a:prstGeom prst="rect">
            <a:avLst/>
          </a:prstGeom>
          <a:noFill/>
        </p:spPr>
        <p:txBody>
          <a:bodyPr wrap="square" lIns="25400" rIns="25400">
            <a:spAutoFit/>
          </a:bodyPr>
          <a:lstStyle/>
          <a:p>
            <a:pPr>
              <a:lnSpc>
                <a:spcPct val="105000"/>
              </a:lnSpc>
              <a:spcAft>
                <a:spcPts val="600"/>
              </a:spcAft>
            </a:pPr>
            <a:r>
              <a:rPr sz="1200" b="1">
                <a:solidFill>
                  <a:srgbClr val="5470CE"/>
                </a:solidFill>
                <a:latin typeface="Segoe UI"/>
              </a:rPr>
              <a:t>▸  </a:t>
            </a:r>
            <a:r>
              <a:rPr sz="1200">
                <a:solidFill>
                  <a:srgbClr val="23426B"/>
                </a:solidFill>
                <a:latin typeface="Segoe UI"/>
              </a:rPr>
              <a:t>Client gửi payload qua  /app/call.signal  (Client → Server).</a:t>
            </a:r>
          </a:p>
          <a:p>
            <a:pPr>
              <a:lnSpc>
                <a:spcPct val="105000"/>
              </a:lnSpc>
              <a:spcAft>
                <a:spcPts val="600"/>
              </a:spcAft>
            </a:pPr>
            <a:r>
              <a:rPr sz="1200" b="1">
                <a:solidFill>
                  <a:srgbClr val="5470CE"/>
                </a:solidFill>
                <a:latin typeface="Segoe UI"/>
              </a:rPr>
              <a:t>▸  </a:t>
            </a:r>
            <a:r>
              <a:rPr sz="1200">
                <a:solidFill>
                  <a:srgbClr val="23426B"/>
                </a:solidFill>
                <a:latin typeface="Segoe UI"/>
              </a:rPr>
              <a:t>Server phát sự kiện gọi đến &amp; trạng thái qua  /topic/user/{userId}/calls  (Server → Client).</a:t>
            </a:r>
          </a:p>
        </p:txBody>
      </p:sp>
      <p:sp>
        <p:nvSpPr>
          <p:cNvPr id="33" name="TextBox 32"/>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4" name="Rounded Rectangle 33"/>
          <p:cNvSpPr/>
          <p:nvPr/>
        </p:nvSpPr>
        <p:spPr>
          <a:xfrm>
            <a:off x="11247120" y="6382512"/>
            <a:ext cx="502920" cy="310896"/>
          </a:xfrm>
          <a:prstGeom prst="roundRect">
            <a:avLst>
              <a:gd name="adj" fmla="val 50000"/>
            </a:avLst>
          </a:prstGeom>
          <a:gradFill>
            <a:gsLst>
              <a:gs pos="0">
                <a:srgbClr val="5470CE"/>
              </a:gs>
              <a:gs pos="100000">
                <a:srgbClr val="879ADC"/>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miley Face 4"/>
          <p:cNvSpPr/>
          <p:nvPr/>
        </p:nvSpPr>
        <p:spPr>
          <a:xfrm>
            <a:off x="9921240" y="0"/>
            <a:ext cx="2103120" cy="2103120"/>
          </a:xfrm>
          <a:prstGeom prst="smileyFace">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7A82E6"/>
              </a:gs>
              <a:gs pos="100000">
                <a:srgbClr val="B5BAF1"/>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7A82E6"/>
                </a:solidFill>
                <a:latin typeface="Segoe UI Semibold"/>
              </a:rPr>
              <a:t>MODULE · AI</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Trợ lý AI trong hội thoại</a:t>
            </a:r>
          </a:p>
        </p:txBody>
      </p:sp>
      <p:sp>
        <p:nvSpPr>
          <p:cNvPr id="9" name="Rounded Rectangle 8"/>
          <p:cNvSpPr/>
          <p:nvPr/>
        </p:nvSpPr>
        <p:spPr>
          <a:xfrm>
            <a:off x="777240" y="1737360"/>
            <a:ext cx="5212080" cy="182880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37360"/>
            <a:ext cx="521208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199339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97510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670048"/>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Consent Gate</a:t>
            </a:r>
          </a:p>
        </p:txBody>
      </p:sp>
      <p:sp>
        <p:nvSpPr>
          <p:cNvPr id="14" name="TextBox 13"/>
          <p:cNvSpPr txBox="1"/>
          <p:nvPr/>
        </p:nvSpPr>
        <p:spPr>
          <a:xfrm>
            <a:off x="960120" y="3035808"/>
            <a:ext cx="4846320" cy="45720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Người dùng phải đồng ý dùng AI trước khi backend xử lý hội thoại qua provider.  POST /api/users/me/confirm-ai</a:t>
            </a:r>
          </a:p>
        </p:txBody>
      </p:sp>
      <p:sp>
        <p:nvSpPr>
          <p:cNvPr id="15" name="Rounded Rectangle 14"/>
          <p:cNvSpPr/>
          <p:nvPr/>
        </p:nvSpPr>
        <p:spPr>
          <a:xfrm>
            <a:off x="6172200" y="1737360"/>
            <a:ext cx="5212080" cy="182880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1737360"/>
            <a:ext cx="5212080"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73368" y="199339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97510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6355080" y="2670048"/>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Tóm tắt hội thoại</a:t>
            </a:r>
          </a:p>
        </p:txBody>
      </p:sp>
      <p:sp>
        <p:nvSpPr>
          <p:cNvPr id="20" name="TextBox 19"/>
          <p:cNvSpPr txBox="1"/>
          <p:nvPr/>
        </p:nvSpPr>
        <p:spPr>
          <a:xfrm>
            <a:off x="6355080" y="3035808"/>
            <a:ext cx="4846320" cy="45720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Tự động tóm tắt nội dung cuộc trò chuyện dài.  POST /api/ai/summarize</a:t>
            </a:r>
          </a:p>
        </p:txBody>
      </p:sp>
      <p:sp>
        <p:nvSpPr>
          <p:cNvPr id="21" name="Rounded Rectangle 20"/>
          <p:cNvSpPr/>
          <p:nvPr/>
        </p:nvSpPr>
        <p:spPr>
          <a:xfrm>
            <a:off x="777240" y="3749040"/>
            <a:ext cx="5212080" cy="182880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77240" y="3749040"/>
            <a:ext cx="5212080"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 y="400507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398678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960120" y="4681728"/>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Gợi ý nội dung</a:t>
            </a:r>
          </a:p>
        </p:txBody>
      </p:sp>
      <p:sp>
        <p:nvSpPr>
          <p:cNvPr id="26" name="TextBox 25"/>
          <p:cNvSpPr txBox="1"/>
          <p:nvPr/>
        </p:nvSpPr>
        <p:spPr>
          <a:xfrm>
            <a:off x="960120" y="5047488"/>
            <a:ext cx="4846320" cy="45720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Đề xuất câu trả lời thông minh theo ngữ cảnh &amp; gợi ý nội dung.  POST /api/ai/suggestions</a:t>
            </a:r>
          </a:p>
        </p:txBody>
      </p:sp>
      <p:sp>
        <p:nvSpPr>
          <p:cNvPr id="27" name="Rounded Rectangle 26"/>
          <p:cNvSpPr/>
          <p:nvPr/>
        </p:nvSpPr>
        <p:spPr>
          <a:xfrm>
            <a:off x="6172200" y="3749040"/>
            <a:ext cx="5212080" cy="182880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172200" y="3749040"/>
            <a:ext cx="5212080" cy="109728"/>
          </a:xfrm>
          <a:prstGeom prst="roundRect">
            <a:avLst>
              <a:gd name="adj" fmla="val 50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73368" y="4005072"/>
            <a:ext cx="603504" cy="603504"/>
          </a:xfrm>
          <a:prstGeom prst="roundRect">
            <a:avLst>
              <a:gd name="adj" fmla="val 30000"/>
            </a:avLst>
          </a:prstGeom>
          <a:gradFill>
            <a:gsLst>
              <a:gs pos="0">
                <a:srgbClr val="2F62C9"/>
              </a:gs>
              <a:gs pos="100000">
                <a:srgbClr val="5470CE"/>
              </a:gs>
            </a:gsLst>
            <a:lin ang="2700000" scaled="1"/>
          </a:gradFill>
          <a:ln>
            <a:noFill/>
          </a:ln>
          <a:effectLst>
            <a:outerShdw blurRad="54864" dist="36576" dir="5400000" rotWithShape="0">
              <a:srgbClr val="2F62C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368" y="398678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6355080" y="4681728"/>
            <a:ext cx="4846320" cy="365760"/>
          </a:xfrm>
          <a:prstGeom prst="rect">
            <a:avLst/>
          </a:prstGeom>
          <a:noFill/>
        </p:spPr>
        <p:txBody>
          <a:bodyPr wrap="square" anchor="t" lIns="50800" rIns="50800" tIns="25400" bIns="25400">
            <a:spAutoFit/>
          </a:bodyPr>
          <a:lstStyle/>
          <a:p>
            <a:pPr algn="l">
              <a:lnSpc>
                <a:spcPct val="100000"/>
              </a:lnSpc>
            </a:pPr>
            <a:r>
              <a:rPr sz="1550" b="1" i="0">
                <a:solidFill>
                  <a:srgbClr val="0B2545"/>
                </a:solidFill>
                <a:latin typeface="Segoe UI Semibold"/>
              </a:rPr>
              <a:t>OpenRouter Gateway</a:t>
            </a:r>
          </a:p>
        </p:txBody>
      </p:sp>
      <p:sp>
        <p:nvSpPr>
          <p:cNvPr id="32" name="TextBox 31"/>
          <p:cNvSpPr txBox="1"/>
          <p:nvPr/>
        </p:nvSpPr>
        <p:spPr>
          <a:xfrm>
            <a:off x="6355080" y="5047488"/>
            <a:ext cx="4846320" cy="45720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Chuẩn tương thích OpenAI API qua Spring WebClient — đổi/mở rộng model không ảnh hưởng backend.</a:t>
            </a:r>
          </a:p>
        </p:txBody>
      </p:sp>
      <p:sp>
        <p:nvSpPr>
          <p:cNvPr id="33" name="TextBox 32"/>
          <p:cNvSpPr txBox="1"/>
          <p:nvPr/>
        </p:nvSpPr>
        <p:spPr>
          <a:xfrm>
            <a:off x="777240" y="5650992"/>
            <a:ext cx="3200400" cy="365760"/>
          </a:xfrm>
          <a:prstGeom prst="rect">
            <a:avLst/>
          </a:prstGeom>
          <a:noFill/>
        </p:spPr>
        <p:txBody>
          <a:bodyPr wrap="square" anchor="t" lIns="50800" rIns="50800" tIns="25400" bIns="25400">
            <a:spAutoFit/>
          </a:bodyPr>
          <a:lstStyle/>
          <a:p>
            <a:pPr algn="l">
              <a:lnSpc>
                <a:spcPct val="100000"/>
              </a:lnSpc>
            </a:pPr>
            <a:r>
              <a:rPr sz="1250" b="1" i="0">
                <a:solidFill>
                  <a:srgbClr val="7A82E6"/>
                </a:solidFill>
                <a:latin typeface="Segoe UI Semibold"/>
              </a:rPr>
              <a:t>🧠  Mô hình hỗ trợ:</a:t>
            </a:r>
          </a:p>
        </p:txBody>
      </p:sp>
      <p:sp>
        <p:nvSpPr>
          <p:cNvPr id="34" name="Rounded Rectangle 33"/>
          <p:cNvSpPr/>
          <p:nvPr/>
        </p:nvSpPr>
        <p:spPr>
          <a:xfrm>
            <a:off x="2880360" y="5623560"/>
            <a:ext cx="1463040" cy="384048"/>
          </a:xfrm>
          <a:prstGeom prst="roundRect">
            <a:avLst>
              <a:gd name="adj" fmla="val 50000"/>
            </a:avLst>
          </a:prstGeom>
          <a:solidFill>
            <a:srgbClr val="5B6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80360" y="5610860"/>
            <a:ext cx="146304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GPT</a:t>
            </a:r>
          </a:p>
        </p:txBody>
      </p:sp>
      <p:sp>
        <p:nvSpPr>
          <p:cNvPr id="36" name="Rounded Rectangle 35"/>
          <p:cNvSpPr/>
          <p:nvPr/>
        </p:nvSpPr>
        <p:spPr>
          <a:xfrm>
            <a:off x="4453128" y="5623560"/>
            <a:ext cx="1463040" cy="384048"/>
          </a:xfrm>
          <a:prstGeom prst="roundRect">
            <a:avLst>
              <a:gd name="adj" fmla="val 50000"/>
            </a:avLst>
          </a:prstGeom>
          <a:solidFill>
            <a:srgbClr val="5470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53128" y="5610860"/>
            <a:ext cx="146304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Claude</a:t>
            </a:r>
          </a:p>
        </p:txBody>
      </p:sp>
      <p:sp>
        <p:nvSpPr>
          <p:cNvPr id="38" name="Rounded Rectangle 37"/>
          <p:cNvSpPr/>
          <p:nvPr/>
        </p:nvSpPr>
        <p:spPr>
          <a:xfrm>
            <a:off x="6025896" y="5623560"/>
            <a:ext cx="1463040" cy="384048"/>
          </a:xfrm>
          <a:prstGeom prst="roundRect">
            <a:avLst>
              <a:gd name="adj" fmla="val 50000"/>
            </a:avLst>
          </a:prstGeom>
          <a:solidFill>
            <a:srgbClr val="3E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25896" y="5610860"/>
            <a:ext cx="146304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Gemini</a:t>
            </a:r>
          </a:p>
        </p:txBody>
      </p:sp>
      <p:sp>
        <p:nvSpPr>
          <p:cNvPr id="40" name="Rounded Rectangle 39"/>
          <p:cNvSpPr/>
          <p:nvPr/>
        </p:nvSpPr>
        <p:spPr>
          <a:xfrm>
            <a:off x="7598664" y="5623560"/>
            <a:ext cx="1463040" cy="384048"/>
          </a:xfrm>
          <a:prstGeom prst="roundRect">
            <a:avLst>
              <a:gd name="adj" fmla="val 50000"/>
            </a:avLst>
          </a:prstGeom>
          <a:solidFill>
            <a:srgbClr val="2F8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598664" y="5610860"/>
            <a:ext cx="146304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DeepSeek</a:t>
            </a:r>
          </a:p>
        </p:txBody>
      </p:sp>
      <p:sp>
        <p:nvSpPr>
          <p:cNvPr id="42" name="Rounded Rectangle 41"/>
          <p:cNvSpPr/>
          <p:nvPr/>
        </p:nvSpPr>
        <p:spPr>
          <a:xfrm>
            <a:off x="9171432" y="5623560"/>
            <a:ext cx="1463040" cy="384048"/>
          </a:xfrm>
          <a:prstGeom prst="roundRect">
            <a:avLst>
              <a:gd name="adj" fmla="val 50000"/>
            </a:avLst>
          </a:prstGeom>
          <a:solidFill>
            <a:srgbClr val="2A4A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71432" y="5610860"/>
            <a:ext cx="146304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Mistral</a:t>
            </a:r>
          </a:p>
        </p:txBody>
      </p:sp>
      <p:sp>
        <p:nvSpPr>
          <p:cNvPr id="44" name="TextBox 43"/>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5" name="Rounded Rectangle 44"/>
          <p:cNvSpPr/>
          <p:nvPr/>
        </p:nvSpPr>
        <p:spPr>
          <a:xfrm>
            <a:off x="11247120" y="6382512"/>
            <a:ext cx="502920" cy="310896"/>
          </a:xfrm>
          <a:prstGeom prst="roundRect">
            <a:avLst>
              <a:gd name="adj" fmla="val 50000"/>
            </a:avLst>
          </a:prstGeom>
          <a:gradFill>
            <a:gsLst>
              <a:gs pos="0">
                <a:srgbClr val="7A82E6"/>
              </a:gs>
              <a:gs pos="100000">
                <a:srgbClr val="A1A7ED"/>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Callout 4"/>
          <p:cNvSpPr/>
          <p:nvPr/>
        </p:nvSpPr>
        <p:spPr>
          <a:xfrm>
            <a:off x="9784080" y="137160"/>
            <a:ext cx="2377440" cy="1828800"/>
          </a:xfrm>
          <a:prstGeom prst="wedgeEllipseCallo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F86A4"/>
              </a:gs>
              <a:gs pos="100000">
                <a:srgbClr val="8CBCCC"/>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F86A4"/>
                </a:solidFill>
                <a:latin typeface="Segoe UI Semibold"/>
              </a:rPr>
              <a:t>FLOW 04</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Luồng xử lý AI (Consent → Kết quả)</a:t>
            </a:r>
          </a:p>
        </p:txBody>
      </p:sp>
      <p:sp>
        <p:nvSpPr>
          <p:cNvPr id="9" name="Rounded Rectangle 8"/>
          <p:cNvSpPr/>
          <p:nvPr/>
        </p:nvSpPr>
        <p:spPr>
          <a:xfrm>
            <a:off x="868680" y="2468880"/>
            <a:ext cx="2468880" cy="1691640"/>
          </a:xfrm>
          <a:prstGeom prst="roundRect">
            <a:avLst>
              <a:gd name="adj" fmla="val 10000"/>
            </a:avLst>
          </a:prstGeom>
          <a:gradFill>
            <a:gsLst>
              <a:gs pos="0">
                <a:srgbClr val="5B63D6"/>
              </a:gs>
              <a:gs pos="100000">
                <a:srgbClr val="7A82E6"/>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06040"/>
            <a:ext cx="2468880" cy="548640"/>
          </a:xfrm>
          <a:prstGeom prst="rect">
            <a:avLst/>
          </a:prstGeom>
          <a:noFill/>
        </p:spPr>
        <p:txBody>
          <a:bodyPr wrap="square" anchor="t" lIns="50800" rIns="50800" tIns="25400" bIns="25400">
            <a:spAutoFit/>
          </a:bodyPr>
          <a:lstStyle/>
          <a:p>
            <a:pPr algn="ctr">
              <a:lnSpc>
                <a:spcPct val="100000"/>
              </a:lnSpc>
            </a:pPr>
            <a:r>
              <a:rPr sz="3200" b="1" i="0">
                <a:solidFill>
                  <a:srgbClr val="FFFFFF"/>
                </a:solidFill>
                <a:latin typeface="Segoe UI Semibold"/>
              </a:rPr>
              <a:t>①</a:t>
            </a:r>
          </a:p>
        </p:txBody>
      </p:sp>
      <p:sp>
        <p:nvSpPr>
          <p:cNvPr id="11" name="TextBox 10"/>
          <p:cNvSpPr txBox="1"/>
          <p:nvPr/>
        </p:nvSpPr>
        <p:spPr>
          <a:xfrm>
            <a:off x="868680" y="3200400"/>
            <a:ext cx="2468880" cy="411480"/>
          </a:xfrm>
          <a:prstGeom prst="rect">
            <a:avLst/>
          </a:prstGeom>
          <a:noFill/>
        </p:spPr>
        <p:txBody>
          <a:bodyPr wrap="square" anchor="t" lIns="50800" rIns="50800" tIns="25400" bIns="25400">
            <a:spAutoFit/>
          </a:bodyPr>
          <a:lstStyle/>
          <a:p>
            <a:pPr algn="ctr">
              <a:lnSpc>
                <a:spcPct val="100000"/>
              </a:lnSpc>
            </a:pPr>
            <a:r>
              <a:rPr sz="1450" b="1" i="0">
                <a:solidFill>
                  <a:srgbClr val="FFFFFF"/>
                </a:solidFill>
                <a:latin typeface="Segoe UI Semibold"/>
              </a:rPr>
              <a:t>Đồng ý dùng AI</a:t>
            </a:r>
          </a:p>
        </p:txBody>
      </p:sp>
      <p:sp>
        <p:nvSpPr>
          <p:cNvPr id="12" name="TextBox 11"/>
          <p:cNvSpPr txBox="1"/>
          <p:nvPr/>
        </p:nvSpPr>
        <p:spPr>
          <a:xfrm>
            <a:off x="960120" y="361188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Người dùng bật AI</a:t>
            </a:r>
          </a:p>
          <a:p>
            <a:pPr algn="ctr">
              <a:lnSpc>
                <a:spcPct val="100000"/>
              </a:lnSpc>
            </a:pPr>
            <a:r>
              <a:rPr sz="1000" b="0" i="0">
                <a:solidFill>
                  <a:srgbClr val="ECECFB"/>
                </a:solidFill>
                <a:latin typeface="Segoe UI"/>
              </a:rPr>
              <a:t>POST /confirm-ai</a:t>
            </a:r>
          </a:p>
        </p:txBody>
      </p:sp>
      <p:cxnSp>
        <p:nvCxnSpPr>
          <p:cNvPr id="13" name="Connector 12"/>
          <p:cNvCxnSpPr/>
          <p:nvPr/>
        </p:nvCxnSpPr>
        <p:spPr>
          <a:xfrm>
            <a:off x="3337560" y="3314700"/>
            <a:ext cx="320040" cy="0"/>
          </a:xfrm>
          <a:prstGeom prst="line">
            <a:avLst/>
          </a:prstGeom>
          <a:ln w="31750">
            <a:solidFill>
              <a:srgbClr val="2F86A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657600" y="2468880"/>
            <a:ext cx="2468880" cy="1691640"/>
          </a:xfrm>
          <a:prstGeom prst="roundRect">
            <a:avLst>
              <a:gd name="adj" fmla="val 10000"/>
            </a:avLst>
          </a:prstGeom>
          <a:gradFill>
            <a:gsLst>
              <a:gs pos="0">
                <a:srgbClr val="3E78D6"/>
              </a:gs>
              <a:gs pos="100000">
                <a:srgbClr val="2E93A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606040"/>
            <a:ext cx="2468880" cy="548640"/>
          </a:xfrm>
          <a:prstGeom prst="rect">
            <a:avLst/>
          </a:prstGeom>
          <a:noFill/>
        </p:spPr>
        <p:txBody>
          <a:bodyPr wrap="square" anchor="t" lIns="50800" rIns="50800" tIns="25400" bIns="25400">
            <a:spAutoFit/>
          </a:bodyPr>
          <a:lstStyle/>
          <a:p>
            <a:pPr algn="ctr">
              <a:lnSpc>
                <a:spcPct val="100000"/>
              </a:lnSpc>
            </a:pPr>
            <a:r>
              <a:rPr sz="3200" b="1" i="0">
                <a:solidFill>
                  <a:srgbClr val="FFFFFF"/>
                </a:solidFill>
                <a:latin typeface="Segoe UI Semibold"/>
              </a:rPr>
              <a:t>②</a:t>
            </a:r>
          </a:p>
        </p:txBody>
      </p:sp>
      <p:sp>
        <p:nvSpPr>
          <p:cNvPr id="16" name="TextBox 15"/>
          <p:cNvSpPr txBox="1"/>
          <p:nvPr/>
        </p:nvSpPr>
        <p:spPr>
          <a:xfrm>
            <a:off x="3657600" y="3200400"/>
            <a:ext cx="2468880" cy="411480"/>
          </a:xfrm>
          <a:prstGeom prst="rect">
            <a:avLst/>
          </a:prstGeom>
          <a:noFill/>
        </p:spPr>
        <p:txBody>
          <a:bodyPr wrap="square" anchor="t" lIns="50800" rIns="50800" tIns="25400" bIns="25400">
            <a:spAutoFit/>
          </a:bodyPr>
          <a:lstStyle/>
          <a:p>
            <a:pPr algn="ctr">
              <a:lnSpc>
                <a:spcPct val="100000"/>
              </a:lnSpc>
            </a:pPr>
            <a:r>
              <a:rPr sz="1450" b="1" i="0">
                <a:solidFill>
                  <a:srgbClr val="FFFFFF"/>
                </a:solidFill>
                <a:latin typeface="Segoe UI Semibold"/>
              </a:rPr>
              <a:t>Kiểm tra ranh giới</a:t>
            </a:r>
          </a:p>
        </p:txBody>
      </p:sp>
      <p:sp>
        <p:nvSpPr>
          <p:cNvPr id="17" name="TextBox 16"/>
          <p:cNvSpPr txBox="1"/>
          <p:nvPr/>
        </p:nvSpPr>
        <p:spPr>
          <a:xfrm>
            <a:off x="3749040" y="361188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Backend xác minh</a:t>
            </a:r>
          </a:p>
          <a:p>
            <a:pPr algn="ctr">
              <a:lnSpc>
                <a:spcPct val="100000"/>
              </a:lnSpc>
            </a:pPr>
            <a:r>
              <a:rPr sz="1000" b="0" i="0">
                <a:solidFill>
                  <a:srgbClr val="ECECFB"/>
                </a:solidFill>
                <a:latin typeface="Segoe UI"/>
              </a:rPr>
              <a:t>user đã consent</a:t>
            </a:r>
          </a:p>
        </p:txBody>
      </p:sp>
      <p:cxnSp>
        <p:nvCxnSpPr>
          <p:cNvPr id="18" name="Connector 17"/>
          <p:cNvCxnSpPr/>
          <p:nvPr/>
        </p:nvCxnSpPr>
        <p:spPr>
          <a:xfrm>
            <a:off x="6126480" y="3314700"/>
            <a:ext cx="320040" cy="0"/>
          </a:xfrm>
          <a:prstGeom prst="line">
            <a:avLst/>
          </a:prstGeom>
          <a:ln w="31750">
            <a:solidFill>
              <a:srgbClr val="2F86A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446520" y="2468880"/>
            <a:ext cx="2468880" cy="1691640"/>
          </a:xfrm>
          <a:prstGeom prst="roundRect">
            <a:avLst>
              <a:gd name="adj" fmla="val 10000"/>
            </a:avLst>
          </a:prstGeom>
          <a:gradFill>
            <a:gsLst>
              <a:gs pos="0">
                <a:srgbClr val="2F86A4"/>
              </a:gs>
              <a:gs pos="100000">
                <a:srgbClr val="3A9B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2606040"/>
            <a:ext cx="2468880" cy="548640"/>
          </a:xfrm>
          <a:prstGeom prst="rect">
            <a:avLst/>
          </a:prstGeom>
          <a:noFill/>
        </p:spPr>
        <p:txBody>
          <a:bodyPr wrap="square" anchor="t" lIns="50800" rIns="50800" tIns="25400" bIns="25400">
            <a:spAutoFit/>
          </a:bodyPr>
          <a:lstStyle/>
          <a:p>
            <a:pPr algn="ctr">
              <a:lnSpc>
                <a:spcPct val="100000"/>
              </a:lnSpc>
            </a:pPr>
            <a:r>
              <a:rPr sz="3200" b="1" i="0">
                <a:solidFill>
                  <a:srgbClr val="FFFFFF"/>
                </a:solidFill>
                <a:latin typeface="Segoe UI Semibold"/>
              </a:rPr>
              <a:t>③</a:t>
            </a:r>
          </a:p>
        </p:txBody>
      </p:sp>
      <p:sp>
        <p:nvSpPr>
          <p:cNvPr id="21" name="TextBox 20"/>
          <p:cNvSpPr txBox="1"/>
          <p:nvPr/>
        </p:nvSpPr>
        <p:spPr>
          <a:xfrm>
            <a:off x="6446520" y="3200400"/>
            <a:ext cx="2468880" cy="411480"/>
          </a:xfrm>
          <a:prstGeom prst="rect">
            <a:avLst/>
          </a:prstGeom>
          <a:noFill/>
        </p:spPr>
        <p:txBody>
          <a:bodyPr wrap="square" anchor="t" lIns="50800" rIns="50800" tIns="25400" bIns="25400">
            <a:spAutoFit/>
          </a:bodyPr>
          <a:lstStyle/>
          <a:p>
            <a:pPr algn="ctr">
              <a:lnSpc>
                <a:spcPct val="100000"/>
              </a:lnSpc>
            </a:pPr>
            <a:r>
              <a:rPr sz="1450" b="1" i="0">
                <a:solidFill>
                  <a:srgbClr val="FFFFFF"/>
                </a:solidFill>
                <a:latin typeface="Segoe UI Semibold"/>
              </a:rPr>
              <a:t>Gọi nhà cung cấp</a:t>
            </a:r>
          </a:p>
        </p:txBody>
      </p:sp>
      <p:sp>
        <p:nvSpPr>
          <p:cNvPr id="22" name="TextBox 21"/>
          <p:cNvSpPr txBox="1"/>
          <p:nvPr/>
        </p:nvSpPr>
        <p:spPr>
          <a:xfrm>
            <a:off x="6537960" y="361188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WebClient → OpenRouter</a:t>
            </a:r>
          </a:p>
          <a:p>
            <a:pPr algn="ctr">
              <a:lnSpc>
                <a:spcPct val="100000"/>
              </a:lnSpc>
            </a:pPr>
            <a:r>
              <a:rPr sz="1000" b="0" i="0">
                <a:solidFill>
                  <a:srgbClr val="ECECFB"/>
                </a:solidFill>
                <a:latin typeface="Segoe UI"/>
              </a:rPr>
              <a:t>summarize / suggestions</a:t>
            </a:r>
          </a:p>
        </p:txBody>
      </p:sp>
      <p:cxnSp>
        <p:nvCxnSpPr>
          <p:cNvPr id="23" name="Connector 22"/>
          <p:cNvCxnSpPr/>
          <p:nvPr/>
        </p:nvCxnSpPr>
        <p:spPr>
          <a:xfrm>
            <a:off x="8915400" y="3314700"/>
            <a:ext cx="320040" cy="0"/>
          </a:xfrm>
          <a:prstGeom prst="line">
            <a:avLst/>
          </a:prstGeom>
          <a:ln w="31750">
            <a:solidFill>
              <a:srgbClr val="2F86A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235440" y="2468880"/>
            <a:ext cx="2468880" cy="1691640"/>
          </a:xfrm>
          <a:prstGeom prst="roundRect">
            <a:avLst>
              <a:gd name="adj" fmla="val 10000"/>
            </a:avLst>
          </a:prstGeom>
          <a:gradFill>
            <a:gsLst>
              <a:gs pos="0">
                <a:srgbClr val="2F62C9"/>
              </a:gs>
              <a:gs pos="100000">
                <a:srgbClr val="5470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2606040"/>
            <a:ext cx="2468880" cy="548640"/>
          </a:xfrm>
          <a:prstGeom prst="rect">
            <a:avLst/>
          </a:prstGeom>
          <a:noFill/>
        </p:spPr>
        <p:txBody>
          <a:bodyPr wrap="square" anchor="t" lIns="50800" rIns="50800" tIns="25400" bIns="25400">
            <a:spAutoFit/>
          </a:bodyPr>
          <a:lstStyle/>
          <a:p>
            <a:pPr algn="ctr">
              <a:lnSpc>
                <a:spcPct val="100000"/>
              </a:lnSpc>
            </a:pPr>
            <a:r>
              <a:rPr sz="3200" b="1" i="0">
                <a:solidFill>
                  <a:srgbClr val="FFFFFF"/>
                </a:solidFill>
                <a:latin typeface="Segoe UI Semibold"/>
              </a:rPr>
              <a:t>④</a:t>
            </a:r>
          </a:p>
        </p:txBody>
      </p:sp>
      <p:sp>
        <p:nvSpPr>
          <p:cNvPr id="26" name="TextBox 25"/>
          <p:cNvSpPr txBox="1"/>
          <p:nvPr/>
        </p:nvSpPr>
        <p:spPr>
          <a:xfrm>
            <a:off x="9235440" y="3200400"/>
            <a:ext cx="2468880" cy="411480"/>
          </a:xfrm>
          <a:prstGeom prst="rect">
            <a:avLst/>
          </a:prstGeom>
          <a:noFill/>
        </p:spPr>
        <p:txBody>
          <a:bodyPr wrap="square" anchor="t" lIns="50800" rIns="50800" tIns="25400" bIns="25400">
            <a:spAutoFit/>
          </a:bodyPr>
          <a:lstStyle/>
          <a:p>
            <a:pPr algn="ctr">
              <a:lnSpc>
                <a:spcPct val="100000"/>
              </a:lnSpc>
            </a:pPr>
            <a:r>
              <a:rPr sz="1450" b="1" i="0">
                <a:solidFill>
                  <a:srgbClr val="FFFFFF"/>
                </a:solidFill>
                <a:latin typeface="Segoe UI Semibold"/>
              </a:rPr>
              <a:t>Trả kết quả</a:t>
            </a:r>
          </a:p>
        </p:txBody>
      </p:sp>
      <p:sp>
        <p:nvSpPr>
          <p:cNvPr id="27" name="TextBox 26"/>
          <p:cNvSpPr txBox="1"/>
          <p:nvPr/>
        </p:nvSpPr>
        <p:spPr>
          <a:xfrm>
            <a:off x="9326880" y="361188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Tóm tắt hoặc gợi ý</a:t>
            </a:r>
          </a:p>
          <a:p>
            <a:pPr algn="ctr">
              <a:lnSpc>
                <a:spcPct val="100000"/>
              </a:lnSpc>
            </a:pPr>
            <a:r>
              <a:rPr sz="1000" b="0" i="0">
                <a:solidFill>
                  <a:srgbClr val="ECECFB"/>
                </a:solidFill>
                <a:latin typeface="Segoe UI"/>
              </a:rPr>
              <a:t>hiển thị trong chat</a:t>
            </a:r>
          </a:p>
        </p:txBody>
      </p:sp>
      <p:sp>
        <p:nvSpPr>
          <p:cNvPr id="28" name="Rounded Rectangle 27"/>
          <p:cNvSpPr/>
          <p:nvPr/>
        </p:nvSpPr>
        <p:spPr>
          <a:xfrm>
            <a:off x="868680" y="4572000"/>
            <a:ext cx="10424160" cy="1188720"/>
          </a:xfrm>
          <a:prstGeom prst="roundRect">
            <a:avLst>
              <a:gd name="adj" fmla="val 6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709160"/>
            <a:ext cx="10058400" cy="365760"/>
          </a:xfrm>
          <a:prstGeom prst="rect">
            <a:avLst/>
          </a:prstGeom>
          <a:noFill/>
        </p:spPr>
        <p:txBody>
          <a:bodyPr wrap="square" anchor="t" lIns="50800" rIns="50800" tIns="25400" bIns="25400">
            <a:spAutoFit/>
          </a:bodyPr>
          <a:lstStyle/>
          <a:p>
            <a:pPr algn="l">
              <a:lnSpc>
                <a:spcPct val="100000"/>
              </a:lnSpc>
            </a:pPr>
            <a:r>
              <a:rPr sz="1400" b="1" i="0">
                <a:solidFill>
                  <a:srgbClr val="2F62C9"/>
                </a:solidFill>
                <a:latin typeface="Segoe UI Semibold"/>
              </a:rPr>
              <a:t>⚠️  Ranh giới đồng thuận (Consent Boundary)</a:t>
            </a:r>
          </a:p>
        </p:txBody>
      </p:sp>
      <p:sp>
        <p:nvSpPr>
          <p:cNvPr id="30" name="TextBox 29"/>
          <p:cNvSpPr txBox="1"/>
          <p:nvPr/>
        </p:nvSpPr>
        <p:spPr>
          <a:xfrm>
            <a:off x="1097280" y="5120640"/>
            <a:ext cx="10058400" cy="548640"/>
          </a:xfrm>
          <a:prstGeom prst="rect">
            <a:avLst/>
          </a:prstGeom>
          <a:noFill/>
        </p:spPr>
        <p:txBody>
          <a:bodyPr wrap="square" anchor="t" lIns="50800" rIns="50800" tIns="25400" bIns="25400">
            <a:spAutoFit/>
          </a:bodyPr>
          <a:lstStyle/>
          <a:p>
            <a:pPr algn="l">
              <a:lnSpc>
                <a:spcPct val="110000"/>
              </a:lnSpc>
            </a:pPr>
            <a:r>
              <a:rPr sz="1250" b="0" i="0">
                <a:solidFill>
                  <a:srgbClr val="23426B"/>
                </a:solidFill>
                <a:latin typeface="Segoe UI"/>
              </a:rPr>
              <a:t>Nếu người dùng CHƯA đồng ý → backend từ chối xử lý qua AI provider. Đây là rào chắn bảo vệ quyền riêng tư dữ liệu hội thoại.</a:t>
            </a:r>
          </a:p>
        </p:txBody>
      </p:sp>
      <p:sp>
        <p:nvSpPr>
          <p:cNvPr id="31" name="TextBox 30"/>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32" name="Rounded Rectangle 31"/>
          <p:cNvSpPr/>
          <p:nvPr/>
        </p:nvSpPr>
        <p:spPr>
          <a:xfrm>
            <a:off x="11247120" y="6382512"/>
            <a:ext cx="502920" cy="310896"/>
          </a:xfrm>
          <a:prstGeom prst="roundRect">
            <a:avLst>
              <a:gd name="adj" fmla="val 50000"/>
            </a:avLst>
          </a:prstGeom>
          <a:gradFill>
            <a:gsLst>
              <a:gs pos="0">
                <a:srgbClr val="2F86A4"/>
              </a:gs>
              <a:gs pos="100000">
                <a:srgbClr val="6DAABF"/>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ightning Bolt 4"/>
          <p:cNvSpPr/>
          <p:nvPr/>
        </p:nvSpPr>
        <p:spPr>
          <a:xfrm>
            <a:off x="10195560" y="-91440"/>
            <a:ext cx="1554480" cy="2286000"/>
          </a:xfrm>
          <a:prstGeom prst="lightningBol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A4A93"/>
              </a:gs>
              <a:gs pos="100000">
                <a:srgbClr val="899BC3"/>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A4A93"/>
                </a:solidFill>
                <a:latin typeface="Segoe UI Semibold"/>
              </a:rPr>
              <a:t>INFRASTRUCTURE</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Redis Pub/Sub &amp; Tầng Event</a:t>
            </a:r>
          </a:p>
        </p:txBody>
      </p:sp>
      <p:sp>
        <p:nvSpPr>
          <p:cNvPr id="9" name="TextBox 8"/>
          <p:cNvSpPr txBox="1"/>
          <p:nvPr/>
        </p:nvSpPr>
        <p:spPr>
          <a:xfrm>
            <a:off x="777240" y="1645920"/>
            <a:ext cx="10607040" cy="548640"/>
          </a:xfrm>
          <a:prstGeom prst="rect">
            <a:avLst/>
          </a:prstGeom>
          <a:noFill/>
        </p:spPr>
        <p:txBody>
          <a:bodyPr wrap="square" anchor="t" lIns="50800" rIns="50800" tIns="25400" bIns="25400">
            <a:spAutoFit/>
          </a:bodyPr>
          <a:lstStyle/>
          <a:p>
            <a:pPr algn="l">
              <a:lnSpc>
                <a:spcPct val="100000"/>
              </a:lnSpc>
            </a:pPr>
            <a:r>
              <a:rPr sz="1400" b="0" i="0">
                <a:solidFill>
                  <a:srgbClr val="23426B"/>
                </a:solidFill>
                <a:latin typeface="Segoe UI"/>
              </a:rPr>
              <a:t>Tầng Event phát hành sự kiện hội thoại / tin nhắn / thành viên; Redis hỗ trợ hạ tầng chat &amp; fan-out.</a:t>
            </a:r>
          </a:p>
        </p:txBody>
      </p:sp>
      <p:sp>
        <p:nvSpPr>
          <p:cNvPr id="10" name="Rounded Rectangle 9"/>
          <p:cNvSpPr/>
          <p:nvPr/>
        </p:nvSpPr>
        <p:spPr>
          <a:xfrm>
            <a:off x="777240" y="2468880"/>
            <a:ext cx="2743200" cy="1097280"/>
          </a:xfrm>
          <a:prstGeom prst="roundRect">
            <a:avLst>
              <a:gd name="adj" fmla="val 12000"/>
            </a:avLst>
          </a:prstGeom>
          <a:gradFill>
            <a:gsLst>
              <a:gs pos="0">
                <a:srgbClr val="5B63D6"/>
              </a:gs>
              <a:gs pos="100000">
                <a:srgbClr val="7A82E6"/>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578608"/>
            <a:ext cx="256032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Service Layer</a:t>
            </a:r>
          </a:p>
        </p:txBody>
      </p:sp>
      <p:sp>
        <p:nvSpPr>
          <p:cNvPr id="12" name="TextBox 11"/>
          <p:cNvSpPr txBox="1"/>
          <p:nvPr/>
        </p:nvSpPr>
        <p:spPr>
          <a:xfrm>
            <a:off x="850392" y="2999232"/>
            <a:ext cx="259689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Sinh domain event</a:t>
            </a:r>
          </a:p>
        </p:txBody>
      </p:sp>
      <p:sp>
        <p:nvSpPr>
          <p:cNvPr id="13" name="Rounded Rectangle 12"/>
          <p:cNvSpPr/>
          <p:nvPr/>
        </p:nvSpPr>
        <p:spPr>
          <a:xfrm>
            <a:off x="4709160" y="2468880"/>
            <a:ext cx="2743200" cy="1097280"/>
          </a:xfrm>
          <a:prstGeom prst="roundRect">
            <a:avLst>
              <a:gd name="adj" fmla="val 12000"/>
            </a:avLst>
          </a:prstGeom>
          <a:gradFill>
            <a:gsLst>
              <a:gs pos="0">
                <a:srgbClr val="3E78D6"/>
              </a:gs>
              <a:gs pos="100000">
                <a:srgbClr val="2E93A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2578608"/>
            <a:ext cx="256032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Event Publisher</a:t>
            </a:r>
          </a:p>
        </p:txBody>
      </p:sp>
      <p:sp>
        <p:nvSpPr>
          <p:cNvPr id="15" name="TextBox 14"/>
          <p:cNvSpPr txBox="1"/>
          <p:nvPr/>
        </p:nvSpPr>
        <p:spPr>
          <a:xfrm>
            <a:off x="4782312" y="2999232"/>
            <a:ext cx="259689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Đẩy sự kiện</a:t>
            </a:r>
          </a:p>
        </p:txBody>
      </p:sp>
      <p:sp>
        <p:nvSpPr>
          <p:cNvPr id="16" name="Rounded Rectangle 15"/>
          <p:cNvSpPr/>
          <p:nvPr/>
        </p:nvSpPr>
        <p:spPr>
          <a:xfrm>
            <a:off x="8641080" y="2468880"/>
            <a:ext cx="2743200" cy="1097280"/>
          </a:xfrm>
          <a:prstGeom prst="roundRect">
            <a:avLst>
              <a:gd name="adj" fmla="val 12000"/>
            </a:avLst>
          </a:prstGeom>
          <a:gradFill>
            <a:gsLst>
              <a:gs pos="0">
                <a:srgbClr val="2A4A93"/>
              </a:gs>
              <a:gs pos="100000">
                <a:srgbClr val="8FBDEE"/>
              </a:gs>
            </a:gsLst>
            <a:lin ang="30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32520" y="2578608"/>
            <a:ext cx="2560320" cy="457200"/>
          </a:xfrm>
          <a:prstGeom prst="rect">
            <a:avLst/>
          </a:prstGeom>
          <a:noFill/>
        </p:spPr>
        <p:txBody>
          <a:bodyPr wrap="square" anchor="ctr" lIns="50800" rIns="50800" tIns="25400" bIns="25400">
            <a:spAutoFit/>
          </a:bodyPr>
          <a:lstStyle/>
          <a:p>
            <a:pPr algn="ctr">
              <a:lnSpc>
                <a:spcPct val="100000"/>
              </a:lnSpc>
            </a:pPr>
            <a:r>
              <a:rPr sz="1350" b="1" i="0">
                <a:solidFill>
                  <a:srgbClr val="FFFFFF"/>
                </a:solidFill>
                <a:latin typeface="Segoe UI Semibold"/>
              </a:rPr>
              <a:t>⚡  Redis Pub/Sub</a:t>
            </a:r>
          </a:p>
        </p:txBody>
      </p:sp>
      <p:sp>
        <p:nvSpPr>
          <p:cNvPr id="18" name="TextBox 17"/>
          <p:cNvSpPr txBox="1"/>
          <p:nvPr/>
        </p:nvSpPr>
        <p:spPr>
          <a:xfrm>
            <a:off x="8714232" y="2999232"/>
            <a:ext cx="2596896" cy="502920"/>
          </a:xfrm>
          <a:prstGeom prst="rect">
            <a:avLst/>
          </a:prstGeom>
          <a:noFill/>
        </p:spPr>
        <p:txBody>
          <a:bodyPr wrap="square" anchor="ctr" lIns="50800" rIns="50800" tIns="25400" bIns="25400">
            <a:spAutoFit/>
          </a:bodyPr>
          <a:lstStyle/>
          <a:p>
            <a:pPr algn="ctr">
              <a:lnSpc>
                <a:spcPct val="100000"/>
              </a:lnSpc>
            </a:pPr>
            <a:r>
              <a:rPr sz="950" b="0" i="0">
                <a:solidFill>
                  <a:srgbClr val="E6E6FA"/>
                </a:solidFill>
                <a:latin typeface="Segoe UI"/>
              </a:rPr>
              <a:t>Phát tán đa instance</a:t>
            </a:r>
          </a:p>
        </p:txBody>
      </p:sp>
      <p:cxnSp>
        <p:nvCxnSpPr>
          <p:cNvPr id="19" name="Connector 18"/>
          <p:cNvCxnSpPr/>
          <p:nvPr/>
        </p:nvCxnSpPr>
        <p:spPr>
          <a:xfrm>
            <a:off x="3520440" y="3017520"/>
            <a:ext cx="118872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452360" y="3017520"/>
            <a:ext cx="118872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012680" y="3566160"/>
            <a:ext cx="0" cy="640080"/>
          </a:xfrm>
          <a:prstGeom prst="line">
            <a:avLst/>
          </a:prstGeom>
          <a:ln w="25400">
            <a:solidFill>
              <a:srgbClr val="8FBDE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286000" y="4206240"/>
            <a:ext cx="7589520" cy="822960"/>
          </a:xfrm>
          <a:prstGeom prst="roundRect">
            <a:avLst>
              <a:gd name="adj" fmla="val 12000"/>
            </a:avLst>
          </a:prstGeom>
          <a:gradFill>
            <a:gsLst>
              <a:gs pos="0">
                <a:srgbClr val="2F86A4"/>
              </a:gs>
              <a:gs pos="100000">
                <a:srgbClr val="3A9BCE"/>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0" y="4206240"/>
            <a:ext cx="7589520" cy="822960"/>
          </a:xfrm>
          <a:prstGeom prst="rect">
            <a:avLst/>
          </a:prstGeom>
          <a:noFill/>
        </p:spPr>
        <p:txBody>
          <a:bodyPr wrap="square" anchor="ctr" lIns="50800" rIns="50800" tIns="25400" bIns="25400">
            <a:spAutoFit/>
          </a:bodyPr>
          <a:lstStyle/>
          <a:p>
            <a:pPr algn="ctr">
              <a:lnSpc>
                <a:spcPct val="100000"/>
              </a:lnSpc>
            </a:pPr>
            <a:r>
              <a:rPr sz="1400" b="1" i="0">
                <a:solidFill>
                  <a:srgbClr val="FFFFFF"/>
                </a:solidFill>
                <a:latin typeface="Segoe UI Semibold"/>
              </a:rPr>
              <a:t>STOMP Broker  →  Broadcast tới client đã subscribe topic</a:t>
            </a:r>
          </a:p>
        </p:txBody>
      </p:sp>
      <p:cxnSp>
        <p:nvCxnSpPr>
          <p:cNvPr id="24" name="Connector 23"/>
          <p:cNvCxnSpPr/>
          <p:nvPr/>
        </p:nvCxnSpPr>
        <p:spPr>
          <a:xfrm>
            <a:off x="8641080" y="4617720"/>
            <a:ext cx="1234440" cy="0"/>
          </a:xfrm>
          <a:prstGeom prst="line">
            <a:avLst/>
          </a:prstGeom>
          <a:ln w="25400">
            <a:solidFill>
              <a:srgbClr val="8FBDE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5303520"/>
            <a:ext cx="10607040" cy="868680"/>
          </a:xfrm>
          <a:prstGeom prst="roundRect">
            <a:avLst>
              <a:gd name="adj" fmla="val 8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5413248"/>
            <a:ext cx="10149840" cy="731520"/>
          </a:xfrm>
          <a:prstGeom prst="rect">
            <a:avLst/>
          </a:prstGeom>
          <a:noFill/>
        </p:spPr>
        <p:txBody>
          <a:bodyPr wrap="square" lIns="25400" rIns="25400">
            <a:spAutoFit/>
          </a:bodyPr>
          <a:lstStyle/>
          <a:p>
            <a:pPr>
              <a:lnSpc>
                <a:spcPct val="105000"/>
              </a:lnSpc>
              <a:spcAft>
                <a:spcPts val="500"/>
              </a:spcAft>
            </a:pPr>
            <a:r>
              <a:rPr sz="1200" b="1">
                <a:solidFill>
                  <a:srgbClr val="2A4A93"/>
                </a:solidFill>
                <a:latin typeface="Segoe UI"/>
              </a:rPr>
              <a:t>▸  </a:t>
            </a:r>
            <a:r>
              <a:rPr sz="1200">
                <a:solidFill>
                  <a:srgbClr val="23426B"/>
                </a:solidFill>
                <a:latin typeface="Segoe UI"/>
              </a:rPr>
              <a:t>Tách rời người gửi và người nhận sự kiện (decoupling).</a:t>
            </a:r>
          </a:p>
          <a:p>
            <a:pPr>
              <a:lnSpc>
                <a:spcPct val="105000"/>
              </a:lnSpc>
              <a:spcAft>
                <a:spcPts val="500"/>
              </a:spcAft>
            </a:pPr>
            <a:r>
              <a:rPr sz="1200" b="1">
                <a:solidFill>
                  <a:srgbClr val="2A4A93"/>
                </a:solidFill>
                <a:latin typeface="Segoe UI"/>
              </a:rPr>
              <a:t>▸  </a:t>
            </a:r>
            <a:r>
              <a:rPr sz="1200">
                <a:solidFill>
                  <a:srgbClr val="23426B"/>
                </a:solidFill>
                <a:latin typeface="Segoe UI"/>
              </a:rPr>
              <a:t>Hỗ trợ presence, đếm realtime, đồng bộ trạng thái giữa nhiều phiên/thiết bị.</a:t>
            </a:r>
          </a:p>
        </p:txBody>
      </p:sp>
      <p:sp>
        <p:nvSpPr>
          <p:cNvPr id="27" name="TextBox 26"/>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28" name="Rounded Rectangle 27"/>
          <p:cNvSpPr/>
          <p:nvPr/>
        </p:nvSpPr>
        <p:spPr>
          <a:xfrm>
            <a:off x="11247120" y="6382512"/>
            <a:ext cx="502920" cy="310896"/>
          </a:xfrm>
          <a:prstGeom prst="roundRect">
            <a:avLst>
              <a:gd name="adj" fmla="val 50000"/>
            </a:avLst>
          </a:prstGeom>
          <a:gradFill>
            <a:gsLst>
              <a:gs pos="0">
                <a:srgbClr val="2A4A93"/>
              </a:gs>
              <a:gs pos="100000">
                <a:srgbClr val="6980B3"/>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loud 4"/>
          <p:cNvSpPr/>
          <p:nvPr/>
        </p:nvSpPr>
        <p:spPr>
          <a:xfrm>
            <a:off x="9921240" y="0"/>
            <a:ext cx="2103120" cy="2103120"/>
          </a:xfrm>
          <a:prstGeom prst="cloud">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F62C9"/>
              </a:gs>
              <a:gs pos="100000">
                <a:srgbClr val="8CA8E1"/>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F62C9"/>
                </a:solidFill>
                <a:latin typeface="Segoe UI Semibold"/>
              </a:rPr>
              <a:t>STORAGE</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Lưu trữ &amp; Media (Presigned URL)</a:t>
            </a:r>
          </a:p>
        </p:txBody>
      </p:sp>
      <p:sp>
        <p:nvSpPr>
          <p:cNvPr id="9" name="Rounded Rectangle 8"/>
          <p:cNvSpPr/>
          <p:nvPr/>
        </p:nvSpPr>
        <p:spPr>
          <a:xfrm>
            <a:off x="868680" y="1920240"/>
            <a:ext cx="2468880" cy="1645920"/>
          </a:xfrm>
          <a:prstGeom prst="roundRect">
            <a:avLst>
              <a:gd name="adj" fmla="val 10000"/>
            </a:avLst>
          </a:prstGeom>
          <a:gradFill>
            <a:gsLst>
              <a:gs pos="0">
                <a:srgbClr val="5B63D6"/>
              </a:gs>
              <a:gs pos="100000">
                <a:srgbClr val="7A82E6"/>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029968"/>
            <a:ext cx="2468880" cy="50292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①</a:t>
            </a:r>
          </a:p>
        </p:txBody>
      </p:sp>
      <p:sp>
        <p:nvSpPr>
          <p:cNvPr id="11" name="TextBox 10"/>
          <p:cNvSpPr txBox="1"/>
          <p:nvPr/>
        </p:nvSpPr>
        <p:spPr>
          <a:xfrm>
            <a:off x="868680" y="2578608"/>
            <a:ext cx="2468880" cy="365760"/>
          </a:xfrm>
          <a:prstGeom prst="rect">
            <a:avLst/>
          </a:prstGeom>
          <a:noFill/>
        </p:spPr>
        <p:txBody>
          <a:bodyPr wrap="square" anchor="t" lIns="50800" rIns="50800" tIns="25400" bIns="25400">
            <a:spAutoFit/>
          </a:bodyPr>
          <a:lstStyle/>
          <a:p>
            <a:pPr algn="ctr">
              <a:lnSpc>
                <a:spcPct val="100000"/>
              </a:lnSpc>
            </a:pPr>
            <a:r>
              <a:rPr sz="1400" b="1" i="0">
                <a:solidFill>
                  <a:srgbClr val="FFFFFF"/>
                </a:solidFill>
                <a:latin typeface="Segoe UI Semibold"/>
              </a:rPr>
              <a:t>Yêu cầu URL</a:t>
            </a:r>
          </a:p>
        </p:txBody>
      </p:sp>
      <p:sp>
        <p:nvSpPr>
          <p:cNvPr id="12" name="TextBox 11"/>
          <p:cNvSpPr txBox="1"/>
          <p:nvPr/>
        </p:nvSpPr>
        <p:spPr>
          <a:xfrm>
            <a:off x="960120" y="297180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Client gọi</a:t>
            </a:r>
          </a:p>
          <a:p>
            <a:pPr algn="ctr">
              <a:lnSpc>
                <a:spcPct val="100000"/>
              </a:lnSpc>
            </a:pPr>
            <a:r>
              <a:rPr sz="1000" b="0" i="0">
                <a:solidFill>
                  <a:srgbClr val="ECECFB"/>
                </a:solidFill>
                <a:latin typeface="Segoe UI"/>
              </a:rPr>
              <a:t>/api/files/presigned-url</a:t>
            </a:r>
          </a:p>
        </p:txBody>
      </p:sp>
      <p:cxnSp>
        <p:nvCxnSpPr>
          <p:cNvPr id="13" name="Connector 12"/>
          <p:cNvCxnSpPr/>
          <p:nvPr/>
        </p:nvCxnSpPr>
        <p:spPr>
          <a:xfrm>
            <a:off x="3337560" y="2743200"/>
            <a:ext cx="32004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657600" y="1920240"/>
            <a:ext cx="2468880" cy="1645920"/>
          </a:xfrm>
          <a:prstGeom prst="roundRect">
            <a:avLst>
              <a:gd name="adj" fmla="val 10000"/>
            </a:avLst>
          </a:prstGeom>
          <a:gradFill>
            <a:gsLst>
              <a:gs pos="0">
                <a:srgbClr val="3E78D6"/>
              </a:gs>
              <a:gs pos="100000">
                <a:srgbClr val="2E93A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029968"/>
            <a:ext cx="2468880" cy="50292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②</a:t>
            </a:r>
          </a:p>
        </p:txBody>
      </p:sp>
      <p:sp>
        <p:nvSpPr>
          <p:cNvPr id="16" name="TextBox 15"/>
          <p:cNvSpPr txBox="1"/>
          <p:nvPr/>
        </p:nvSpPr>
        <p:spPr>
          <a:xfrm>
            <a:off x="3657600" y="2578608"/>
            <a:ext cx="2468880" cy="365760"/>
          </a:xfrm>
          <a:prstGeom prst="rect">
            <a:avLst/>
          </a:prstGeom>
          <a:noFill/>
        </p:spPr>
        <p:txBody>
          <a:bodyPr wrap="square" anchor="t" lIns="50800" rIns="50800" tIns="25400" bIns="25400">
            <a:spAutoFit/>
          </a:bodyPr>
          <a:lstStyle/>
          <a:p>
            <a:pPr algn="ctr">
              <a:lnSpc>
                <a:spcPct val="100000"/>
              </a:lnSpc>
            </a:pPr>
            <a:r>
              <a:rPr sz="1400" b="1" i="0">
                <a:solidFill>
                  <a:srgbClr val="FFFFFF"/>
                </a:solidFill>
                <a:latin typeface="Segoe UI Semibold"/>
              </a:rPr>
              <a:t>Cấp presigned</a:t>
            </a:r>
          </a:p>
        </p:txBody>
      </p:sp>
      <p:sp>
        <p:nvSpPr>
          <p:cNvPr id="17" name="TextBox 16"/>
          <p:cNvSpPr txBox="1"/>
          <p:nvPr/>
        </p:nvSpPr>
        <p:spPr>
          <a:xfrm>
            <a:off x="3749040" y="297180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Backend ký URL</a:t>
            </a:r>
          </a:p>
          <a:p>
            <a:pPr algn="ctr">
              <a:lnSpc>
                <a:spcPct val="100000"/>
              </a:lnSpc>
            </a:pPr>
            <a:r>
              <a:rPr sz="1000" b="0" i="0">
                <a:solidFill>
                  <a:srgbClr val="ECECFB"/>
                </a:solidFill>
                <a:latin typeface="Segoe UI"/>
              </a:rPr>
              <a:t>S3 / R2 có thời hạn</a:t>
            </a:r>
          </a:p>
        </p:txBody>
      </p:sp>
      <p:cxnSp>
        <p:nvCxnSpPr>
          <p:cNvPr id="18" name="Connector 17"/>
          <p:cNvCxnSpPr/>
          <p:nvPr/>
        </p:nvCxnSpPr>
        <p:spPr>
          <a:xfrm>
            <a:off x="6126480" y="2743200"/>
            <a:ext cx="32004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446520" y="1920240"/>
            <a:ext cx="2468880" cy="1645920"/>
          </a:xfrm>
          <a:prstGeom prst="roundRect">
            <a:avLst>
              <a:gd name="adj" fmla="val 10000"/>
            </a:avLst>
          </a:prstGeom>
          <a:gradFill>
            <a:gsLst>
              <a:gs pos="0">
                <a:srgbClr val="2F86A4"/>
              </a:gs>
              <a:gs pos="100000">
                <a:srgbClr val="3A9B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2029968"/>
            <a:ext cx="2468880" cy="50292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③</a:t>
            </a:r>
          </a:p>
        </p:txBody>
      </p:sp>
      <p:sp>
        <p:nvSpPr>
          <p:cNvPr id="21" name="TextBox 20"/>
          <p:cNvSpPr txBox="1"/>
          <p:nvPr/>
        </p:nvSpPr>
        <p:spPr>
          <a:xfrm>
            <a:off x="6446520" y="2578608"/>
            <a:ext cx="2468880" cy="365760"/>
          </a:xfrm>
          <a:prstGeom prst="rect">
            <a:avLst/>
          </a:prstGeom>
          <a:noFill/>
        </p:spPr>
        <p:txBody>
          <a:bodyPr wrap="square" anchor="t" lIns="50800" rIns="50800" tIns="25400" bIns="25400">
            <a:spAutoFit/>
          </a:bodyPr>
          <a:lstStyle/>
          <a:p>
            <a:pPr algn="ctr">
              <a:lnSpc>
                <a:spcPct val="100000"/>
              </a:lnSpc>
            </a:pPr>
            <a:r>
              <a:rPr sz="1400" b="1" i="0">
                <a:solidFill>
                  <a:srgbClr val="FFFFFF"/>
                </a:solidFill>
                <a:latin typeface="Segoe UI Semibold"/>
              </a:rPr>
              <a:t>Upload trực tiếp</a:t>
            </a:r>
          </a:p>
        </p:txBody>
      </p:sp>
      <p:sp>
        <p:nvSpPr>
          <p:cNvPr id="22" name="TextBox 21"/>
          <p:cNvSpPr txBox="1"/>
          <p:nvPr/>
        </p:nvSpPr>
        <p:spPr>
          <a:xfrm>
            <a:off x="6537960" y="297180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Client PUT file</a:t>
            </a:r>
          </a:p>
          <a:p>
            <a:pPr algn="ctr">
              <a:lnSpc>
                <a:spcPct val="100000"/>
              </a:lnSpc>
            </a:pPr>
            <a:r>
              <a:rPr sz="1000" b="0" i="0">
                <a:solidFill>
                  <a:srgbClr val="ECECFB"/>
                </a:solidFill>
                <a:latin typeface="Segoe UI"/>
              </a:rPr>
              <a:t>lên object storage</a:t>
            </a:r>
          </a:p>
        </p:txBody>
      </p:sp>
      <p:cxnSp>
        <p:nvCxnSpPr>
          <p:cNvPr id="23" name="Connector 22"/>
          <p:cNvCxnSpPr/>
          <p:nvPr/>
        </p:nvCxnSpPr>
        <p:spPr>
          <a:xfrm>
            <a:off x="8915400" y="2743200"/>
            <a:ext cx="320040" cy="0"/>
          </a:xfrm>
          <a:prstGeom prst="line">
            <a:avLst/>
          </a:prstGeom>
          <a:ln w="31750">
            <a:solidFill>
              <a:srgbClr val="2F62C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235440" y="1920240"/>
            <a:ext cx="2468880" cy="1645920"/>
          </a:xfrm>
          <a:prstGeom prst="roundRect">
            <a:avLst>
              <a:gd name="adj" fmla="val 10000"/>
            </a:avLst>
          </a:prstGeom>
          <a:gradFill>
            <a:gsLst>
              <a:gs pos="0">
                <a:srgbClr val="2F62C9"/>
              </a:gs>
              <a:gs pos="100000">
                <a:srgbClr val="5470CE"/>
              </a:gs>
            </a:gsLst>
            <a:lin ang="33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2029968"/>
            <a:ext cx="2468880" cy="502920"/>
          </a:xfrm>
          <a:prstGeom prst="rect">
            <a:avLst/>
          </a:prstGeom>
          <a:noFill/>
        </p:spPr>
        <p:txBody>
          <a:bodyPr wrap="square" anchor="t" lIns="50800" rIns="50800" tIns="25400" bIns="25400">
            <a:spAutoFit/>
          </a:bodyPr>
          <a:lstStyle/>
          <a:p>
            <a:pPr algn="ctr">
              <a:lnSpc>
                <a:spcPct val="100000"/>
              </a:lnSpc>
            </a:pPr>
            <a:r>
              <a:rPr sz="3000" b="1" i="0">
                <a:solidFill>
                  <a:srgbClr val="FFFFFF"/>
                </a:solidFill>
                <a:latin typeface="Segoe UI Semibold"/>
              </a:rPr>
              <a:t>④</a:t>
            </a:r>
          </a:p>
        </p:txBody>
      </p:sp>
      <p:sp>
        <p:nvSpPr>
          <p:cNvPr id="26" name="TextBox 25"/>
          <p:cNvSpPr txBox="1"/>
          <p:nvPr/>
        </p:nvSpPr>
        <p:spPr>
          <a:xfrm>
            <a:off x="9235440" y="2578608"/>
            <a:ext cx="2468880" cy="365760"/>
          </a:xfrm>
          <a:prstGeom prst="rect">
            <a:avLst/>
          </a:prstGeom>
          <a:noFill/>
        </p:spPr>
        <p:txBody>
          <a:bodyPr wrap="square" anchor="t" lIns="50800" rIns="50800" tIns="25400" bIns="25400">
            <a:spAutoFit/>
          </a:bodyPr>
          <a:lstStyle/>
          <a:p>
            <a:pPr algn="ctr">
              <a:lnSpc>
                <a:spcPct val="100000"/>
              </a:lnSpc>
            </a:pPr>
            <a:r>
              <a:rPr sz="1400" b="1" i="0">
                <a:solidFill>
                  <a:srgbClr val="FFFFFF"/>
                </a:solidFill>
                <a:latin typeface="Segoe UI Semibold"/>
              </a:rPr>
              <a:t>Lưu metadata</a:t>
            </a:r>
          </a:p>
        </p:txBody>
      </p:sp>
      <p:sp>
        <p:nvSpPr>
          <p:cNvPr id="27" name="TextBox 26"/>
          <p:cNvSpPr txBox="1"/>
          <p:nvPr/>
        </p:nvSpPr>
        <p:spPr>
          <a:xfrm>
            <a:off x="9326880" y="2971800"/>
            <a:ext cx="2286000" cy="502920"/>
          </a:xfrm>
          <a:prstGeom prst="rect">
            <a:avLst/>
          </a:prstGeom>
          <a:noFill/>
        </p:spPr>
        <p:txBody>
          <a:bodyPr wrap="square" anchor="t" lIns="50800" rIns="50800" tIns="25400" bIns="25400">
            <a:spAutoFit/>
          </a:bodyPr>
          <a:lstStyle/>
          <a:p>
            <a:pPr algn="ctr">
              <a:lnSpc>
                <a:spcPct val="100000"/>
              </a:lnSpc>
            </a:pPr>
            <a:r>
              <a:rPr sz="1000" b="0" i="0">
                <a:solidFill>
                  <a:srgbClr val="ECECFB"/>
                </a:solidFill>
                <a:latin typeface="Segoe UI"/>
              </a:rPr>
              <a:t>Backend lưu link</a:t>
            </a:r>
          </a:p>
          <a:p>
            <a:pPr algn="ctr">
              <a:lnSpc>
                <a:spcPct val="100000"/>
              </a:lnSpc>
            </a:pPr>
            <a:r>
              <a:rPr sz="1000" b="0" i="0">
                <a:solidFill>
                  <a:srgbClr val="ECECFB"/>
                </a:solidFill>
                <a:latin typeface="Segoe UI"/>
              </a:rPr>
              <a:t>+ phục vụ qua CDN</a:t>
            </a:r>
          </a:p>
        </p:txBody>
      </p:sp>
      <p:sp>
        <p:nvSpPr>
          <p:cNvPr id="28" name="Rounded Rectangle 27"/>
          <p:cNvSpPr/>
          <p:nvPr/>
        </p:nvSpPr>
        <p:spPr>
          <a:xfrm>
            <a:off x="868680" y="4114800"/>
            <a:ext cx="3383280" cy="169164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68680" y="4114800"/>
            <a:ext cx="3383280"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69848" y="437083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9848" y="435254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2" name="TextBox 31"/>
          <p:cNvSpPr txBox="1"/>
          <p:nvPr/>
        </p:nvSpPr>
        <p:spPr>
          <a:xfrm>
            <a:off x="1051560" y="5047488"/>
            <a:ext cx="3017520" cy="365760"/>
          </a:xfrm>
          <a:prstGeom prst="rect">
            <a:avLst/>
          </a:prstGeom>
          <a:noFill/>
        </p:spPr>
        <p:txBody>
          <a:bodyPr wrap="square" anchor="t" lIns="50800" rIns="50800" tIns="25400" bIns="25400">
            <a:spAutoFit/>
          </a:bodyPr>
          <a:lstStyle/>
          <a:p>
            <a:pPr algn="l">
              <a:lnSpc>
                <a:spcPct val="100000"/>
              </a:lnSpc>
            </a:pPr>
            <a:r>
              <a:rPr sz="1500" b="1" i="0">
                <a:solidFill>
                  <a:srgbClr val="0B2545"/>
                </a:solidFill>
                <a:latin typeface="Segoe UI Semibold"/>
              </a:rPr>
              <a:t>AWS S3</a:t>
            </a:r>
          </a:p>
        </p:txBody>
      </p:sp>
      <p:sp>
        <p:nvSpPr>
          <p:cNvPr id="33" name="TextBox 32"/>
          <p:cNvSpPr txBox="1"/>
          <p:nvPr/>
        </p:nvSpPr>
        <p:spPr>
          <a:xfrm>
            <a:off x="1051560" y="5413248"/>
            <a:ext cx="3017520" cy="32004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Lưu trữ media chính qua AWS S3 SDK &amp; presigned URL.</a:t>
            </a:r>
          </a:p>
        </p:txBody>
      </p:sp>
      <p:sp>
        <p:nvSpPr>
          <p:cNvPr id="34" name="Rounded Rectangle 33"/>
          <p:cNvSpPr/>
          <p:nvPr/>
        </p:nvSpPr>
        <p:spPr>
          <a:xfrm>
            <a:off x="4416552" y="4114800"/>
            <a:ext cx="3383280" cy="169164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416552" y="4114800"/>
            <a:ext cx="3383280" cy="109728"/>
          </a:xfrm>
          <a:prstGeom prst="roundRect">
            <a:avLst>
              <a:gd name="adj" fmla="val 50000"/>
            </a:avLst>
          </a:prstGeom>
          <a:gradFill>
            <a:gsLst>
              <a:gs pos="0">
                <a:srgbClr val="5470CE"/>
              </a:gs>
              <a:gs pos="100000">
                <a:srgbClr val="2F62C9"/>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617720" y="4370832"/>
            <a:ext cx="603504" cy="603504"/>
          </a:xfrm>
          <a:prstGeom prst="roundRect">
            <a:avLst>
              <a:gd name="adj" fmla="val 30000"/>
            </a:avLst>
          </a:prstGeom>
          <a:gradFill>
            <a:gsLst>
              <a:gs pos="0">
                <a:srgbClr val="5470CE"/>
              </a:gs>
              <a:gs pos="100000">
                <a:srgbClr val="2F62C9"/>
              </a:gs>
            </a:gsLst>
            <a:lin ang="2700000" scaled="1"/>
          </a:gradFill>
          <a:ln>
            <a:noFill/>
          </a:ln>
          <a:effectLst>
            <a:outerShdw blurRad="54864" dist="36576" dir="5400000" rotWithShape="0">
              <a:srgbClr val="5470CE">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17720" y="435254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8" name="TextBox 37"/>
          <p:cNvSpPr txBox="1"/>
          <p:nvPr/>
        </p:nvSpPr>
        <p:spPr>
          <a:xfrm>
            <a:off x="4599432" y="5047488"/>
            <a:ext cx="3017520" cy="365760"/>
          </a:xfrm>
          <a:prstGeom prst="rect">
            <a:avLst/>
          </a:prstGeom>
          <a:noFill/>
        </p:spPr>
        <p:txBody>
          <a:bodyPr wrap="square" anchor="t" lIns="50800" rIns="50800" tIns="25400" bIns="25400">
            <a:spAutoFit/>
          </a:bodyPr>
          <a:lstStyle/>
          <a:p>
            <a:pPr algn="l">
              <a:lnSpc>
                <a:spcPct val="100000"/>
              </a:lnSpc>
            </a:pPr>
            <a:r>
              <a:rPr sz="1500" b="1" i="0">
                <a:solidFill>
                  <a:srgbClr val="0B2545"/>
                </a:solidFill>
                <a:latin typeface="Segoe UI Semibold"/>
              </a:rPr>
              <a:t>Cloudflare R2</a:t>
            </a:r>
          </a:p>
        </p:txBody>
      </p:sp>
      <p:sp>
        <p:nvSpPr>
          <p:cNvPr id="39" name="TextBox 38"/>
          <p:cNvSpPr txBox="1"/>
          <p:nvPr/>
        </p:nvSpPr>
        <p:spPr>
          <a:xfrm>
            <a:off x="4599432" y="5413248"/>
            <a:ext cx="3017520" cy="32004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Lưu trữ tương thích S3 cho media nhạc/asset.</a:t>
            </a:r>
          </a:p>
        </p:txBody>
      </p:sp>
      <p:sp>
        <p:nvSpPr>
          <p:cNvPr id="40" name="Rounded Rectangle 39"/>
          <p:cNvSpPr/>
          <p:nvPr/>
        </p:nvSpPr>
        <p:spPr>
          <a:xfrm>
            <a:off x="7964424" y="4114800"/>
            <a:ext cx="3383280" cy="169164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964424" y="4114800"/>
            <a:ext cx="3383280"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165592" y="437083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65592" y="435254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44" name="TextBox 43"/>
          <p:cNvSpPr txBox="1"/>
          <p:nvPr/>
        </p:nvSpPr>
        <p:spPr>
          <a:xfrm>
            <a:off x="8147304" y="5047488"/>
            <a:ext cx="3017520" cy="365760"/>
          </a:xfrm>
          <a:prstGeom prst="rect">
            <a:avLst/>
          </a:prstGeom>
          <a:noFill/>
        </p:spPr>
        <p:txBody>
          <a:bodyPr wrap="square" anchor="t" lIns="50800" rIns="50800" tIns="25400" bIns="25400">
            <a:spAutoFit/>
          </a:bodyPr>
          <a:lstStyle/>
          <a:p>
            <a:pPr algn="l">
              <a:lnSpc>
                <a:spcPct val="100000"/>
              </a:lnSpc>
            </a:pPr>
            <a:r>
              <a:rPr sz="1500" b="1" i="0">
                <a:solidFill>
                  <a:srgbClr val="0B2545"/>
                </a:solidFill>
                <a:latin typeface="Segoe UI Semibold"/>
              </a:rPr>
              <a:t>CDN</a:t>
            </a:r>
          </a:p>
        </p:txBody>
      </p:sp>
      <p:sp>
        <p:nvSpPr>
          <p:cNvPr id="45" name="TextBox 44"/>
          <p:cNvSpPr txBox="1"/>
          <p:nvPr/>
        </p:nvSpPr>
        <p:spPr>
          <a:xfrm>
            <a:off x="8147304" y="5413248"/>
            <a:ext cx="3017520" cy="32004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Phục vụ nội dung qua app.cdn-domain tăng tốc tải.</a:t>
            </a:r>
          </a:p>
        </p:txBody>
      </p:sp>
      <p:sp>
        <p:nvSpPr>
          <p:cNvPr id="46" name="TextBox 45"/>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7" name="Rounded Rectangle 46"/>
          <p:cNvSpPr/>
          <p:nvPr/>
        </p:nvSpPr>
        <p:spPr>
          <a:xfrm>
            <a:off x="11247120" y="6382512"/>
            <a:ext cx="502920" cy="310896"/>
          </a:xfrm>
          <a:prstGeom prst="roundRect">
            <a:avLst>
              <a:gd name="adj" fmla="val 50000"/>
            </a:avLst>
          </a:prstGeom>
          <a:gradFill>
            <a:gsLst>
              <a:gs pos="0">
                <a:srgbClr val="2F62C9"/>
              </a:gs>
              <a:gs pos="100000">
                <a:srgbClr val="6D91D9"/>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9921240" y="0"/>
            <a:ext cx="2103120" cy="2103120"/>
          </a:xfrm>
          <a:prstGeom prst="hexago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E93AE"/>
              </a:gs>
              <a:gs pos="100000">
                <a:srgbClr val="8CC3D2"/>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E93AE"/>
                </a:solidFill>
                <a:latin typeface="Segoe UI Semibold"/>
              </a:rPr>
              <a:t>REST API</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Tổng quan các nhóm endpoint</a:t>
            </a:r>
          </a:p>
        </p:txBody>
      </p:sp>
      <p:sp>
        <p:nvSpPr>
          <p:cNvPr id="9" name="Rounded Rectangle 8"/>
          <p:cNvSpPr/>
          <p:nvPr/>
        </p:nvSpPr>
        <p:spPr>
          <a:xfrm>
            <a:off x="777240" y="1737360"/>
            <a:ext cx="10607040" cy="457200"/>
          </a:xfrm>
          <a:prstGeom prst="roundRect">
            <a:avLst>
              <a:gd name="adj" fmla="val 8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737360"/>
            <a:ext cx="109728" cy="457200"/>
          </a:xfrm>
          <a:prstGeom prst="rect">
            <a:avLst/>
          </a:prstGeom>
          <a:solidFill>
            <a:srgbClr val="5B6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737360"/>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Auth</a:t>
            </a:r>
          </a:p>
        </p:txBody>
      </p:sp>
      <p:sp>
        <p:nvSpPr>
          <p:cNvPr id="12" name="TextBox 11"/>
          <p:cNvSpPr txBox="1"/>
          <p:nvPr/>
        </p:nvSpPr>
        <p:spPr>
          <a:xfrm>
            <a:off x="4480560" y="1737360"/>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/api/auth/register · /login · /refresh · /me</a:t>
            </a:r>
          </a:p>
        </p:txBody>
      </p:sp>
      <p:sp>
        <p:nvSpPr>
          <p:cNvPr id="13" name="Rounded Rectangle 12"/>
          <p:cNvSpPr/>
          <p:nvPr/>
        </p:nvSpPr>
        <p:spPr>
          <a:xfrm>
            <a:off x="777240" y="2244852"/>
            <a:ext cx="10607040" cy="457200"/>
          </a:xfrm>
          <a:prstGeom prst="roundRect">
            <a:avLst>
              <a:gd name="adj" fmla="val 8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2244852"/>
            <a:ext cx="109728" cy="457200"/>
          </a:xfrm>
          <a:prstGeom prst="rect">
            <a:avLst/>
          </a:prstGeom>
          <a:solidFill>
            <a:srgbClr val="3E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2244852"/>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QR Session</a:t>
            </a:r>
          </a:p>
        </p:txBody>
      </p:sp>
      <p:sp>
        <p:nvSpPr>
          <p:cNvPr id="16" name="TextBox 15"/>
          <p:cNvSpPr txBox="1"/>
          <p:nvPr/>
        </p:nvSpPr>
        <p:spPr>
          <a:xfrm>
            <a:off x="4480560" y="2244852"/>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/api/session/qr-login/create · /status · /confirm</a:t>
            </a:r>
          </a:p>
        </p:txBody>
      </p:sp>
      <p:sp>
        <p:nvSpPr>
          <p:cNvPr id="17" name="Rounded Rectangle 16"/>
          <p:cNvSpPr/>
          <p:nvPr/>
        </p:nvSpPr>
        <p:spPr>
          <a:xfrm>
            <a:off x="777240" y="2752344"/>
            <a:ext cx="10607040" cy="457200"/>
          </a:xfrm>
          <a:prstGeom prst="roundRect">
            <a:avLst>
              <a:gd name="adj" fmla="val 8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52344"/>
            <a:ext cx="109728" cy="457200"/>
          </a:xfrm>
          <a:prstGeom prst="rect">
            <a:avLst/>
          </a:prstGeom>
          <a:solidFill>
            <a:srgbClr val="3A9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2752344"/>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Friends</a:t>
            </a:r>
          </a:p>
        </p:txBody>
      </p:sp>
      <p:sp>
        <p:nvSpPr>
          <p:cNvPr id="20" name="TextBox 19"/>
          <p:cNvSpPr txBox="1"/>
          <p:nvPr/>
        </p:nvSpPr>
        <p:spPr>
          <a:xfrm>
            <a:off x="4480560" y="2752344"/>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/api/friends/request · /accept · /reject</a:t>
            </a:r>
          </a:p>
        </p:txBody>
      </p:sp>
      <p:sp>
        <p:nvSpPr>
          <p:cNvPr id="21" name="Rounded Rectangle 20"/>
          <p:cNvSpPr/>
          <p:nvPr/>
        </p:nvSpPr>
        <p:spPr>
          <a:xfrm>
            <a:off x="777240" y="3259836"/>
            <a:ext cx="10607040" cy="457200"/>
          </a:xfrm>
          <a:prstGeom prst="roundRect">
            <a:avLst>
              <a:gd name="adj" fmla="val 8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3259836"/>
            <a:ext cx="109728" cy="457200"/>
          </a:xfrm>
          <a:prstGeom prst="rect">
            <a:avLst/>
          </a:prstGeom>
          <a:solidFill>
            <a:srgbClr val="2E93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3259836"/>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Posts</a:t>
            </a:r>
          </a:p>
        </p:txBody>
      </p:sp>
      <p:sp>
        <p:nvSpPr>
          <p:cNvPr id="24" name="TextBox 23"/>
          <p:cNvSpPr txBox="1"/>
          <p:nvPr/>
        </p:nvSpPr>
        <p:spPr>
          <a:xfrm>
            <a:off x="4480560" y="3259836"/>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/api/posts · /upload-url · /tagged/{id}</a:t>
            </a:r>
          </a:p>
        </p:txBody>
      </p:sp>
      <p:sp>
        <p:nvSpPr>
          <p:cNvPr id="25" name="Rounded Rectangle 24"/>
          <p:cNvSpPr/>
          <p:nvPr/>
        </p:nvSpPr>
        <p:spPr>
          <a:xfrm>
            <a:off x="777240" y="3767328"/>
            <a:ext cx="10607040" cy="457200"/>
          </a:xfrm>
          <a:prstGeom prst="roundRect">
            <a:avLst>
              <a:gd name="adj" fmla="val 8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3767328"/>
            <a:ext cx="109728" cy="457200"/>
          </a:xfrm>
          <a:prstGeom prst="rect">
            <a:avLst/>
          </a:prstGeom>
          <a:solidFill>
            <a:srgbClr val="2F8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3767328"/>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Comments · Reactions</a:t>
            </a:r>
          </a:p>
        </p:txBody>
      </p:sp>
      <p:sp>
        <p:nvSpPr>
          <p:cNvPr id="28" name="TextBox 27"/>
          <p:cNvSpPr txBox="1"/>
          <p:nvPr/>
        </p:nvSpPr>
        <p:spPr>
          <a:xfrm>
            <a:off x="4480560" y="3767328"/>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/api/comments · /api/reactions/toggle</a:t>
            </a:r>
          </a:p>
        </p:txBody>
      </p:sp>
      <p:sp>
        <p:nvSpPr>
          <p:cNvPr id="29" name="Rounded Rectangle 28"/>
          <p:cNvSpPr/>
          <p:nvPr/>
        </p:nvSpPr>
        <p:spPr>
          <a:xfrm>
            <a:off x="777240" y="4274820"/>
            <a:ext cx="10607040" cy="457200"/>
          </a:xfrm>
          <a:prstGeom prst="roundRect">
            <a:avLst>
              <a:gd name="adj" fmla="val 8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7240" y="4274820"/>
            <a:ext cx="109728" cy="457200"/>
          </a:xfrm>
          <a:prstGeom prst="rect">
            <a:avLst/>
          </a:prstGeom>
          <a:solidFill>
            <a:srgbClr val="3A9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4274820"/>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Stories</a:t>
            </a:r>
          </a:p>
        </p:txBody>
      </p:sp>
      <p:sp>
        <p:nvSpPr>
          <p:cNvPr id="32" name="TextBox 31"/>
          <p:cNvSpPr txBox="1"/>
          <p:nvPr/>
        </p:nvSpPr>
        <p:spPr>
          <a:xfrm>
            <a:off x="4480560" y="4274820"/>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/api/stories · /feed · /{id}/view · /react</a:t>
            </a:r>
          </a:p>
        </p:txBody>
      </p:sp>
      <p:sp>
        <p:nvSpPr>
          <p:cNvPr id="33" name="Rounded Rectangle 32"/>
          <p:cNvSpPr/>
          <p:nvPr/>
        </p:nvSpPr>
        <p:spPr>
          <a:xfrm>
            <a:off x="777240" y="4782312"/>
            <a:ext cx="10607040" cy="457200"/>
          </a:xfrm>
          <a:prstGeom prst="roundRect">
            <a:avLst>
              <a:gd name="adj" fmla="val 8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77240" y="4782312"/>
            <a:ext cx="109728" cy="457200"/>
          </a:xfrm>
          <a:prstGeom prst="rect">
            <a:avLst/>
          </a:prstGeom>
          <a:solidFill>
            <a:srgbClr val="5158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5840" y="4782312"/>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Pages</a:t>
            </a:r>
          </a:p>
        </p:txBody>
      </p:sp>
      <p:sp>
        <p:nvSpPr>
          <p:cNvPr id="36" name="TextBox 35"/>
          <p:cNvSpPr txBox="1"/>
          <p:nvPr/>
        </p:nvSpPr>
        <p:spPr>
          <a:xfrm>
            <a:off x="4480560" y="4782312"/>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/api/page/create · /api/page-member/request-join</a:t>
            </a:r>
          </a:p>
        </p:txBody>
      </p:sp>
      <p:sp>
        <p:nvSpPr>
          <p:cNvPr id="37" name="Rounded Rectangle 36"/>
          <p:cNvSpPr/>
          <p:nvPr/>
        </p:nvSpPr>
        <p:spPr>
          <a:xfrm>
            <a:off x="777240" y="5289804"/>
            <a:ext cx="10607040" cy="457200"/>
          </a:xfrm>
          <a:prstGeom prst="roundRect">
            <a:avLst>
              <a:gd name="adj" fmla="val 8000"/>
            </a:avLst>
          </a:prstGeom>
          <a:solidFill>
            <a:srgbClr val="DC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89804"/>
            <a:ext cx="109728" cy="457200"/>
          </a:xfrm>
          <a:prstGeom prst="rect">
            <a:avLst/>
          </a:prstGeom>
          <a:solidFill>
            <a:srgbClr val="8FB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289804"/>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Conversations · Messages</a:t>
            </a:r>
          </a:p>
        </p:txBody>
      </p:sp>
      <p:sp>
        <p:nvSpPr>
          <p:cNvPr id="40" name="TextBox 39"/>
          <p:cNvSpPr txBox="1"/>
          <p:nvPr/>
        </p:nvSpPr>
        <p:spPr>
          <a:xfrm>
            <a:off x="4480560" y="5289804"/>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/api/conversations · /api/messages/send · /recall</a:t>
            </a:r>
          </a:p>
        </p:txBody>
      </p:sp>
      <p:sp>
        <p:nvSpPr>
          <p:cNvPr id="41" name="Rounded Rectangle 40"/>
          <p:cNvSpPr/>
          <p:nvPr/>
        </p:nvSpPr>
        <p:spPr>
          <a:xfrm>
            <a:off x="777240" y="5797296"/>
            <a:ext cx="10607040" cy="457200"/>
          </a:xfrm>
          <a:prstGeom prst="roundRect">
            <a:avLst>
              <a:gd name="adj" fmla="val 8000"/>
            </a:avLst>
          </a:prstGeom>
          <a:solidFill>
            <a:srgbClr val="F4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5797296"/>
            <a:ext cx="109728" cy="457200"/>
          </a:xfrm>
          <a:prstGeom prst="rect">
            <a:avLst/>
          </a:prstGeom>
          <a:solidFill>
            <a:srgbClr val="2F62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5840" y="5797296"/>
            <a:ext cx="3383280" cy="457200"/>
          </a:xfrm>
          <a:prstGeom prst="rect">
            <a:avLst/>
          </a:prstGeom>
          <a:noFill/>
        </p:spPr>
        <p:txBody>
          <a:bodyPr wrap="square" anchor="ctr" lIns="50800" rIns="50800" tIns="25400" bIns="25400">
            <a:spAutoFit/>
          </a:bodyPr>
          <a:lstStyle/>
          <a:p>
            <a:pPr algn="l">
              <a:lnSpc>
                <a:spcPct val="100000"/>
              </a:lnSpc>
            </a:pPr>
            <a:r>
              <a:rPr sz="1250" b="1" i="0">
                <a:solidFill>
                  <a:srgbClr val="0B2545"/>
                </a:solidFill>
                <a:latin typeface="Segoe UI Semibold"/>
              </a:rPr>
              <a:t>Files · Music · AI</a:t>
            </a:r>
          </a:p>
        </p:txBody>
      </p:sp>
      <p:sp>
        <p:nvSpPr>
          <p:cNvPr id="44" name="TextBox 43"/>
          <p:cNvSpPr txBox="1"/>
          <p:nvPr/>
        </p:nvSpPr>
        <p:spPr>
          <a:xfrm>
            <a:off x="4480560" y="5797296"/>
            <a:ext cx="6766560" cy="457200"/>
          </a:xfrm>
          <a:prstGeom prst="rect">
            <a:avLst/>
          </a:prstGeom>
          <a:noFill/>
        </p:spPr>
        <p:txBody>
          <a:bodyPr wrap="square" anchor="ctr" lIns="50800" rIns="50800" tIns="25400" bIns="25400">
            <a:spAutoFit/>
          </a:bodyPr>
          <a:lstStyle/>
          <a:p>
            <a:pPr algn="l">
              <a:lnSpc>
                <a:spcPct val="100000"/>
              </a:lnSpc>
            </a:pPr>
            <a:r>
              <a:rPr sz="1150" b="0" i="0">
                <a:solidFill>
                  <a:srgbClr val="2E93AE"/>
                </a:solidFill>
                <a:latin typeface="Consolas"/>
              </a:rPr>
              <a:t>/api/files/presigned-url · /api/music · /api/ai/*</a:t>
            </a:r>
          </a:p>
        </p:txBody>
      </p:sp>
      <p:sp>
        <p:nvSpPr>
          <p:cNvPr id="45" name="TextBox 44"/>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6" name="Rounded Rectangle 45"/>
          <p:cNvSpPr/>
          <p:nvPr/>
        </p:nvSpPr>
        <p:spPr>
          <a:xfrm>
            <a:off x="11247120" y="6382512"/>
            <a:ext cx="502920" cy="310896"/>
          </a:xfrm>
          <a:prstGeom prst="roundRect">
            <a:avLst>
              <a:gd name="adj" fmla="val 50000"/>
            </a:avLst>
          </a:prstGeom>
          <a:gradFill>
            <a:gsLst>
              <a:gs pos="0">
                <a:srgbClr val="2E93AE"/>
              </a:gs>
              <a:gs pos="100000">
                <a:srgbClr val="6CB3C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9921240" y="0"/>
            <a:ext cx="2103120" cy="2103120"/>
          </a:xfrm>
          <a:prstGeom prst="hexago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A4A93"/>
              </a:gs>
              <a:gs pos="100000">
                <a:srgbClr val="899BC3"/>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A4A93"/>
                </a:solidFill>
                <a:latin typeface="Segoe UI Semibold"/>
              </a:rPr>
              <a:t>SECURITY</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Mô hình bảo mật</a:t>
            </a:r>
          </a:p>
        </p:txBody>
      </p:sp>
      <p:sp>
        <p:nvSpPr>
          <p:cNvPr id="9" name="Rounded Rectangle 8"/>
          <p:cNvSpPr/>
          <p:nvPr/>
        </p:nvSpPr>
        <p:spPr>
          <a:xfrm>
            <a:off x="777240"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3456432"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3090672" cy="36576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Stateless JWT</a:t>
            </a:r>
          </a:p>
        </p:txBody>
      </p:sp>
      <p:sp>
        <p:nvSpPr>
          <p:cNvPr id="14" name="TextBox 13"/>
          <p:cNvSpPr txBox="1"/>
          <p:nvPr/>
        </p:nvSpPr>
        <p:spPr>
          <a:xfrm>
            <a:off x="960120" y="308152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Spring Security xác thực JWT do Cognito phát hành cho mỗi request, không lưu phiên server.</a:t>
            </a:r>
          </a:p>
        </p:txBody>
      </p:sp>
      <p:sp>
        <p:nvSpPr>
          <p:cNvPr id="15" name="Rounded Rectangle 14"/>
          <p:cNvSpPr/>
          <p:nvPr/>
        </p:nvSpPr>
        <p:spPr>
          <a:xfrm>
            <a:off x="4489704"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489704" y="1783080"/>
            <a:ext cx="3456432"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90872"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0872"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4672584" y="2715768"/>
            <a:ext cx="3090672" cy="36576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Lưu token an toàn</a:t>
            </a:r>
          </a:p>
        </p:txBody>
      </p:sp>
      <p:sp>
        <p:nvSpPr>
          <p:cNvPr id="20" name="TextBox 19"/>
          <p:cNvSpPr txBox="1"/>
          <p:nvPr/>
        </p:nvSpPr>
        <p:spPr>
          <a:xfrm>
            <a:off x="4672584" y="308152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Web: secure cookies. Mobile: Expo Secure Store. Tự refresh token khi hết hạn.</a:t>
            </a:r>
          </a:p>
        </p:txBody>
      </p:sp>
      <p:sp>
        <p:nvSpPr>
          <p:cNvPr id="21" name="Rounded Rectangle 20"/>
          <p:cNvSpPr/>
          <p:nvPr/>
        </p:nvSpPr>
        <p:spPr>
          <a:xfrm>
            <a:off x="8202168"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02168" y="1783080"/>
            <a:ext cx="3456432"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03336" y="203911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03336"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8385048" y="2715768"/>
            <a:ext cx="3090672" cy="36576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AI Consent Boundary</a:t>
            </a:r>
          </a:p>
        </p:txBody>
      </p:sp>
      <p:sp>
        <p:nvSpPr>
          <p:cNvPr id="26" name="TextBox 25"/>
          <p:cNvSpPr txBox="1"/>
          <p:nvPr/>
        </p:nvSpPr>
        <p:spPr>
          <a:xfrm>
            <a:off x="8385048" y="308152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Bắt buộc người dùng đồng ý trước khi dữ liệu hội thoại được xử lý qua AI provider.</a:t>
            </a:r>
          </a:p>
        </p:txBody>
      </p:sp>
      <p:sp>
        <p:nvSpPr>
          <p:cNvPr id="27" name="Rounded Rectangle 26"/>
          <p:cNvSpPr/>
          <p:nvPr/>
        </p:nvSpPr>
        <p:spPr>
          <a:xfrm>
            <a:off x="777240"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77240" y="3931920"/>
            <a:ext cx="3456432" cy="109728"/>
          </a:xfrm>
          <a:prstGeom prst="roundRect">
            <a:avLst>
              <a:gd name="adj" fmla="val 50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78408" y="4187952"/>
            <a:ext cx="603504" cy="603504"/>
          </a:xfrm>
          <a:prstGeom prst="roundRect">
            <a:avLst>
              <a:gd name="adj" fmla="val 30000"/>
            </a:avLst>
          </a:prstGeom>
          <a:gradFill>
            <a:gsLst>
              <a:gs pos="0">
                <a:srgbClr val="2F62C9"/>
              </a:gs>
              <a:gs pos="100000">
                <a:srgbClr val="5470CE"/>
              </a:gs>
            </a:gsLst>
            <a:lin ang="2700000" scaled="1"/>
          </a:gradFill>
          <a:ln>
            <a:noFill/>
          </a:ln>
          <a:effectLst>
            <a:outerShdw blurRad="54864" dist="36576" dir="5400000" rotWithShape="0">
              <a:srgbClr val="2F62C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8408"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960120" y="4864608"/>
            <a:ext cx="3090672" cy="36576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CORS &amp; Proxy</a:t>
            </a:r>
          </a:p>
        </p:txBody>
      </p:sp>
      <p:sp>
        <p:nvSpPr>
          <p:cNvPr id="32" name="TextBox 31"/>
          <p:cNvSpPr txBox="1"/>
          <p:nvPr/>
        </p:nvSpPr>
        <p:spPr>
          <a:xfrm>
            <a:off x="960120" y="523036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Cấu hình CORS; web proxy /api &amp; /ws qua Vite; tách credentials theo client.</a:t>
            </a:r>
          </a:p>
        </p:txBody>
      </p:sp>
      <p:sp>
        <p:nvSpPr>
          <p:cNvPr id="33" name="Rounded Rectangle 32"/>
          <p:cNvSpPr/>
          <p:nvPr/>
        </p:nvSpPr>
        <p:spPr>
          <a:xfrm>
            <a:off x="4489704"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489704" y="3931920"/>
            <a:ext cx="3456432" cy="109728"/>
          </a:xfrm>
          <a:prstGeom prst="roundRect">
            <a:avLst>
              <a:gd name="adj" fmla="val 50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690872" y="4187952"/>
            <a:ext cx="603504" cy="603504"/>
          </a:xfrm>
          <a:prstGeom prst="roundRect">
            <a:avLst>
              <a:gd name="adj" fmla="val 30000"/>
            </a:avLst>
          </a:prstGeom>
          <a:gradFill>
            <a:gsLst>
              <a:gs pos="0">
                <a:srgbClr val="2A4A93"/>
              </a:gs>
              <a:gs pos="100000">
                <a:srgbClr val="8FBDEE"/>
              </a:gs>
            </a:gsLst>
            <a:lin ang="2700000" scaled="1"/>
          </a:gradFill>
          <a:ln>
            <a:noFill/>
          </a:ln>
          <a:effectLst>
            <a:outerShdw blurRad="54864" dist="36576" dir="5400000" rotWithShape="0">
              <a:srgbClr val="2A4A93">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90872"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7" name="TextBox 36"/>
          <p:cNvSpPr txBox="1"/>
          <p:nvPr/>
        </p:nvSpPr>
        <p:spPr>
          <a:xfrm>
            <a:off x="4672584" y="4864608"/>
            <a:ext cx="3090672" cy="36576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Quyền riêng tư</a:t>
            </a:r>
          </a:p>
        </p:txBody>
      </p:sp>
      <p:sp>
        <p:nvSpPr>
          <p:cNvPr id="38" name="TextBox 37"/>
          <p:cNvSpPr txBox="1"/>
          <p:nvPr/>
        </p:nvSpPr>
        <p:spPr>
          <a:xfrm>
            <a:off x="4672584" y="523036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Profile privacy, chặn người dùng, hội thoại read-only khi bị chặn.</a:t>
            </a:r>
          </a:p>
        </p:txBody>
      </p:sp>
      <p:sp>
        <p:nvSpPr>
          <p:cNvPr id="39" name="Rounded Rectangle 38"/>
          <p:cNvSpPr/>
          <p:nvPr/>
        </p:nvSpPr>
        <p:spPr>
          <a:xfrm>
            <a:off x="8202168"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202168" y="3931920"/>
            <a:ext cx="3456432" cy="109728"/>
          </a:xfrm>
          <a:prstGeom prst="roundRect">
            <a:avLst>
              <a:gd name="adj" fmla="val 50000"/>
            </a:avLst>
          </a:prstGeom>
          <a:gradFill>
            <a:gsLst>
              <a:gs pos="0">
                <a:srgbClr val="5158C4"/>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03336" y="4187952"/>
            <a:ext cx="603504" cy="603504"/>
          </a:xfrm>
          <a:prstGeom prst="roundRect">
            <a:avLst>
              <a:gd name="adj" fmla="val 30000"/>
            </a:avLst>
          </a:prstGeom>
          <a:gradFill>
            <a:gsLst>
              <a:gs pos="0">
                <a:srgbClr val="5158C4"/>
              </a:gs>
              <a:gs pos="100000">
                <a:srgbClr val="7A82E6"/>
              </a:gs>
            </a:gsLst>
            <a:lin ang="2700000" scaled="1"/>
          </a:gradFill>
          <a:ln>
            <a:noFill/>
          </a:ln>
          <a:effectLst>
            <a:outerShdw blurRad="54864" dist="36576" dir="5400000" rotWithShape="0">
              <a:srgbClr val="5158C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03336"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43" name="TextBox 42"/>
          <p:cNvSpPr txBox="1"/>
          <p:nvPr/>
        </p:nvSpPr>
        <p:spPr>
          <a:xfrm>
            <a:off x="8385048" y="4864608"/>
            <a:ext cx="3090672" cy="365760"/>
          </a:xfrm>
          <a:prstGeom prst="rect">
            <a:avLst/>
          </a:prstGeom>
          <a:noFill/>
        </p:spPr>
        <p:txBody>
          <a:bodyPr wrap="square" anchor="t" lIns="50800" rIns="50800" tIns="25400" bIns="25400">
            <a:spAutoFit/>
          </a:bodyPr>
          <a:lstStyle/>
          <a:p>
            <a:pPr algn="l">
              <a:lnSpc>
                <a:spcPct val="100000"/>
              </a:lnSpc>
            </a:pPr>
            <a:r>
              <a:rPr sz="1400" b="1" i="0">
                <a:solidFill>
                  <a:srgbClr val="0B2545"/>
                </a:solidFill>
                <a:latin typeface="Segoe UI Semibold"/>
              </a:rPr>
              <a:t>Phân quyền Pages</a:t>
            </a:r>
          </a:p>
        </p:txBody>
      </p:sp>
      <p:sp>
        <p:nvSpPr>
          <p:cNvPr id="44" name="TextBox 43"/>
          <p:cNvSpPr txBox="1"/>
          <p:nvPr/>
        </p:nvSpPr>
        <p:spPr>
          <a:xfrm>
            <a:off x="8385048" y="5230368"/>
            <a:ext cx="3090672" cy="594360"/>
          </a:xfrm>
          <a:prstGeom prst="rect">
            <a:avLst/>
          </a:prstGeom>
          <a:noFill/>
        </p:spPr>
        <p:txBody>
          <a:bodyPr wrap="square" anchor="t" lIns="50800" rIns="50800" tIns="25400" bIns="25400">
            <a:spAutoFit/>
          </a:bodyPr>
          <a:lstStyle/>
          <a:p>
            <a:pPr algn="l">
              <a:lnSpc>
                <a:spcPct val="105000"/>
              </a:lnSpc>
            </a:pPr>
            <a:r>
              <a:rPr sz="1100" b="0" i="0">
                <a:solidFill>
                  <a:srgbClr val="23426B"/>
                </a:solidFill>
                <a:latin typeface="Segoe UI"/>
              </a:rPr>
              <a:t>Vai trò thành viên trang, duyệt bài &amp; yêu cầu tham gia có kiểm soát.</a:t>
            </a:r>
          </a:p>
        </p:txBody>
      </p:sp>
      <p:sp>
        <p:nvSpPr>
          <p:cNvPr id="45" name="TextBox 44"/>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6" name="Rounded Rectangle 45"/>
          <p:cNvSpPr/>
          <p:nvPr/>
        </p:nvSpPr>
        <p:spPr>
          <a:xfrm>
            <a:off x="11247120" y="6382512"/>
            <a:ext cx="502920" cy="310896"/>
          </a:xfrm>
          <a:prstGeom prst="roundRect">
            <a:avLst>
              <a:gd name="adj" fmla="val 50000"/>
            </a:avLst>
          </a:prstGeom>
          <a:gradFill>
            <a:gsLst>
              <a:gs pos="0">
                <a:srgbClr val="2A4A93"/>
              </a:gs>
              <a:gs pos="100000">
                <a:srgbClr val="6980B3"/>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Gear 6 4"/>
          <p:cNvSpPr/>
          <p:nvPr/>
        </p:nvSpPr>
        <p:spPr>
          <a:xfrm>
            <a:off x="9921240" y="0"/>
            <a:ext cx="2103120" cy="2103120"/>
          </a:xfrm>
          <a:prstGeom prst="gear6">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3A9BCE"/>
              </a:gs>
              <a:gs pos="100000">
                <a:srgbClr val="92C8E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3A9BCE"/>
                </a:solidFill>
                <a:latin typeface="Segoe UI Semibold"/>
              </a:rPr>
              <a:t>DEVOPS</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Quy trình chạy &amp; build hệ thống</a:t>
            </a:r>
          </a:p>
        </p:txBody>
      </p:sp>
      <p:sp>
        <p:nvSpPr>
          <p:cNvPr id="9" name="Rounded Rectangle 8"/>
          <p:cNvSpPr/>
          <p:nvPr/>
        </p:nvSpPr>
        <p:spPr>
          <a:xfrm>
            <a:off x="777240" y="1783080"/>
            <a:ext cx="3520440" cy="39319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3520440" cy="658368"/>
          </a:xfrm>
          <a:prstGeom prst="roundRect">
            <a:avLst>
              <a:gd name="adj" fmla="val 1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783080"/>
            <a:ext cx="3520440" cy="65836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 Backend</a:t>
            </a:r>
          </a:p>
        </p:txBody>
      </p:sp>
      <p:sp>
        <p:nvSpPr>
          <p:cNvPr id="12" name="TextBox 11"/>
          <p:cNvSpPr txBox="1"/>
          <p:nvPr/>
        </p:nvSpPr>
        <p:spPr>
          <a:xfrm>
            <a:off x="1005840" y="2651760"/>
            <a:ext cx="3108960" cy="2926080"/>
          </a:xfrm>
          <a:prstGeom prst="rect">
            <a:avLst/>
          </a:prstGeom>
          <a:noFill/>
        </p:spPr>
        <p:txBody>
          <a:bodyPr wrap="square" lIns="25400" rIns="25400">
            <a:spAutoFit/>
          </a:bodyPr>
          <a:lstStyle/>
          <a:p>
            <a:pPr>
              <a:lnSpc>
                <a:spcPct val="105000"/>
              </a:lnSpc>
              <a:spcAft>
                <a:spcPts val="1200"/>
              </a:spcAft>
            </a:pPr>
            <a:r>
              <a:rPr sz="1200" b="1">
                <a:solidFill>
                  <a:srgbClr val="7A82E6"/>
                </a:solidFill>
                <a:latin typeface="Segoe UI"/>
              </a:rPr>
              <a:t>▸  </a:t>
            </a:r>
            <a:r>
              <a:rPr sz="1200">
                <a:solidFill>
                  <a:srgbClr val="23426B"/>
                </a:solidFill>
                <a:latin typeface="Segoe UI"/>
              </a:rPr>
              <a:t>docker compose up -d  (Redis)</a:t>
            </a:r>
          </a:p>
          <a:p>
            <a:pPr>
              <a:lnSpc>
                <a:spcPct val="105000"/>
              </a:lnSpc>
              <a:spcAft>
                <a:spcPts val="1200"/>
              </a:spcAft>
            </a:pPr>
            <a:r>
              <a:rPr sz="1200" b="1">
                <a:solidFill>
                  <a:srgbClr val="7A82E6"/>
                </a:solidFill>
                <a:latin typeface="Segoe UI"/>
              </a:rPr>
              <a:t>▸  </a:t>
            </a:r>
            <a:r>
              <a:rPr sz="1200">
                <a:solidFill>
                  <a:srgbClr val="23426B"/>
                </a:solidFill>
                <a:latin typeface="Segoe UI"/>
              </a:rPr>
              <a:t>cấu hình application.properties</a:t>
            </a:r>
          </a:p>
          <a:p>
            <a:pPr>
              <a:lnSpc>
                <a:spcPct val="105000"/>
              </a:lnSpc>
              <a:spcAft>
                <a:spcPts val="1200"/>
              </a:spcAft>
            </a:pPr>
            <a:r>
              <a:rPr sz="1200" b="1">
                <a:solidFill>
                  <a:srgbClr val="7A82E6"/>
                </a:solidFill>
                <a:latin typeface="Segoe UI"/>
              </a:rPr>
              <a:t>▸  </a:t>
            </a:r>
            <a:r>
              <a:rPr sz="1200">
                <a:solidFill>
                  <a:srgbClr val="23426B"/>
                </a:solidFill>
                <a:latin typeface="Segoe UI"/>
              </a:rPr>
              <a:t>./mvnw spring-boot:run</a:t>
            </a:r>
          </a:p>
          <a:p>
            <a:pPr>
              <a:lnSpc>
                <a:spcPct val="105000"/>
              </a:lnSpc>
              <a:spcAft>
                <a:spcPts val="1200"/>
              </a:spcAft>
            </a:pPr>
            <a:r>
              <a:rPr sz="1200" b="1">
                <a:solidFill>
                  <a:srgbClr val="7A82E6"/>
                </a:solidFill>
                <a:latin typeface="Segoe UI"/>
              </a:rPr>
              <a:t>▸  </a:t>
            </a:r>
            <a:r>
              <a:rPr sz="1200">
                <a:solidFill>
                  <a:srgbClr val="23426B"/>
                </a:solidFill>
                <a:latin typeface="Segoe UI"/>
              </a:rPr>
              <a:t>→ http://localhost:8080</a:t>
            </a:r>
          </a:p>
          <a:p>
            <a:pPr>
              <a:lnSpc>
                <a:spcPct val="105000"/>
              </a:lnSpc>
              <a:spcAft>
                <a:spcPts val="1200"/>
              </a:spcAft>
            </a:pPr>
            <a:r>
              <a:rPr sz="1200" b="1">
                <a:solidFill>
                  <a:srgbClr val="7A82E6"/>
                </a:solidFill>
                <a:latin typeface="Segoe UI"/>
              </a:rPr>
              <a:t>▸  </a:t>
            </a:r>
            <a:r>
              <a:rPr sz="1200">
                <a:solidFill>
                  <a:srgbClr val="23426B"/>
                </a:solidFill>
                <a:latin typeface="Segoe UI"/>
              </a:rPr>
              <a:t>./mvnw test</a:t>
            </a:r>
          </a:p>
        </p:txBody>
      </p:sp>
      <p:sp>
        <p:nvSpPr>
          <p:cNvPr id="13" name="Rounded Rectangle 12"/>
          <p:cNvSpPr/>
          <p:nvPr/>
        </p:nvSpPr>
        <p:spPr>
          <a:xfrm>
            <a:off x="4599432" y="1783080"/>
            <a:ext cx="3520440" cy="39319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99432" y="1783080"/>
            <a:ext cx="3520440" cy="658368"/>
          </a:xfrm>
          <a:prstGeom prst="roundRect">
            <a:avLst>
              <a:gd name="adj" fmla="val 1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783080"/>
            <a:ext cx="3520440" cy="65836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 Web</a:t>
            </a:r>
          </a:p>
        </p:txBody>
      </p:sp>
      <p:sp>
        <p:nvSpPr>
          <p:cNvPr id="16" name="TextBox 15"/>
          <p:cNvSpPr txBox="1"/>
          <p:nvPr/>
        </p:nvSpPr>
        <p:spPr>
          <a:xfrm>
            <a:off x="4828032" y="2651760"/>
            <a:ext cx="3108960" cy="2926080"/>
          </a:xfrm>
          <a:prstGeom prst="rect">
            <a:avLst/>
          </a:prstGeom>
          <a:noFill/>
        </p:spPr>
        <p:txBody>
          <a:bodyPr wrap="square" lIns="25400" rIns="25400">
            <a:spAutoFit/>
          </a:bodyPr>
          <a:lstStyle/>
          <a:p>
            <a:pPr>
              <a:lnSpc>
                <a:spcPct val="105000"/>
              </a:lnSpc>
              <a:spcAft>
                <a:spcPts val="1200"/>
              </a:spcAft>
            </a:pPr>
            <a:r>
              <a:rPr sz="1200" b="1">
                <a:solidFill>
                  <a:srgbClr val="2E93AE"/>
                </a:solidFill>
                <a:latin typeface="Segoe UI"/>
              </a:rPr>
              <a:t>▸  </a:t>
            </a:r>
            <a:r>
              <a:rPr sz="1200">
                <a:solidFill>
                  <a:srgbClr val="23426B"/>
                </a:solidFill>
                <a:latin typeface="Segoe UI"/>
              </a:rPr>
              <a:t>cd frontend-web</a:t>
            </a:r>
          </a:p>
          <a:p>
            <a:pPr>
              <a:lnSpc>
                <a:spcPct val="105000"/>
              </a:lnSpc>
              <a:spcAft>
                <a:spcPts val="1200"/>
              </a:spcAft>
            </a:pPr>
            <a:r>
              <a:rPr sz="1200" b="1">
                <a:solidFill>
                  <a:srgbClr val="2E93AE"/>
                </a:solidFill>
                <a:latin typeface="Segoe UI"/>
              </a:rPr>
              <a:t>▸  </a:t>
            </a:r>
            <a:r>
              <a:rPr sz="1200">
                <a:solidFill>
                  <a:srgbClr val="23426B"/>
                </a:solidFill>
                <a:latin typeface="Segoe UI"/>
              </a:rPr>
              <a:t>npm install</a:t>
            </a:r>
          </a:p>
          <a:p>
            <a:pPr>
              <a:lnSpc>
                <a:spcPct val="105000"/>
              </a:lnSpc>
              <a:spcAft>
                <a:spcPts val="1200"/>
              </a:spcAft>
            </a:pPr>
            <a:r>
              <a:rPr sz="1200" b="1">
                <a:solidFill>
                  <a:srgbClr val="2E93AE"/>
                </a:solidFill>
                <a:latin typeface="Segoe UI"/>
              </a:rPr>
              <a:t>▸  </a:t>
            </a:r>
            <a:r>
              <a:rPr sz="1200">
                <a:solidFill>
                  <a:srgbClr val="23426B"/>
                </a:solidFill>
                <a:latin typeface="Segoe UI"/>
              </a:rPr>
              <a:t>npm run dev → :5173</a:t>
            </a:r>
          </a:p>
          <a:p>
            <a:pPr>
              <a:lnSpc>
                <a:spcPct val="105000"/>
              </a:lnSpc>
              <a:spcAft>
                <a:spcPts val="1200"/>
              </a:spcAft>
            </a:pPr>
            <a:r>
              <a:rPr sz="1200" b="1">
                <a:solidFill>
                  <a:srgbClr val="2E93AE"/>
                </a:solidFill>
                <a:latin typeface="Segoe UI"/>
              </a:rPr>
              <a:t>▸  </a:t>
            </a:r>
            <a:r>
              <a:rPr sz="1200">
                <a:solidFill>
                  <a:srgbClr val="23426B"/>
                </a:solidFill>
                <a:latin typeface="Segoe UI"/>
              </a:rPr>
              <a:t>proxy /api &amp; /ws → :8080</a:t>
            </a:r>
          </a:p>
          <a:p>
            <a:pPr>
              <a:lnSpc>
                <a:spcPct val="105000"/>
              </a:lnSpc>
              <a:spcAft>
                <a:spcPts val="1200"/>
              </a:spcAft>
            </a:pPr>
            <a:r>
              <a:rPr sz="1200" b="1">
                <a:solidFill>
                  <a:srgbClr val="2E93AE"/>
                </a:solidFill>
                <a:latin typeface="Segoe UI"/>
              </a:rPr>
              <a:t>▸  </a:t>
            </a:r>
            <a:r>
              <a:rPr sz="1200">
                <a:solidFill>
                  <a:srgbClr val="23426B"/>
                </a:solidFill>
                <a:latin typeface="Segoe UI"/>
              </a:rPr>
              <a:t>npm run build · npm run lint</a:t>
            </a:r>
          </a:p>
        </p:txBody>
      </p:sp>
      <p:sp>
        <p:nvSpPr>
          <p:cNvPr id="17" name="Rounded Rectangle 16"/>
          <p:cNvSpPr/>
          <p:nvPr/>
        </p:nvSpPr>
        <p:spPr>
          <a:xfrm>
            <a:off x="8421624" y="1783080"/>
            <a:ext cx="3520440" cy="393192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421624" y="1783080"/>
            <a:ext cx="3520440" cy="658368"/>
          </a:xfrm>
          <a:prstGeom prst="roundRect">
            <a:avLst>
              <a:gd name="adj" fmla="val 1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21624" y="1783080"/>
            <a:ext cx="3520440" cy="658368"/>
          </a:xfrm>
          <a:prstGeom prst="rect">
            <a:avLst/>
          </a:prstGeom>
          <a:noFill/>
        </p:spPr>
        <p:txBody>
          <a:bodyPr wrap="square" anchor="ctr" lIns="50800" rIns="50800" tIns="25400" bIns="25400">
            <a:spAutoFit/>
          </a:bodyPr>
          <a:lstStyle/>
          <a:p>
            <a:pPr algn="ctr">
              <a:lnSpc>
                <a:spcPct val="100000"/>
              </a:lnSpc>
            </a:pPr>
            <a:r>
              <a:rPr sz="1600" b="1" i="0">
                <a:solidFill>
                  <a:srgbClr val="FFFFFF"/>
                </a:solidFill>
                <a:latin typeface="Segoe UI Semibold"/>
              </a:rPr>
              <a:t>📱 Mobile</a:t>
            </a:r>
          </a:p>
        </p:txBody>
      </p:sp>
      <p:sp>
        <p:nvSpPr>
          <p:cNvPr id="20" name="TextBox 19"/>
          <p:cNvSpPr txBox="1"/>
          <p:nvPr/>
        </p:nvSpPr>
        <p:spPr>
          <a:xfrm>
            <a:off x="8650224" y="2651760"/>
            <a:ext cx="3108960" cy="2926080"/>
          </a:xfrm>
          <a:prstGeom prst="rect">
            <a:avLst/>
          </a:prstGeom>
          <a:noFill/>
        </p:spPr>
        <p:txBody>
          <a:bodyPr wrap="square" lIns="25400" rIns="25400">
            <a:spAutoFit/>
          </a:bodyPr>
          <a:lstStyle/>
          <a:p>
            <a:pPr>
              <a:lnSpc>
                <a:spcPct val="105000"/>
              </a:lnSpc>
              <a:spcAft>
                <a:spcPts val="1200"/>
              </a:spcAft>
            </a:pPr>
            <a:r>
              <a:rPr sz="1200" b="1">
                <a:solidFill>
                  <a:srgbClr val="3A9BCE"/>
                </a:solidFill>
                <a:latin typeface="Segoe UI"/>
              </a:rPr>
              <a:t>▸  </a:t>
            </a:r>
            <a:r>
              <a:rPr sz="1200">
                <a:solidFill>
                  <a:srgbClr val="23426B"/>
                </a:solidFill>
                <a:latin typeface="Segoe UI"/>
              </a:rPr>
              <a:t>cd frontend-mobile</a:t>
            </a:r>
          </a:p>
          <a:p>
            <a:pPr>
              <a:lnSpc>
                <a:spcPct val="105000"/>
              </a:lnSpc>
              <a:spcAft>
                <a:spcPts val="1200"/>
              </a:spcAft>
            </a:pPr>
            <a:r>
              <a:rPr sz="1200" b="1">
                <a:solidFill>
                  <a:srgbClr val="3A9BCE"/>
                </a:solidFill>
                <a:latin typeface="Segoe UI"/>
              </a:rPr>
              <a:t>▸  </a:t>
            </a:r>
            <a:r>
              <a:rPr sz="1200">
                <a:solidFill>
                  <a:srgbClr val="23426B"/>
                </a:solidFill>
                <a:latin typeface="Segoe UI"/>
              </a:rPr>
              <a:t>npm install</a:t>
            </a:r>
          </a:p>
          <a:p>
            <a:pPr>
              <a:lnSpc>
                <a:spcPct val="105000"/>
              </a:lnSpc>
              <a:spcAft>
                <a:spcPts val="1200"/>
              </a:spcAft>
            </a:pPr>
            <a:r>
              <a:rPr sz="1200" b="1">
                <a:solidFill>
                  <a:srgbClr val="3A9BCE"/>
                </a:solidFill>
                <a:latin typeface="Segoe UI"/>
              </a:rPr>
              <a:t>▸  </a:t>
            </a:r>
            <a:r>
              <a:rPr sz="1200">
                <a:solidFill>
                  <a:srgbClr val="23426B"/>
                </a:solidFill>
                <a:latin typeface="Segoe UI"/>
              </a:rPr>
              <a:t>npm start (Expo)</a:t>
            </a:r>
          </a:p>
          <a:p>
            <a:pPr>
              <a:lnSpc>
                <a:spcPct val="105000"/>
              </a:lnSpc>
              <a:spcAft>
                <a:spcPts val="1200"/>
              </a:spcAft>
            </a:pPr>
            <a:r>
              <a:rPr sz="1200" b="1">
                <a:solidFill>
                  <a:srgbClr val="3A9BCE"/>
                </a:solidFill>
                <a:latin typeface="Segoe UI"/>
              </a:rPr>
              <a:t>▸  </a:t>
            </a:r>
            <a:r>
              <a:rPr sz="1200">
                <a:solidFill>
                  <a:srgbClr val="23426B"/>
                </a:solidFill>
                <a:latin typeface="Segoe UI"/>
              </a:rPr>
              <a:t>npm run android / ios / web</a:t>
            </a:r>
          </a:p>
          <a:p>
            <a:pPr>
              <a:lnSpc>
                <a:spcPct val="105000"/>
              </a:lnSpc>
              <a:spcAft>
                <a:spcPts val="1200"/>
              </a:spcAft>
            </a:pPr>
            <a:r>
              <a:rPr sz="1200" b="1">
                <a:solidFill>
                  <a:srgbClr val="3A9BCE"/>
                </a:solidFill>
                <a:latin typeface="Segoe UI"/>
              </a:rPr>
              <a:t>▸  </a:t>
            </a:r>
            <a:r>
              <a:rPr sz="1200">
                <a:solidFill>
                  <a:srgbClr val="23426B"/>
                </a:solidFill>
                <a:latin typeface="Segoe UI"/>
              </a:rPr>
              <a:t>tự resolve backend qua LAN</a:t>
            </a:r>
          </a:p>
        </p:txBody>
      </p:sp>
      <p:sp>
        <p:nvSpPr>
          <p:cNvPr id="21" name="TextBox 20"/>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22" name="Rounded Rectangle 21"/>
          <p:cNvSpPr/>
          <p:nvPr/>
        </p:nvSpPr>
        <p:spPr>
          <a:xfrm>
            <a:off x="11247120" y="6382512"/>
            <a:ext cx="502920" cy="310896"/>
          </a:xfrm>
          <a:prstGeom prst="roundRect">
            <a:avLst>
              <a:gd name="adj" fmla="val 50000"/>
            </a:avLst>
          </a:prstGeom>
          <a:gradFill>
            <a:gsLst>
              <a:gs pos="0">
                <a:srgbClr val="3A9BCE"/>
              </a:gs>
              <a:gs pos="100000">
                <a:srgbClr val="75B9DC"/>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onut 4"/>
          <p:cNvSpPr/>
          <p:nvPr/>
        </p:nvSpPr>
        <p:spPr>
          <a:xfrm>
            <a:off x="9921240" y="0"/>
            <a:ext cx="2103120" cy="2103120"/>
          </a:xfrm>
          <a:prstGeom prst="donut">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E93AE"/>
              </a:gs>
              <a:gs pos="100000">
                <a:srgbClr val="8CC3D2"/>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E93AE"/>
                </a:solidFill>
                <a:latin typeface="Segoe UI Semibold"/>
              </a:rPr>
              <a:t>1.3  PHẠM VI ĐỀ TÀI</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Trong &amp; Ngoài phạm vi</a:t>
            </a:r>
          </a:p>
        </p:txBody>
      </p:sp>
      <p:sp>
        <p:nvSpPr>
          <p:cNvPr id="9" name="Rounded Rectangle 8"/>
          <p:cNvSpPr/>
          <p:nvPr/>
        </p:nvSpPr>
        <p:spPr>
          <a:xfrm>
            <a:off x="777240" y="1627632"/>
            <a:ext cx="10607040" cy="566928"/>
          </a:xfrm>
          <a:prstGeom prst="roundRect">
            <a:avLst>
              <a:gd name="adj" fmla="val 30000"/>
            </a:avLst>
          </a:prstGeom>
          <a:gradFill>
            <a:gsLst>
              <a:gs pos="0">
                <a:srgbClr val="5B63D6"/>
              </a:gs>
              <a:gs pos="100000">
                <a:srgbClr val="2E93AE"/>
              </a:gs>
            </a:gsLst>
            <a:lin ang="12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609344"/>
            <a:ext cx="10607040" cy="566928"/>
          </a:xfrm>
          <a:prstGeom prst="rect">
            <a:avLst/>
          </a:prstGeom>
          <a:noFill/>
        </p:spPr>
        <p:txBody>
          <a:bodyPr wrap="square" anchor="ctr" lIns="50800" rIns="50800" tIns="25400" bIns="25400">
            <a:spAutoFit/>
          </a:bodyPr>
          <a:lstStyle/>
          <a:p>
            <a:pPr algn="ctr">
              <a:lnSpc>
                <a:spcPct val="100000"/>
              </a:lnSpc>
            </a:pPr>
            <a:r>
              <a:rPr sz="1250" b="1" i="0">
                <a:solidFill>
                  <a:srgbClr val="FFFFFF"/>
                </a:solidFill>
                <a:latin typeface="Segoe UI Semibold"/>
              </a:rPr>
              <a:t>🎯  Đối tượng: sinh viên &amp; người trẻ 18–30 tuổi — năng động, dùng nhiều thiết bị di động, tiếp cận nhanh xu hướng mới</a:t>
            </a:r>
          </a:p>
        </p:txBody>
      </p:sp>
      <p:sp>
        <p:nvSpPr>
          <p:cNvPr id="11" name="Rounded Rectangle 10"/>
          <p:cNvSpPr/>
          <p:nvPr/>
        </p:nvSpPr>
        <p:spPr>
          <a:xfrm>
            <a:off x="777240" y="2377440"/>
            <a:ext cx="5212080" cy="361188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2377440"/>
            <a:ext cx="5212080" cy="640080"/>
          </a:xfrm>
          <a:prstGeom prst="roundRect">
            <a:avLst>
              <a:gd name="adj" fmla="val 10000"/>
            </a:avLst>
          </a:prstGeom>
          <a:gradFill>
            <a:gsLst>
              <a:gs pos="0">
                <a:srgbClr val="3A9BCE"/>
              </a:gs>
              <a:gs pos="100000">
                <a:srgbClr val="2F86A4"/>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377440"/>
            <a:ext cx="5212080" cy="640080"/>
          </a:xfrm>
          <a:prstGeom prst="rect">
            <a:avLst/>
          </a:prstGeom>
          <a:noFill/>
        </p:spPr>
        <p:txBody>
          <a:bodyPr wrap="square" anchor="ctr" lIns="50800" rIns="50800" tIns="25400" bIns="25400">
            <a:spAutoFit/>
          </a:bodyPr>
          <a:lstStyle/>
          <a:p>
            <a:pPr algn="ctr">
              <a:lnSpc>
                <a:spcPct val="100000"/>
              </a:lnSpc>
            </a:pPr>
            <a:r>
              <a:rPr sz="1700" b="1" i="0">
                <a:solidFill>
                  <a:srgbClr val="FFFFFF"/>
                </a:solidFill>
                <a:latin typeface="Segoe UI Semibold"/>
              </a:rPr>
              <a:t>✅  Trong phạm vi</a:t>
            </a:r>
          </a:p>
        </p:txBody>
      </p:sp>
      <p:sp>
        <p:nvSpPr>
          <p:cNvPr id="14" name="TextBox 13"/>
          <p:cNvSpPr txBox="1"/>
          <p:nvPr/>
        </p:nvSpPr>
        <p:spPr>
          <a:xfrm>
            <a:off x="1005840" y="3200400"/>
            <a:ext cx="4800600" cy="2651760"/>
          </a:xfrm>
          <a:prstGeom prst="rect">
            <a:avLst/>
          </a:prstGeom>
          <a:noFill/>
        </p:spPr>
        <p:txBody>
          <a:bodyPr wrap="square" lIns="25400" rIns="25400">
            <a:spAutoFit/>
          </a:bodyPr>
          <a:lstStyle/>
          <a:p>
            <a:pPr>
              <a:lnSpc>
                <a:spcPct val="105000"/>
              </a:lnSpc>
              <a:spcAft>
                <a:spcPts val="700"/>
              </a:spcAft>
            </a:pPr>
            <a:r>
              <a:rPr sz="1200" b="1">
                <a:solidFill>
                  <a:srgbClr val="3A9BCE"/>
                </a:solidFill>
                <a:latin typeface="Segoe UI"/>
              </a:rPr>
              <a:t>▸  </a:t>
            </a:r>
            <a:r>
              <a:rPr sz="1200">
                <a:solidFill>
                  <a:srgbClr val="23426B"/>
                </a:solidFill>
                <a:latin typeface="Segoe UI"/>
              </a:rPr>
              <a:t>Đăng bài viết, story và reels</a:t>
            </a:r>
          </a:p>
          <a:p>
            <a:pPr>
              <a:lnSpc>
                <a:spcPct val="105000"/>
              </a:lnSpc>
              <a:spcAft>
                <a:spcPts val="700"/>
              </a:spcAft>
            </a:pPr>
            <a:r>
              <a:rPr sz="1200" b="1">
                <a:solidFill>
                  <a:srgbClr val="3A9BCE"/>
                </a:solidFill>
                <a:latin typeface="Segoe UI"/>
              </a:rPr>
              <a:t>▸  </a:t>
            </a:r>
            <a:r>
              <a:rPr sz="1200">
                <a:solidFill>
                  <a:srgbClr val="23426B"/>
                </a:solidFill>
                <a:latin typeface="Segoe UI"/>
              </a:rPr>
              <a:t>Kết bạn &amp; tương tác người dùng</a:t>
            </a:r>
          </a:p>
          <a:p>
            <a:pPr>
              <a:lnSpc>
                <a:spcPct val="105000"/>
              </a:lnSpc>
              <a:spcAft>
                <a:spcPts val="700"/>
              </a:spcAft>
            </a:pPr>
            <a:r>
              <a:rPr sz="1200" b="1">
                <a:solidFill>
                  <a:srgbClr val="3A9BCE"/>
                </a:solidFill>
                <a:latin typeface="Segoe UI"/>
              </a:rPr>
              <a:t>▸  </a:t>
            </a:r>
            <a:r>
              <a:rPr sz="1200">
                <a:solidFill>
                  <a:srgbClr val="23426B"/>
                </a:solidFill>
                <a:latin typeface="Segoe UI"/>
              </a:rPr>
              <a:t>Nhắn tin realtime cá nhân &amp; nhóm, gọi video/audio</a:t>
            </a:r>
          </a:p>
          <a:p>
            <a:pPr>
              <a:lnSpc>
                <a:spcPct val="105000"/>
              </a:lnSpc>
              <a:spcAft>
                <a:spcPts val="700"/>
              </a:spcAft>
            </a:pPr>
            <a:r>
              <a:rPr sz="1200" b="1">
                <a:solidFill>
                  <a:srgbClr val="3A9BCE"/>
                </a:solidFill>
                <a:latin typeface="Segoe UI"/>
              </a:rPr>
              <a:t>▸  </a:t>
            </a:r>
            <a:r>
              <a:rPr sz="1200">
                <a:solidFill>
                  <a:srgbClr val="23426B"/>
                </a:solidFill>
                <a:latin typeface="Segoe UI"/>
              </a:rPr>
              <a:t>Tạo &amp; quản lý Page cộng đồng</a:t>
            </a:r>
          </a:p>
          <a:p>
            <a:pPr>
              <a:lnSpc>
                <a:spcPct val="105000"/>
              </a:lnSpc>
              <a:spcAft>
                <a:spcPts val="700"/>
              </a:spcAft>
            </a:pPr>
            <a:r>
              <a:rPr sz="1200" b="1">
                <a:solidFill>
                  <a:srgbClr val="3A9BCE"/>
                </a:solidFill>
                <a:latin typeface="Segoe UI"/>
              </a:rPr>
              <a:t>▸  </a:t>
            </a:r>
            <a:r>
              <a:rPr sz="1200">
                <a:solidFill>
                  <a:srgbClr val="23426B"/>
                </a:solidFill>
                <a:latin typeface="Segoe UI"/>
              </a:rPr>
              <a:t>Tìm kiếm người dùng, bài viết, hội thoại</a:t>
            </a:r>
          </a:p>
          <a:p>
            <a:pPr>
              <a:lnSpc>
                <a:spcPct val="105000"/>
              </a:lnSpc>
              <a:spcAft>
                <a:spcPts val="700"/>
              </a:spcAft>
            </a:pPr>
            <a:r>
              <a:rPr sz="1200" b="1">
                <a:solidFill>
                  <a:srgbClr val="3A9BCE"/>
                </a:solidFill>
                <a:latin typeface="Segoe UI"/>
              </a:rPr>
              <a:t>▸  </a:t>
            </a:r>
            <a:r>
              <a:rPr sz="1200">
                <a:solidFill>
                  <a:srgbClr val="23426B"/>
                </a:solidFill>
                <a:latin typeface="Segoe UI"/>
              </a:rPr>
              <a:t>AI Chatbot &amp; gợi ý thông minh</a:t>
            </a:r>
          </a:p>
          <a:p>
            <a:pPr>
              <a:lnSpc>
                <a:spcPct val="105000"/>
              </a:lnSpc>
              <a:spcAft>
                <a:spcPts val="700"/>
              </a:spcAft>
            </a:pPr>
            <a:r>
              <a:rPr sz="1200" b="1">
                <a:solidFill>
                  <a:srgbClr val="3A9BCE"/>
                </a:solidFill>
                <a:latin typeface="Segoe UI"/>
              </a:rPr>
              <a:t>▸  </a:t>
            </a:r>
            <a:r>
              <a:rPr sz="1200">
                <a:solidFill>
                  <a:srgbClr val="23426B"/>
                </a:solidFill>
                <a:latin typeface="Segoe UI"/>
              </a:rPr>
              <a:t>Hybrid Database · cache đa tầng · realtime sync</a:t>
            </a:r>
          </a:p>
        </p:txBody>
      </p:sp>
      <p:sp>
        <p:nvSpPr>
          <p:cNvPr id="15" name="Rounded Rectangle 14"/>
          <p:cNvSpPr/>
          <p:nvPr/>
        </p:nvSpPr>
        <p:spPr>
          <a:xfrm>
            <a:off x="6172200" y="2377440"/>
            <a:ext cx="5212080" cy="3611880"/>
          </a:xfrm>
          <a:prstGeom prst="roundRect">
            <a:avLst>
              <a:gd name="adj" fmla="val 5000"/>
            </a:avLst>
          </a:prstGeom>
          <a:solidFill>
            <a:srgbClr val="FFFFFF"/>
          </a:solidFill>
          <a:ln w="12700">
            <a:solidFill>
              <a:srgbClr val="D4E2F4"/>
            </a:solidFill>
          </a:ln>
          <a:effectLst>
            <a:outerShdw blurRad="100584" dist="54864" dir="5400000" rotWithShape="0">
              <a:srgbClr val="2A4A9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172200" y="2377440"/>
            <a:ext cx="5212080" cy="640080"/>
          </a:xfrm>
          <a:prstGeom prst="roundRect">
            <a:avLst>
              <a:gd name="adj" fmla="val 10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2377440"/>
            <a:ext cx="5212080" cy="640080"/>
          </a:xfrm>
          <a:prstGeom prst="rect">
            <a:avLst/>
          </a:prstGeom>
          <a:noFill/>
        </p:spPr>
        <p:txBody>
          <a:bodyPr wrap="square" anchor="ctr" lIns="50800" rIns="50800" tIns="25400" bIns="25400">
            <a:spAutoFit/>
          </a:bodyPr>
          <a:lstStyle/>
          <a:p>
            <a:pPr algn="ctr">
              <a:lnSpc>
                <a:spcPct val="100000"/>
              </a:lnSpc>
            </a:pPr>
            <a:r>
              <a:rPr sz="1700" b="1" i="0">
                <a:solidFill>
                  <a:srgbClr val="FFFFFF"/>
                </a:solidFill>
                <a:latin typeface="Segoe UI Semibold"/>
              </a:rPr>
              <a:t>⛔  Ngoài phạm vi</a:t>
            </a:r>
          </a:p>
        </p:txBody>
      </p:sp>
      <p:sp>
        <p:nvSpPr>
          <p:cNvPr id="18" name="TextBox 17"/>
          <p:cNvSpPr txBox="1"/>
          <p:nvPr/>
        </p:nvSpPr>
        <p:spPr>
          <a:xfrm>
            <a:off x="6400800" y="3200400"/>
            <a:ext cx="4800600" cy="2651760"/>
          </a:xfrm>
          <a:prstGeom prst="rect">
            <a:avLst/>
          </a:prstGeom>
          <a:noFill/>
        </p:spPr>
        <p:txBody>
          <a:bodyPr wrap="square" lIns="25400" rIns="25400">
            <a:spAutoFit/>
          </a:bodyPr>
          <a:lstStyle/>
          <a:p>
            <a:pPr>
              <a:lnSpc>
                <a:spcPct val="105000"/>
              </a:lnSpc>
              <a:spcAft>
                <a:spcPts val="700"/>
              </a:spcAft>
            </a:pPr>
            <a:r>
              <a:rPr sz="1200" b="1">
                <a:solidFill>
                  <a:srgbClr val="2A4A93"/>
                </a:solidFill>
                <a:latin typeface="Segoe UI"/>
              </a:rPr>
              <a:t>▸  </a:t>
            </a:r>
            <a:r>
              <a:rPr sz="1200">
                <a:solidFill>
                  <a:srgbClr val="23426B"/>
                </a:solidFill>
                <a:latin typeface="Segoe UI"/>
              </a:rPr>
              <a:t>Recommendation bằng Machine Learning</a:t>
            </a:r>
          </a:p>
          <a:p>
            <a:pPr>
              <a:lnSpc>
                <a:spcPct val="105000"/>
              </a:lnSpc>
              <a:spcAft>
                <a:spcPts val="700"/>
              </a:spcAft>
            </a:pPr>
            <a:r>
              <a:rPr sz="1200" b="1">
                <a:solidFill>
                  <a:srgbClr val="2A4A93"/>
                </a:solidFill>
                <a:latin typeface="Segoe UI"/>
              </a:rPr>
              <a:t>▸  </a:t>
            </a:r>
            <a:r>
              <a:rPr sz="1200">
                <a:solidFill>
                  <a:srgbClr val="23426B"/>
                </a:solidFill>
                <a:latin typeface="Segoe UI"/>
              </a:rPr>
              <a:t>Distributed Microservices hoàn chỉnh</a:t>
            </a:r>
          </a:p>
          <a:p>
            <a:pPr>
              <a:lnSpc>
                <a:spcPct val="105000"/>
              </a:lnSpc>
              <a:spcAft>
                <a:spcPts val="700"/>
              </a:spcAft>
            </a:pPr>
            <a:r>
              <a:rPr sz="1200" b="1">
                <a:solidFill>
                  <a:srgbClr val="2A4A93"/>
                </a:solidFill>
                <a:latin typeface="Segoe UI"/>
              </a:rPr>
              <a:t>▸  </a:t>
            </a:r>
            <a:r>
              <a:rPr sz="1200">
                <a:solidFill>
                  <a:srgbClr val="23426B"/>
                </a:solidFill>
                <a:latin typeface="Segoe UI"/>
              </a:rPr>
              <a:t>Kubernetes orchestration</a:t>
            </a:r>
          </a:p>
          <a:p>
            <a:pPr>
              <a:lnSpc>
                <a:spcPct val="105000"/>
              </a:lnSpc>
              <a:spcAft>
                <a:spcPts val="700"/>
              </a:spcAft>
            </a:pPr>
            <a:r>
              <a:rPr sz="1200" b="1">
                <a:solidFill>
                  <a:srgbClr val="2A4A93"/>
                </a:solidFill>
                <a:latin typeface="Segoe UI"/>
              </a:rPr>
              <a:t>▸  </a:t>
            </a:r>
            <a:r>
              <a:rPr sz="1200">
                <a:solidFill>
                  <a:srgbClr val="23426B"/>
                </a:solidFill>
                <a:latin typeface="Segoe UI"/>
              </a:rPr>
              <a:t>CI/CD enterprise</a:t>
            </a:r>
          </a:p>
          <a:p>
            <a:pPr>
              <a:lnSpc>
                <a:spcPct val="105000"/>
              </a:lnSpc>
              <a:spcAft>
                <a:spcPts val="700"/>
              </a:spcAft>
            </a:pPr>
            <a:r>
              <a:rPr sz="1200" b="1">
                <a:solidFill>
                  <a:srgbClr val="2A4A93"/>
                </a:solidFill>
                <a:latin typeface="Segoe UI"/>
              </a:rPr>
              <a:t>▸  </a:t>
            </a:r>
            <a:r>
              <a:rPr sz="1200">
                <a:solidFill>
                  <a:srgbClr val="23426B"/>
                </a:solidFill>
                <a:latin typeface="Segoe UI"/>
              </a:rPr>
              <a:t>Distributed tracing toàn hệ thống</a:t>
            </a:r>
          </a:p>
          <a:p>
            <a:pPr>
              <a:lnSpc>
                <a:spcPct val="105000"/>
              </a:lnSpc>
              <a:spcAft>
                <a:spcPts val="700"/>
              </a:spcAft>
            </a:pPr>
            <a:r>
              <a:rPr sz="1200" b="1">
                <a:solidFill>
                  <a:srgbClr val="2A4A93"/>
                </a:solidFill>
                <a:latin typeface="Segoe UI"/>
              </a:rPr>
              <a:t>▸  </a:t>
            </a:r>
            <a:r>
              <a:rPr sz="1200">
                <a:solidFill>
                  <a:srgbClr val="23426B"/>
                </a:solidFill>
                <a:latin typeface="Segoe UI"/>
              </a:rPr>
              <a:t>Kiểm thử tải quy mô hàng triệu user</a:t>
            </a:r>
          </a:p>
          <a:p>
            <a:pPr>
              <a:lnSpc>
                <a:spcPct val="105000"/>
              </a:lnSpc>
              <a:spcAft>
                <a:spcPts val="700"/>
              </a:spcAft>
            </a:pPr>
            <a:r>
              <a:rPr sz="1200" b="1">
                <a:solidFill>
                  <a:srgbClr val="2A4A93"/>
                </a:solidFill>
                <a:latin typeface="Segoe UI"/>
              </a:rPr>
              <a:t>▸  </a:t>
            </a:r>
            <a:r>
              <a:rPr sz="1200">
                <a:solidFill>
                  <a:srgbClr val="23426B"/>
                </a:solidFill>
                <a:latin typeface="Segoe UI"/>
              </a:rPr>
              <a:t>→ Kiến trúc đã thiết kế hướng mở rộng tương lai</a:t>
            </a:r>
          </a:p>
        </p:txBody>
      </p:sp>
      <p:sp>
        <p:nvSpPr>
          <p:cNvPr id="19" name="TextBox 18"/>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20" name="Rounded Rectangle 19"/>
          <p:cNvSpPr/>
          <p:nvPr/>
        </p:nvSpPr>
        <p:spPr>
          <a:xfrm>
            <a:off x="11247120" y="6382512"/>
            <a:ext cx="502920" cy="310896"/>
          </a:xfrm>
          <a:prstGeom prst="roundRect">
            <a:avLst>
              <a:gd name="adj" fmla="val 50000"/>
            </a:avLst>
          </a:prstGeom>
          <a:gradFill>
            <a:gsLst>
              <a:gs pos="0">
                <a:srgbClr val="2E93AE"/>
              </a:gs>
              <a:gs pos="100000">
                <a:srgbClr val="6CB3C6"/>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058400" y="-1554480"/>
            <a:ext cx="3108960" cy="3108960"/>
          </a:xfrm>
          <a:prstGeom prst="ellipse">
            <a:avLst/>
          </a:prstGeom>
          <a:solidFill>
            <a:srgbClr val="EAF2FD">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371600" y="4846320"/>
            <a:ext cx="2926080" cy="2926080"/>
          </a:xfrm>
          <a:prstGeom prst="ellipse">
            <a:avLst/>
          </a:prstGeom>
          <a:solidFill>
            <a:srgbClr val="EAF2FD">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hevron 4"/>
          <p:cNvSpPr/>
          <p:nvPr/>
        </p:nvSpPr>
        <p:spPr>
          <a:xfrm>
            <a:off x="9784080" y="274320"/>
            <a:ext cx="2377440" cy="1554480"/>
          </a:xfrm>
          <a:prstGeom prst="chevron">
            <a:avLst/>
          </a:prstGeom>
          <a:solidFill>
            <a:srgbClr val="4E8BDE">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502920"/>
            <a:ext cx="146304" cy="868680"/>
          </a:xfrm>
          <a:prstGeom prst="roundRect">
            <a:avLst>
              <a:gd name="adj" fmla="val 50000"/>
            </a:avLst>
          </a:prstGeom>
          <a:gradFill>
            <a:gsLst>
              <a:gs pos="0">
                <a:srgbClr val="2F62C9"/>
              </a:gs>
              <a:gs pos="100000">
                <a:srgbClr val="8CA8E1"/>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57200"/>
            <a:ext cx="10058400" cy="365760"/>
          </a:xfrm>
          <a:prstGeom prst="rect">
            <a:avLst/>
          </a:prstGeom>
          <a:noFill/>
        </p:spPr>
        <p:txBody>
          <a:bodyPr wrap="square" anchor="t" lIns="50800" rIns="50800" tIns="25400" bIns="25400">
            <a:spAutoFit/>
          </a:bodyPr>
          <a:lstStyle/>
          <a:p>
            <a:pPr algn="l">
              <a:lnSpc>
                <a:spcPct val="100000"/>
              </a:lnSpc>
            </a:pPr>
            <a:r>
              <a:rPr sz="1300" b="1" i="0">
                <a:solidFill>
                  <a:srgbClr val="2F62C9"/>
                </a:solidFill>
                <a:latin typeface="Segoe UI Semibold"/>
              </a:rPr>
              <a:t>ROADMAP</a:t>
            </a:r>
          </a:p>
        </p:txBody>
      </p:sp>
      <p:sp>
        <p:nvSpPr>
          <p:cNvPr id="8" name="TextBox 7"/>
          <p:cNvSpPr txBox="1"/>
          <p:nvPr/>
        </p:nvSpPr>
        <p:spPr>
          <a:xfrm>
            <a:off x="786384" y="749808"/>
            <a:ext cx="10607040" cy="731520"/>
          </a:xfrm>
          <a:prstGeom prst="rect">
            <a:avLst/>
          </a:prstGeom>
          <a:noFill/>
        </p:spPr>
        <p:txBody>
          <a:bodyPr wrap="square" anchor="t" lIns="50800" rIns="50800" tIns="25400" bIns="25400">
            <a:spAutoFit/>
          </a:bodyPr>
          <a:lstStyle/>
          <a:p>
            <a:pPr algn="l">
              <a:lnSpc>
                <a:spcPct val="100000"/>
              </a:lnSpc>
            </a:pPr>
            <a:r>
              <a:rPr sz="3000" b="1" i="0">
                <a:solidFill>
                  <a:srgbClr val="0B2545"/>
                </a:solidFill>
                <a:latin typeface="Segoe UI Semibold"/>
              </a:rPr>
              <a:t>Hướng phát triển tương lai</a:t>
            </a:r>
          </a:p>
        </p:txBody>
      </p:sp>
      <p:sp>
        <p:nvSpPr>
          <p:cNvPr id="9" name="Rounded Rectangle 8"/>
          <p:cNvSpPr/>
          <p:nvPr/>
        </p:nvSpPr>
        <p:spPr>
          <a:xfrm>
            <a:off x="777240"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1783080"/>
            <a:ext cx="3456432" cy="109728"/>
          </a:xfrm>
          <a:prstGeom prst="roundRect">
            <a:avLst>
              <a:gd name="adj" fmla="val 50000"/>
            </a:avLst>
          </a:prstGeom>
          <a:gradFill>
            <a:gsLst>
              <a:gs pos="0">
                <a:srgbClr val="5B63D6"/>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 y="2039112"/>
            <a:ext cx="603504" cy="603504"/>
          </a:xfrm>
          <a:prstGeom prst="roundRect">
            <a:avLst>
              <a:gd name="adj" fmla="val 30000"/>
            </a:avLst>
          </a:prstGeom>
          <a:gradFill>
            <a:gsLst>
              <a:gs pos="0">
                <a:srgbClr val="5B63D6"/>
              </a:gs>
              <a:gs pos="100000">
                <a:srgbClr val="7A82E6"/>
              </a:gs>
            </a:gsLst>
            <a:lin ang="2700000" scaled="1"/>
          </a:gradFill>
          <a:ln>
            <a:noFill/>
          </a:ln>
          <a:effectLst>
            <a:outerShdw blurRad="54864" dist="36576" dir="5400000" rotWithShape="0">
              <a:srgbClr val="5B63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3" name="TextBox 12"/>
          <p:cNvSpPr txBox="1"/>
          <p:nvPr/>
        </p:nvSpPr>
        <p:spPr>
          <a:xfrm>
            <a:off x="960120" y="271576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OpenAPI / Swagger</a:t>
            </a:r>
          </a:p>
        </p:txBody>
      </p:sp>
      <p:sp>
        <p:nvSpPr>
          <p:cNvPr id="14" name="TextBox 13"/>
          <p:cNvSpPr txBox="1"/>
          <p:nvPr/>
        </p:nvSpPr>
        <p:spPr>
          <a:xfrm>
            <a:off x="960120" y="3081528"/>
            <a:ext cx="3090672" cy="59436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Sinh tài liệu API tự động từ Spring controllers.</a:t>
            </a:r>
          </a:p>
        </p:txBody>
      </p:sp>
      <p:sp>
        <p:nvSpPr>
          <p:cNvPr id="15" name="Rounded Rectangle 14"/>
          <p:cNvSpPr/>
          <p:nvPr/>
        </p:nvSpPr>
        <p:spPr>
          <a:xfrm>
            <a:off x="4489704"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489704" y="1783080"/>
            <a:ext cx="3456432" cy="109728"/>
          </a:xfrm>
          <a:prstGeom prst="roundRect">
            <a:avLst>
              <a:gd name="adj" fmla="val 50000"/>
            </a:avLst>
          </a:prstGeom>
          <a:gradFill>
            <a:gsLst>
              <a:gs pos="0">
                <a:srgbClr val="3E78D6"/>
              </a:gs>
              <a:gs pos="100000">
                <a:srgbClr val="2E93A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90872" y="2039112"/>
            <a:ext cx="603504" cy="603504"/>
          </a:xfrm>
          <a:prstGeom prst="roundRect">
            <a:avLst>
              <a:gd name="adj" fmla="val 30000"/>
            </a:avLst>
          </a:prstGeom>
          <a:gradFill>
            <a:gsLst>
              <a:gs pos="0">
                <a:srgbClr val="3E78D6"/>
              </a:gs>
              <a:gs pos="100000">
                <a:srgbClr val="2E93AE"/>
              </a:gs>
            </a:gsLst>
            <a:lin ang="2700000" scaled="1"/>
          </a:gradFill>
          <a:ln>
            <a:noFill/>
          </a:ln>
          <a:effectLst>
            <a:outerShdw blurRad="54864" dist="36576" dir="5400000" rotWithShape="0">
              <a:srgbClr val="3E78D6">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0872"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19" name="TextBox 18"/>
          <p:cNvSpPr txBox="1"/>
          <p:nvPr/>
        </p:nvSpPr>
        <p:spPr>
          <a:xfrm>
            <a:off x="4672584" y="271576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Quản lý secrets</a:t>
            </a:r>
          </a:p>
        </p:txBody>
      </p:sp>
      <p:sp>
        <p:nvSpPr>
          <p:cNvPr id="20" name="TextBox 19"/>
          <p:cNvSpPr txBox="1"/>
          <p:nvPr/>
        </p:nvSpPr>
        <p:spPr>
          <a:xfrm>
            <a:off x="4672584" y="3081528"/>
            <a:ext cx="3090672" cy="59436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Đưa secrets ra khỏi config &amp; cung cấp .env.example.</a:t>
            </a:r>
          </a:p>
        </p:txBody>
      </p:sp>
      <p:sp>
        <p:nvSpPr>
          <p:cNvPr id="21" name="Rounded Rectangle 20"/>
          <p:cNvSpPr/>
          <p:nvPr/>
        </p:nvSpPr>
        <p:spPr>
          <a:xfrm>
            <a:off x="8202168" y="178308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202168" y="1783080"/>
            <a:ext cx="3456432" cy="109728"/>
          </a:xfrm>
          <a:prstGeom prst="roundRect">
            <a:avLst>
              <a:gd name="adj" fmla="val 50000"/>
            </a:avLst>
          </a:prstGeom>
          <a:gradFill>
            <a:gsLst>
              <a:gs pos="0">
                <a:srgbClr val="2F86A4"/>
              </a:gs>
              <a:gs pos="100000">
                <a:srgbClr val="3A9B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03336" y="2039112"/>
            <a:ext cx="603504" cy="603504"/>
          </a:xfrm>
          <a:prstGeom prst="roundRect">
            <a:avLst>
              <a:gd name="adj" fmla="val 30000"/>
            </a:avLst>
          </a:prstGeom>
          <a:gradFill>
            <a:gsLst>
              <a:gs pos="0">
                <a:srgbClr val="2F86A4"/>
              </a:gs>
              <a:gs pos="100000">
                <a:srgbClr val="3A9BCE"/>
              </a:gs>
            </a:gsLst>
            <a:lin ang="2700000" scaled="1"/>
          </a:gradFill>
          <a:ln>
            <a:noFill/>
          </a:ln>
          <a:effectLst>
            <a:outerShdw blurRad="54864" dist="36576" dir="5400000" rotWithShape="0">
              <a:srgbClr val="2F86A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03336" y="202082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25" name="TextBox 24"/>
          <p:cNvSpPr txBox="1"/>
          <p:nvPr/>
        </p:nvSpPr>
        <p:spPr>
          <a:xfrm>
            <a:off x="8385048" y="271576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Docker Compose đầy đủ</a:t>
            </a:r>
          </a:p>
        </p:txBody>
      </p:sp>
      <p:sp>
        <p:nvSpPr>
          <p:cNvPr id="26" name="TextBox 25"/>
          <p:cNvSpPr txBox="1"/>
          <p:nvPr/>
        </p:nvSpPr>
        <p:spPr>
          <a:xfrm>
            <a:off x="8385048" y="3081528"/>
            <a:ext cx="3090672" cy="59436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Profiles cho MariaDB, MongoDB, Redis &amp; backend.</a:t>
            </a:r>
          </a:p>
        </p:txBody>
      </p:sp>
      <p:sp>
        <p:nvSpPr>
          <p:cNvPr id="27" name="Rounded Rectangle 26"/>
          <p:cNvSpPr/>
          <p:nvPr/>
        </p:nvSpPr>
        <p:spPr>
          <a:xfrm>
            <a:off x="777240"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77240" y="3931920"/>
            <a:ext cx="3456432" cy="109728"/>
          </a:xfrm>
          <a:prstGeom prst="roundRect">
            <a:avLst>
              <a:gd name="adj" fmla="val 50000"/>
            </a:avLst>
          </a:prstGeom>
          <a:gradFill>
            <a:gsLst>
              <a:gs pos="0">
                <a:srgbClr val="2A4A93"/>
              </a:gs>
              <a:gs pos="100000">
                <a:srgbClr val="8FBDE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78408" y="4187952"/>
            <a:ext cx="603504" cy="603504"/>
          </a:xfrm>
          <a:prstGeom prst="roundRect">
            <a:avLst>
              <a:gd name="adj" fmla="val 30000"/>
            </a:avLst>
          </a:prstGeom>
          <a:gradFill>
            <a:gsLst>
              <a:gs pos="0">
                <a:srgbClr val="2A4A93"/>
              </a:gs>
              <a:gs pos="100000">
                <a:srgbClr val="8FBDEE"/>
              </a:gs>
            </a:gsLst>
            <a:lin ang="2700000" scaled="1"/>
          </a:gradFill>
          <a:ln>
            <a:noFill/>
          </a:ln>
          <a:effectLst>
            <a:outerShdw blurRad="54864" dist="36576" dir="5400000" rotWithShape="0">
              <a:srgbClr val="2A4A93">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8408"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1" name="TextBox 30"/>
          <p:cNvSpPr txBox="1"/>
          <p:nvPr/>
        </p:nvSpPr>
        <p:spPr>
          <a:xfrm>
            <a:off x="960120" y="486460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CI/CD</a:t>
            </a:r>
          </a:p>
        </p:txBody>
      </p:sp>
      <p:sp>
        <p:nvSpPr>
          <p:cNvPr id="32" name="TextBox 31"/>
          <p:cNvSpPr txBox="1"/>
          <p:nvPr/>
        </p:nvSpPr>
        <p:spPr>
          <a:xfrm>
            <a:off x="960120" y="5230368"/>
            <a:ext cx="3090672" cy="59436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Workflow test backend, lint frontend, build TypeScript.</a:t>
            </a:r>
          </a:p>
        </p:txBody>
      </p:sp>
      <p:sp>
        <p:nvSpPr>
          <p:cNvPr id="33" name="Rounded Rectangle 32"/>
          <p:cNvSpPr/>
          <p:nvPr/>
        </p:nvSpPr>
        <p:spPr>
          <a:xfrm>
            <a:off x="4489704"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489704" y="3931920"/>
            <a:ext cx="3456432" cy="109728"/>
          </a:xfrm>
          <a:prstGeom prst="roundRect">
            <a:avLst>
              <a:gd name="adj" fmla="val 50000"/>
            </a:avLst>
          </a:prstGeom>
          <a:gradFill>
            <a:gsLst>
              <a:gs pos="0">
                <a:srgbClr val="5158C4"/>
              </a:gs>
              <a:gs pos="100000">
                <a:srgbClr val="7A82E6"/>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690872" y="4187952"/>
            <a:ext cx="603504" cy="603504"/>
          </a:xfrm>
          <a:prstGeom prst="roundRect">
            <a:avLst>
              <a:gd name="adj" fmla="val 30000"/>
            </a:avLst>
          </a:prstGeom>
          <a:gradFill>
            <a:gsLst>
              <a:gs pos="0">
                <a:srgbClr val="5158C4"/>
              </a:gs>
              <a:gs pos="100000">
                <a:srgbClr val="7A82E6"/>
              </a:gs>
            </a:gsLst>
            <a:lin ang="2700000" scaled="1"/>
          </a:gradFill>
          <a:ln>
            <a:noFill/>
          </a:ln>
          <a:effectLst>
            <a:outerShdw blurRad="54864" dist="36576" dir="5400000" rotWithShape="0">
              <a:srgbClr val="5158C4">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90872"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37" name="TextBox 36"/>
          <p:cNvSpPr txBox="1"/>
          <p:nvPr/>
        </p:nvSpPr>
        <p:spPr>
          <a:xfrm>
            <a:off x="4672584" y="486460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Integration tests</a:t>
            </a:r>
          </a:p>
        </p:txBody>
      </p:sp>
      <p:sp>
        <p:nvSpPr>
          <p:cNvPr id="38" name="TextBox 37"/>
          <p:cNvSpPr txBox="1"/>
          <p:nvPr/>
        </p:nvSpPr>
        <p:spPr>
          <a:xfrm>
            <a:off x="4672584" y="5230368"/>
            <a:ext cx="3090672" cy="59436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Auth, QR login, conversation events, AI consent.</a:t>
            </a:r>
          </a:p>
        </p:txBody>
      </p:sp>
      <p:sp>
        <p:nvSpPr>
          <p:cNvPr id="39" name="Rounded Rectangle 38"/>
          <p:cNvSpPr/>
          <p:nvPr/>
        </p:nvSpPr>
        <p:spPr>
          <a:xfrm>
            <a:off x="8202168" y="3931920"/>
            <a:ext cx="3456432" cy="1965960"/>
          </a:xfrm>
          <a:prstGeom prst="roundRect">
            <a:avLst>
              <a:gd name="adj" fmla="val 8000"/>
            </a:avLst>
          </a:prstGeom>
          <a:solidFill>
            <a:srgbClr val="FFFFFF"/>
          </a:solidFill>
          <a:ln w="12700">
            <a:solidFill>
              <a:srgbClr val="D4E2F4"/>
            </a:solidFill>
          </a:ln>
          <a:effectLst>
            <a:outerShdw blurRad="91440" dist="50292" dir="5400000" rotWithShape="0">
              <a:srgbClr val="2A4A93">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202168" y="3931920"/>
            <a:ext cx="3456432" cy="109728"/>
          </a:xfrm>
          <a:prstGeom prst="roundRect">
            <a:avLst>
              <a:gd name="adj" fmla="val 50000"/>
            </a:avLst>
          </a:prstGeom>
          <a:gradFill>
            <a:gsLst>
              <a:gs pos="0">
                <a:srgbClr val="2F62C9"/>
              </a:gs>
              <a:gs pos="100000">
                <a:srgbClr val="5470CE"/>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03336" y="4187952"/>
            <a:ext cx="603504" cy="603504"/>
          </a:xfrm>
          <a:prstGeom prst="roundRect">
            <a:avLst>
              <a:gd name="adj" fmla="val 30000"/>
            </a:avLst>
          </a:prstGeom>
          <a:gradFill>
            <a:gsLst>
              <a:gs pos="0">
                <a:srgbClr val="2F62C9"/>
              </a:gs>
              <a:gs pos="100000">
                <a:srgbClr val="5470CE"/>
              </a:gs>
            </a:gsLst>
            <a:lin ang="2700000" scaled="1"/>
          </a:gradFill>
          <a:ln>
            <a:noFill/>
          </a:ln>
          <a:effectLst>
            <a:outerShdw blurRad="54864" dist="36576" dir="5400000" rotWithShape="0">
              <a:srgbClr val="2F62C9">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03336" y="4169664"/>
            <a:ext cx="603504" cy="603504"/>
          </a:xfrm>
          <a:prstGeom prst="rect">
            <a:avLst/>
          </a:prstGeom>
          <a:noFill/>
        </p:spPr>
        <p:txBody>
          <a:bodyPr wrap="square" anchor="ctr" lIns="50800" rIns="50800" tIns="25400" bIns="25400">
            <a:spAutoFit/>
          </a:bodyPr>
          <a:lstStyle/>
          <a:p>
            <a:pPr algn="ctr">
              <a:lnSpc>
                <a:spcPct val="100000"/>
              </a:lnSpc>
            </a:pPr>
            <a:r>
              <a:rPr sz="2400" b="0" i="0">
                <a:solidFill>
                  <a:srgbClr val="FFFFFF"/>
                </a:solidFill>
                <a:latin typeface="Segoe UI"/>
              </a:rPr>
              <a:t>🔔</a:t>
            </a:r>
          </a:p>
        </p:txBody>
      </p:sp>
      <p:sp>
        <p:nvSpPr>
          <p:cNvPr id="43" name="TextBox 42"/>
          <p:cNvSpPr txBox="1"/>
          <p:nvPr/>
        </p:nvSpPr>
        <p:spPr>
          <a:xfrm>
            <a:off x="8385048" y="4864608"/>
            <a:ext cx="3090672" cy="365760"/>
          </a:xfrm>
          <a:prstGeom prst="rect">
            <a:avLst/>
          </a:prstGeom>
          <a:noFill/>
        </p:spPr>
        <p:txBody>
          <a:bodyPr wrap="square" anchor="t" lIns="50800" rIns="50800" tIns="25400" bIns="25400">
            <a:spAutoFit/>
          </a:bodyPr>
          <a:lstStyle/>
          <a:p>
            <a:pPr algn="l">
              <a:lnSpc>
                <a:spcPct val="100000"/>
              </a:lnSpc>
            </a:pPr>
            <a:r>
              <a:rPr sz="1450" b="1" i="0">
                <a:solidFill>
                  <a:srgbClr val="0B2545"/>
                </a:solidFill>
                <a:latin typeface="Segoe UI Semibold"/>
              </a:rPr>
              <a:t>Push Notifications</a:t>
            </a:r>
          </a:p>
        </p:txBody>
      </p:sp>
      <p:sp>
        <p:nvSpPr>
          <p:cNvPr id="44" name="TextBox 43"/>
          <p:cNvSpPr txBox="1"/>
          <p:nvPr/>
        </p:nvSpPr>
        <p:spPr>
          <a:xfrm>
            <a:off x="8385048" y="5230368"/>
            <a:ext cx="3090672" cy="594360"/>
          </a:xfrm>
          <a:prstGeom prst="rect">
            <a:avLst/>
          </a:prstGeom>
          <a:noFill/>
        </p:spPr>
        <p:txBody>
          <a:bodyPr wrap="square" anchor="t" lIns="50800" rIns="50800" tIns="25400" bIns="25400">
            <a:spAutoFit/>
          </a:bodyPr>
          <a:lstStyle/>
          <a:p>
            <a:pPr algn="l">
              <a:lnSpc>
                <a:spcPct val="105000"/>
              </a:lnSpc>
            </a:pPr>
            <a:r>
              <a:rPr sz="1150" b="0" i="0">
                <a:solidFill>
                  <a:srgbClr val="23426B"/>
                </a:solidFill>
                <a:latin typeface="Segoe UI"/>
              </a:rPr>
              <a:t>Thông báo đẩy cho chat, kết bạn, cuộc gọi, story.</a:t>
            </a:r>
          </a:p>
        </p:txBody>
      </p:sp>
      <p:sp>
        <p:nvSpPr>
          <p:cNvPr id="45" name="TextBox 44"/>
          <p:cNvSpPr txBox="1"/>
          <p:nvPr/>
        </p:nvSpPr>
        <p:spPr>
          <a:xfrm>
            <a:off x="502920" y="6419088"/>
            <a:ext cx="5486400" cy="320040"/>
          </a:xfrm>
          <a:prstGeom prst="rect">
            <a:avLst/>
          </a:prstGeom>
          <a:noFill/>
        </p:spPr>
        <p:txBody>
          <a:bodyPr wrap="square" anchor="t" lIns="50800" rIns="50800" tIns="25400" bIns="25400">
            <a:spAutoFit/>
          </a:bodyPr>
          <a:lstStyle/>
          <a:p>
            <a:pPr algn="l">
              <a:lnSpc>
                <a:spcPct val="100000"/>
              </a:lnSpc>
            </a:pPr>
            <a:r>
              <a:rPr sz="950" b="0" i="0">
                <a:solidFill>
                  <a:srgbClr val="6E7F9B"/>
                </a:solidFill>
                <a:latin typeface="Segoe UI"/>
              </a:rPr>
              <a:t>Wisdom Social  •  Social Networking Platform</a:t>
            </a:r>
          </a:p>
        </p:txBody>
      </p:sp>
      <p:sp>
        <p:nvSpPr>
          <p:cNvPr id="46" name="Rounded Rectangle 45"/>
          <p:cNvSpPr/>
          <p:nvPr/>
        </p:nvSpPr>
        <p:spPr>
          <a:xfrm>
            <a:off x="11247120" y="6382512"/>
            <a:ext cx="502920" cy="310896"/>
          </a:xfrm>
          <a:prstGeom prst="roundRect">
            <a:avLst>
              <a:gd name="adj" fmla="val 50000"/>
            </a:avLst>
          </a:prstGeom>
          <a:gradFill>
            <a:gsLst>
              <a:gs pos="0">
                <a:srgbClr val="2F62C9"/>
              </a:gs>
              <a:gs pos="100000">
                <a:srgbClr val="6D91D9"/>
              </a:gs>
            </a:gsLst>
            <a:lin ang="18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47120" y="6364224"/>
            <a:ext cx="502920" cy="310896"/>
          </a:xfrm>
          <a:prstGeom prst="rect">
            <a:avLst/>
          </a:prstGeom>
          <a:noFill/>
        </p:spPr>
        <p:txBody>
          <a:bodyPr wrap="square" anchor="ctr" lIns="50800" rIns="50800" tIns="25400" bIns="25400">
            <a:spAutoFit/>
          </a:bodyPr>
          <a:lstStyle/>
          <a:p>
            <a:pPr algn="ctr">
              <a:lnSpc>
                <a:spcPct val="100000"/>
              </a:lnSpc>
            </a:pPr>
            <a:r>
              <a:rPr sz="1100" b="1" i="0">
                <a:solidFill>
                  <a:srgbClr val="FFFFFF"/>
                </a:solidFill>
                <a:latin typeface="Segoe U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a:gsLst>
              <a:gs pos="0">
                <a:srgbClr val="FFFFFF"/>
              </a:gs>
              <a:gs pos="100000">
                <a:srgbClr val="F2F7FE"/>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737360" y="3291840"/>
            <a:ext cx="5120640" cy="5120640"/>
          </a:xfrm>
          <a:prstGeom prst="ellipse">
            <a:avLst/>
          </a:prstGeom>
          <a:solidFill>
            <a:srgbClr val="EAF2FD">
              <a:alpha val="7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326880" y="-1737360"/>
            <a:ext cx="4754880" cy="4754880"/>
          </a:xfrm>
          <a:prstGeom prst="ellipse">
            <a:avLst/>
          </a:prstGeom>
          <a:solidFill>
            <a:srgbClr val="EAF2FD">
              <a:alpha val="6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1554480" y="1371600"/>
            <a:ext cx="1143000" cy="868680"/>
          </a:xfrm>
          <a:prstGeom prst="line">
            <a:avLst/>
          </a:prstGeom>
          <a:ln w="20320">
            <a:solidFill>
              <a:srgbClr val="DDEAFB">
                <a:alpha val="65000"/>
              </a:srgbClr>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1417320" y="2240280"/>
            <a:ext cx="1280160" cy="685800"/>
          </a:xfrm>
          <a:prstGeom prst="line">
            <a:avLst/>
          </a:prstGeom>
          <a:ln w="20320">
            <a:solidFill>
              <a:srgbClr val="DDEAFB">
                <a:alpha val="65000"/>
              </a:srgbClr>
            </a:solidFill>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1417320" y="1371600"/>
            <a:ext cx="137160" cy="1554480"/>
          </a:xfrm>
          <a:prstGeom prst="line">
            <a:avLst/>
          </a:prstGeom>
          <a:ln w="20320">
            <a:solidFill>
              <a:srgbClr val="DDEAFB">
                <a:alpha val="65000"/>
              </a:srgbClr>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9646920" y="4114800"/>
            <a:ext cx="1097280" cy="868680"/>
          </a:xfrm>
          <a:prstGeom prst="line">
            <a:avLst/>
          </a:prstGeom>
          <a:ln w="20320">
            <a:solidFill>
              <a:srgbClr val="DDEAFB">
                <a:alpha val="65000"/>
              </a:srgbClr>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646920" y="4983480"/>
            <a:ext cx="1325880" cy="502920"/>
          </a:xfrm>
          <a:prstGeom prst="line">
            <a:avLst/>
          </a:prstGeom>
          <a:ln w="20320">
            <a:solidFill>
              <a:srgbClr val="DDEAFB">
                <a:alpha val="65000"/>
              </a:srgbClr>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744200" y="4114800"/>
            <a:ext cx="228600" cy="1371600"/>
          </a:xfrm>
          <a:prstGeom prst="line">
            <a:avLst/>
          </a:prstGeom>
          <a:ln w="20320">
            <a:solidFill>
              <a:srgbClr val="DDEAFB">
                <a:alpha val="65000"/>
              </a:srgbClr>
            </a:solidFill>
          </a:ln>
          <a:effectLst/>
        </p:spPr>
        <p:style>
          <a:lnRef idx="2">
            <a:schemeClr val="accent1"/>
          </a:lnRef>
          <a:fillRef idx="0">
            <a:schemeClr val="accent1"/>
          </a:fillRef>
          <a:effectRef idx="1">
            <a:schemeClr val="accent1"/>
          </a:effectRef>
          <a:fontRef idx="minor">
            <a:schemeClr val="tx1"/>
          </a:fontRef>
        </p:style>
      </p:cxnSp>
      <p:pic>
        <p:nvPicPr>
          <p:cNvPr id="11" name="Picture 10" descr="av08.png"/>
          <p:cNvPicPr>
            <a:picLocks noChangeAspect="1"/>
          </p:cNvPicPr>
          <p:nvPr/>
        </p:nvPicPr>
        <p:blipFill>
          <a:blip r:embed="rId2"/>
          <a:stretch>
            <a:fillRect/>
          </a:stretch>
        </p:blipFill>
        <p:spPr>
          <a:xfrm>
            <a:off x="1179576" y="996696"/>
            <a:ext cx="749808" cy="749808"/>
          </a:xfrm>
          <a:prstGeom prst="rect">
            <a:avLst/>
          </a:prstGeom>
          <a:effectLst>
            <a:outerShdw blurRad="64008" dist="41148" dir="5400000" rotWithShape="0">
              <a:srgbClr val="2A4A93">
                <a:alpha val="24000"/>
              </a:srgbClr>
            </a:outerShdw>
          </a:effectLst>
        </p:spPr>
      </p:pic>
      <p:pic>
        <p:nvPicPr>
          <p:cNvPr id="12" name="Picture 11" descr="av09.png"/>
          <p:cNvPicPr>
            <a:picLocks noChangeAspect="1"/>
          </p:cNvPicPr>
          <p:nvPr/>
        </p:nvPicPr>
        <p:blipFill>
          <a:blip r:embed="rId3"/>
          <a:stretch>
            <a:fillRect/>
          </a:stretch>
        </p:blipFill>
        <p:spPr>
          <a:xfrm>
            <a:off x="2322576" y="1865376"/>
            <a:ext cx="749808" cy="749808"/>
          </a:xfrm>
          <a:prstGeom prst="rect">
            <a:avLst/>
          </a:prstGeom>
          <a:effectLst>
            <a:outerShdw blurRad="64008" dist="41148" dir="5400000" rotWithShape="0">
              <a:srgbClr val="2A4A93">
                <a:alpha val="24000"/>
              </a:srgbClr>
            </a:outerShdw>
          </a:effectLst>
        </p:spPr>
      </p:pic>
      <p:pic>
        <p:nvPicPr>
          <p:cNvPr id="13" name="Picture 12" descr="av10.png"/>
          <p:cNvPicPr>
            <a:picLocks noChangeAspect="1"/>
          </p:cNvPicPr>
          <p:nvPr/>
        </p:nvPicPr>
        <p:blipFill>
          <a:blip r:embed="rId4"/>
          <a:stretch>
            <a:fillRect/>
          </a:stretch>
        </p:blipFill>
        <p:spPr>
          <a:xfrm>
            <a:off x="1042416" y="2551176"/>
            <a:ext cx="749808" cy="749808"/>
          </a:xfrm>
          <a:prstGeom prst="rect">
            <a:avLst/>
          </a:prstGeom>
          <a:effectLst>
            <a:outerShdw blurRad="64008" dist="41148" dir="5400000" rotWithShape="0">
              <a:srgbClr val="2A4A93">
                <a:alpha val="24000"/>
              </a:srgbClr>
            </a:outerShdw>
          </a:effectLst>
        </p:spPr>
      </p:pic>
      <p:pic>
        <p:nvPicPr>
          <p:cNvPr id="14" name="Picture 13" descr="av11.png"/>
          <p:cNvPicPr>
            <a:picLocks noChangeAspect="1"/>
          </p:cNvPicPr>
          <p:nvPr/>
        </p:nvPicPr>
        <p:blipFill>
          <a:blip r:embed="rId5"/>
          <a:stretch>
            <a:fillRect/>
          </a:stretch>
        </p:blipFill>
        <p:spPr>
          <a:xfrm>
            <a:off x="10369296" y="3739896"/>
            <a:ext cx="749808" cy="749808"/>
          </a:xfrm>
          <a:prstGeom prst="rect">
            <a:avLst/>
          </a:prstGeom>
          <a:effectLst>
            <a:outerShdw blurRad="64008" dist="41148" dir="5400000" rotWithShape="0">
              <a:srgbClr val="2A4A93">
                <a:alpha val="24000"/>
              </a:srgbClr>
            </a:outerShdw>
          </a:effectLst>
        </p:spPr>
      </p:pic>
      <p:pic>
        <p:nvPicPr>
          <p:cNvPr id="15" name="Picture 14" descr="av00.png"/>
          <p:cNvPicPr>
            <a:picLocks noChangeAspect="1"/>
          </p:cNvPicPr>
          <p:nvPr/>
        </p:nvPicPr>
        <p:blipFill>
          <a:blip r:embed="rId6"/>
          <a:stretch>
            <a:fillRect/>
          </a:stretch>
        </p:blipFill>
        <p:spPr>
          <a:xfrm>
            <a:off x="9272016" y="4608576"/>
            <a:ext cx="749808" cy="749808"/>
          </a:xfrm>
          <a:prstGeom prst="rect">
            <a:avLst/>
          </a:prstGeom>
          <a:effectLst>
            <a:outerShdw blurRad="64008" dist="41148" dir="5400000" rotWithShape="0">
              <a:srgbClr val="2A4A93">
                <a:alpha val="24000"/>
              </a:srgbClr>
            </a:outerShdw>
          </a:effectLst>
        </p:spPr>
      </p:pic>
      <p:pic>
        <p:nvPicPr>
          <p:cNvPr id="16" name="Picture 15" descr="av05.png"/>
          <p:cNvPicPr>
            <a:picLocks noChangeAspect="1"/>
          </p:cNvPicPr>
          <p:nvPr/>
        </p:nvPicPr>
        <p:blipFill>
          <a:blip r:embed="rId7"/>
          <a:stretch>
            <a:fillRect/>
          </a:stretch>
        </p:blipFill>
        <p:spPr>
          <a:xfrm>
            <a:off x="10597896" y="5111496"/>
            <a:ext cx="749808" cy="749808"/>
          </a:xfrm>
          <a:prstGeom prst="rect">
            <a:avLst/>
          </a:prstGeom>
          <a:effectLst>
            <a:outerShdw blurRad="64008" dist="41148" dir="5400000" rotWithShape="0">
              <a:srgbClr val="2A4A93">
                <a:alpha val="24000"/>
              </a:srgbClr>
            </a:outerShdw>
          </a:effectLst>
        </p:spPr>
      </p:pic>
      <p:sp>
        <p:nvSpPr>
          <p:cNvPr id="17" name="Rounded Rectangle 16"/>
          <p:cNvSpPr/>
          <p:nvPr/>
        </p:nvSpPr>
        <p:spPr>
          <a:xfrm>
            <a:off x="5449824" y="914400"/>
            <a:ext cx="1280160" cy="1280160"/>
          </a:xfrm>
          <a:prstGeom prst="roundRect">
            <a:avLst>
              <a:gd name="adj" fmla="val 30000"/>
            </a:avLst>
          </a:prstGeom>
          <a:gradFill>
            <a:gsLst>
              <a:gs pos="0">
                <a:srgbClr val="3E78D6"/>
              </a:gs>
              <a:gs pos="100000">
                <a:srgbClr val="3A9BCE"/>
              </a:gs>
            </a:gsLst>
            <a:lin ang="2700000" scaled="1"/>
          </a:gradFill>
          <a:ln>
            <a:noFill/>
          </a:ln>
          <a:effectLst>
            <a:outerShdw blurRad="128016" dist="73152" dir="5400000" rotWithShape="0">
              <a:srgbClr val="3E78D6">
                <a:alpha val="2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9824" y="886968"/>
            <a:ext cx="1280160" cy="1280160"/>
          </a:xfrm>
          <a:prstGeom prst="rect">
            <a:avLst/>
          </a:prstGeom>
          <a:noFill/>
        </p:spPr>
        <p:txBody>
          <a:bodyPr wrap="square" anchor="ctr" lIns="50800" rIns="50800" tIns="25400" bIns="25400">
            <a:spAutoFit/>
          </a:bodyPr>
          <a:lstStyle/>
          <a:p>
            <a:pPr algn="ctr">
              <a:lnSpc>
                <a:spcPct val="100000"/>
              </a:lnSpc>
            </a:pPr>
            <a:r>
              <a:rPr sz="5400" b="0" i="0">
                <a:solidFill>
                  <a:srgbClr val="FFFFFF"/>
                </a:solidFill>
                <a:latin typeface="Segoe UI"/>
              </a:rPr>
              <a:t>🌐</a:t>
            </a:r>
          </a:p>
        </p:txBody>
      </p:sp>
      <p:sp>
        <p:nvSpPr>
          <p:cNvPr id="19" name="TextBox 18"/>
          <p:cNvSpPr txBox="1"/>
          <p:nvPr/>
        </p:nvSpPr>
        <p:spPr>
          <a:xfrm>
            <a:off x="914400" y="2468880"/>
            <a:ext cx="10360152" cy="457200"/>
          </a:xfrm>
          <a:prstGeom prst="rect">
            <a:avLst/>
          </a:prstGeom>
          <a:noFill/>
        </p:spPr>
        <p:txBody>
          <a:bodyPr wrap="square" anchor="t" lIns="50800" rIns="50800" tIns="25400" bIns="25400">
            <a:spAutoFit/>
          </a:bodyPr>
          <a:lstStyle/>
          <a:p>
            <a:pPr algn="ctr">
              <a:lnSpc>
                <a:spcPct val="100000"/>
              </a:lnSpc>
            </a:pPr>
            <a:r>
              <a:rPr sz="1600" b="1" i="0">
                <a:solidFill>
                  <a:srgbClr val="3E78D6"/>
                </a:solidFill>
                <a:latin typeface="Segoe UI Semibold"/>
              </a:rPr>
              <a:t>TỔNG KẾT</a:t>
            </a:r>
          </a:p>
        </p:txBody>
      </p:sp>
      <p:sp>
        <p:nvSpPr>
          <p:cNvPr id="20" name="TextBox 19"/>
          <p:cNvSpPr txBox="1"/>
          <p:nvPr/>
        </p:nvSpPr>
        <p:spPr>
          <a:xfrm>
            <a:off x="914400" y="2926080"/>
            <a:ext cx="10360152" cy="914400"/>
          </a:xfrm>
          <a:prstGeom prst="rect">
            <a:avLst/>
          </a:prstGeom>
          <a:noFill/>
        </p:spPr>
        <p:txBody>
          <a:bodyPr wrap="square" anchor="t" lIns="50800" rIns="50800" tIns="25400" bIns="25400">
            <a:spAutoFit/>
          </a:bodyPr>
          <a:lstStyle/>
          <a:p>
            <a:pPr algn="ctr">
              <a:lnSpc>
                <a:spcPct val="100000"/>
              </a:lnSpc>
            </a:pPr>
            <a:r>
              <a:rPr sz="5200" b="1" i="0">
                <a:solidFill>
                  <a:srgbClr val="0B2545"/>
                </a:solidFill>
                <a:latin typeface="Segoe UI Semibold"/>
              </a:rPr>
              <a:t>Wisdom Social</a:t>
            </a:r>
          </a:p>
        </p:txBody>
      </p:sp>
      <p:sp>
        <p:nvSpPr>
          <p:cNvPr id="21" name="TextBox 20"/>
          <p:cNvSpPr txBox="1"/>
          <p:nvPr/>
        </p:nvSpPr>
        <p:spPr>
          <a:xfrm>
            <a:off x="1371600" y="3977639"/>
            <a:ext cx="9445752" cy="822960"/>
          </a:xfrm>
          <a:prstGeom prst="rect">
            <a:avLst/>
          </a:prstGeom>
          <a:noFill/>
        </p:spPr>
        <p:txBody>
          <a:bodyPr wrap="square" anchor="t" lIns="50800" rIns="50800" tIns="25400" bIns="25400">
            <a:spAutoFit/>
          </a:bodyPr>
          <a:lstStyle/>
          <a:p>
            <a:pPr algn="ctr">
              <a:lnSpc>
                <a:spcPct val="120000"/>
              </a:lnSpc>
            </a:pPr>
            <a:r>
              <a:rPr sz="1600" b="0" i="0">
                <a:solidFill>
                  <a:srgbClr val="23426B"/>
                </a:solidFill>
                <a:latin typeface="Segoe UI"/>
              </a:rPr>
              <a:t>Nền tảng MXH đa nền tảng với kiến trúc phân lớp, cơ sở dữ liệu lai, realtime qua STOMP/Redis</a:t>
            </a:r>
          </a:p>
          <a:p>
            <a:pPr algn="ctr">
              <a:lnSpc>
                <a:spcPct val="120000"/>
              </a:lnSpc>
            </a:pPr>
            <a:r>
              <a:rPr sz="1600" b="0" i="0">
                <a:solidFill>
                  <a:srgbClr val="23426B"/>
                </a:solidFill>
                <a:latin typeface="Segoe UI"/>
              </a:rPr>
              <a:t>và trợ lý AI — sẵn sàng mở rộng theo roadmap.</a:t>
            </a:r>
          </a:p>
        </p:txBody>
      </p:sp>
      <p:sp>
        <p:nvSpPr>
          <p:cNvPr id="22" name="Rounded Rectangle 21"/>
          <p:cNvSpPr/>
          <p:nvPr/>
        </p:nvSpPr>
        <p:spPr>
          <a:xfrm>
            <a:off x="1600200" y="5029200"/>
            <a:ext cx="1783080" cy="384048"/>
          </a:xfrm>
          <a:prstGeom prst="roundRect">
            <a:avLst>
              <a:gd name="adj" fmla="val 50000"/>
            </a:avLst>
          </a:prstGeom>
          <a:solidFill>
            <a:srgbClr val="5B6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600200" y="5016500"/>
            <a:ext cx="178308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Spring Boot</a:t>
            </a:r>
          </a:p>
        </p:txBody>
      </p:sp>
      <p:sp>
        <p:nvSpPr>
          <p:cNvPr id="24" name="Rounded Rectangle 23"/>
          <p:cNvSpPr/>
          <p:nvPr/>
        </p:nvSpPr>
        <p:spPr>
          <a:xfrm>
            <a:off x="3547872" y="5029200"/>
            <a:ext cx="1783080" cy="384048"/>
          </a:xfrm>
          <a:prstGeom prst="roundRect">
            <a:avLst>
              <a:gd name="adj" fmla="val 50000"/>
            </a:avLst>
          </a:prstGeom>
          <a:solidFill>
            <a:srgbClr val="3E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7872" y="5016500"/>
            <a:ext cx="178308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React · Expo</a:t>
            </a:r>
          </a:p>
        </p:txBody>
      </p:sp>
      <p:sp>
        <p:nvSpPr>
          <p:cNvPr id="26" name="Rounded Rectangle 25"/>
          <p:cNvSpPr/>
          <p:nvPr/>
        </p:nvSpPr>
        <p:spPr>
          <a:xfrm>
            <a:off x="5495544" y="5029200"/>
            <a:ext cx="1783080" cy="384048"/>
          </a:xfrm>
          <a:prstGeom prst="roundRect">
            <a:avLst>
              <a:gd name="adj" fmla="val 50000"/>
            </a:avLst>
          </a:prstGeom>
          <a:solidFill>
            <a:srgbClr val="3A9B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95544" y="5016500"/>
            <a:ext cx="178308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Realtime</a:t>
            </a:r>
          </a:p>
        </p:txBody>
      </p:sp>
      <p:sp>
        <p:nvSpPr>
          <p:cNvPr id="28" name="Rounded Rectangle 27"/>
          <p:cNvSpPr/>
          <p:nvPr/>
        </p:nvSpPr>
        <p:spPr>
          <a:xfrm>
            <a:off x="7443216" y="5029200"/>
            <a:ext cx="1783080" cy="384048"/>
          </a:xfrm>
          <a:prstGeom prst="roundRect">
            <a:avLst>
              <a:gd name="adj" fmla="val 50000"/>
            </a:avLst>
          </a:prstGeom>
          <a:solidFill>
            <a:srgbClr val="2E93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3216" y="5016500"/>
            <a:ext cx="178308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AWS Cloud</a:t>
            </a:r>
          </a:p>
        </p:txBody>
      </p:sp>
      <p:sp>
        <p:nvSpPr>
          <p:cNvPr id="30" name="Rounded Rectangle 29"/>
          <p:cNvSpPr/>
          <p:nvPr/>
        </p:nvSpPr>
        <p:spPr>
          <a:xfrm>
            <a:off x="9390888" y="5029200"/>
            <a:ext cx="1783080" cy="384048"/>
          </a:xfrm>
          <a:prstGeom prst="roundRect">
            <a:avLst>
              <a:gd name="adj" fmla="val 50000"/>
            </a:avLst>
          </a:prstGeom>
          <a:solidFill>
            <a:srgbClr val="2A4A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90888" y="5016500"/>
            <a:ext cx="1783080" cy="384048"/>
          </a:xfrm>
          <a:prstGeom prst="rect">
            <a:avLst/>
          </a:prstGeom>
          <a:noFill/>
        </p:spPr>
        <p:txBody>
          <a:bodyPr wrap="square" anchor="ctr" lIns="50800" rIns="50800" tIns="25400" bIns="25400">
            <a:spAutoFit/>
          </a:bodyPr>
          <a:lstStyle/>
          <a:p>
            <a:pPr algn="ctr">
              <a:lnSpc>
                <a:spcPct val="100000"/>
              </a:lnSpc>
            </a:pPr>
            <a:r>
              <a:rPr sz="1150" b="1" i="0">
                <a:solidFill>
                  <a:srgbClr val="FFFFFF"/>
                </a:solidFill>
                <a:latin typeface="Segoe UI Semibold"/>
              </a:rPr>
              <a:t>AI · OpenRouter</a:t>
            </a:r>
          </a:p>
        </p:txBody>
      </p:sp>
      <p:sp>
        <p:nvSpPr>
          <p:cNvPr id="32" name="TextBox 31"/>
          <p:cNvSpPr txBox="1"/>
          <p:nvPr/>
        </p:nvSpPr>
        <p:spPr>
          <a:xfrm>
            <a:off x="914400" y="5806440"/>
            <a:ext cx="10360152" cy="457200"/>
          </a:xfrm>
          <a:prstGeom prst="rect">
            <a:avLst/>
          </a:prstGeom>
          <a:noFill/>
        </p:spPr>
        <p:txBody>
          <a:bodyPr wrap="square" anchor="t" lIns="50800" rIns="50800" tIns="25400" bIns="25400">
            <a:spAutoFit/>
          </a:bodyPr>
          <a:lstStyle/>
          <a:p>
            <a:pPr algn="ctr">
              <a:lnSpc>
                <a:spcPct val="100000"/>
              </a:lnSpc>
            </a:pPr>
            <a:r>
              <a:rPr sz="2200" b="1" i="0">
                <a:solidFill>
                  <a:srgbClr val="0B2545"/>
                </a:solidFill>
                <a:latin typeface="Segoe UI Semibold"/>
              </a:rPr>
              <a:t>Cảm ơn đã theo dõi!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