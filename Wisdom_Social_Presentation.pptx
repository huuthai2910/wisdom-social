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EAF2F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3566160"/>
            <a:ext cx="5120640" cy="5120640"/>
          </a:xfrm>
          <a:prstGeom prst="ellipse">
            <a:avLst/>
          </a:prstGeom>
          <a:solidFill>
            <a:srgbClr val="EAF2FD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-1645920"/>
            <a:ext cx="3291840" cy="3291840"/>
          </a:xfrm>
          <a:prstGeom prst="ellipse">
            <a:avLst/>
          </a:prstGeom>
          <a:solidFill>
            <a:srgbClr val="DDEAF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25880" y="1417320"/>
            <a:ext cx="1280160" cy="868680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508760" y="2286000"/>
            <a:ext cx="1097280" cy="868680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25880" y="1417320"/>
            <a:ext cx="182880" cy="1737360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08760" y="3154680"/>
            <a:ext cx="1417320" cy="822959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06040" y="2286000"/>
            <a:ext cx="320040" cy="1691639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996696"/>
            <a:ext cx="841248" cy="84124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12" name="Picture 11" descr="av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865376"/>
            <a:ext cx="841248" cy="84124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13" name="Picture 12" descr="av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2734056"/>
            <a:ext cx="841248" cy="84124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14" name="Picture 13" descr="av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3557015"/>
            <a:ext cx="841248" cy="84124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cxnSp>
        <p:nvCxnSpPr>
          <p:cNvPr id="15" name="Connector 14"/>
          <p:cNvCxnSpPr/>
          <p:nvPr/>
        </p:nvCxnSpPr>
        <p:spPr>
          <a:xfrm flipH="1">
            <a:off x="9646920" y="1463040"/>
            <a:ext cx="1280160" cy="868680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46920" y="2331720"/>
            <a:ext cx="1463040" cy="868680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27080" y="1463040"/>
            <a:ext cx="182880" cy="1737360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601200" y="3200400"/>
            <a:ext cx="1508760" cy="822960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601200" y="2331720"/>
            <a:ext cx="45720" cy="1691640"/>
          </a:xfrm>
          <a:prstGeom prst="line">
            <a:avLst/>
          </a:prstGeom>
          <a:ln w="22860">
            <a:solidFill>
              <a:srgbClr val="DDEAFB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v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56" y="1042416"/>
            <a:ext cx="841248" cy="84124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21" name="Picture 20" descr="av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6296" y="1911096"/>
            <a:ext cx="841248" cy="84124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22" name="Picture 21" descr="av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9336" y="2779776"/>
            <a:ext cx="841248" cy="84124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23" name="Picture 22" descr="av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0576" y="3602736"/>
            <a:ext cx="841248" cy="84124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sp>
        <p:nvSpPr>
          <p:cNvPr id="24" name="Rounded Rectangle 23"/>
          <p:cNvSpPr/>
          <p:nvPr/>
        </p:nvSpPr>
        <p:spPr>
          <a:xfrm>
            <a:off x="5175504" y="1005840"/>
            <a:ext cx="1828800" cy="18288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164592" dist="91440" dir="5400000" rotWithShape="0">
              <a:srgbClr val="3E78D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5504" y="960120"/>
            <a:ext cx="182880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127248"/>
            <a:ext cx="10360152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0B2545"/>
                </a:solidFill>
                <a:latin typeface="Segoe UI Semibold"/>
              </a:rPr>
              <a:t>WISDOM SOCIAL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160520"/>
            <a:ext cx="2130552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3E78D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315968"/>
            <a:ext cx="9445752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23426B"/>
                </a:solidFill>
                <a:latin typeface="Segoe UI"/>
              </a:rPr>
              <a:t>Hệ thống Mạng xã hội đa nền tảng — Web • Mobile • Realtime • Cloud •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50749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5B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062220"/>
            <a:ext cx="187451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Spring Boot · Java 21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73551" y="50749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3E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73551" y="5062220"/>
            <a:ext cx="187451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React · React Native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12662" y="50749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2F8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2662" y="5062220"/>
            <a:ext cx="187451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Hybrid Database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1773" y="50749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2A4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3" y="5062220"/>
            <a:ext cx="187451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Realtime · Redis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90884" y="50749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2F6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4" y="5062220"/>
            <a:ext cx="187451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AWS · OpenRouter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3426B"/>
                </a:solidFill>
                <a:latin typeface="Segoe UI"/>
              </a:rPr>
              <a:t>Đồ án môn Công nghệ mới trong Phát triển Ứng dụng CNTT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327648"/>
            <a:ext cx="1036015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7F9B"/>
                </a:solidFill>
                <a:latin typeface="Segoe UI"/>
              </a:rPr>
              <a:t>Kiến trúc phân tầng · Cơ sở dữ liệu lai · Realtime · Tối ưu hiệu năng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ube 4"/>
          <p:cNvSpPr/>
          <p:nvPr/>
        </p:nvSpPr>
        <p:spPr>
          <a:xfrm>
            <a:off x="9921240" y="0"/>
            <a:ext cx="2103120" cy="2103120"/>
          </a:xfrm>
          <a:prstGeom prst="cube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8CC3D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3AE"/>
                </a:solidFill>
                <a:latin typeface="Segoe UI Semibold"/>
              </a:rPr>
              <a:t>TỔNG QUAN TÀI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Nội dung trình bày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020824"/>
            <a:ext cx="822960" cy="82296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5B63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20824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Segoe UI Semibold"/>
              </a:rPr>
              <a:t>Giới thiệu &amp; Mục tiêu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96312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7F9B"/>
                </a:solidFill>
                <a:latin typeface="Segoe UI"/>
              </a:rPr>
              <a:t>Bối cảnh đồ án, mục tiêu, phạm vi đề tài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78308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12280" y="2020824"/>
            <a:ext cx="822960" cy="82296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3E78D6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98424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020824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Segoe UI Semibold"/>
              </a:rPr>
              <a:t>Cloud Computing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496312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7F9B"/>
                </a:solidFill>
                <a:latin typeface="Segoe UI"/>
              </a:rPr>
              <a:t>AWS · MongoDB Atlas · TiBi · Vercel · OpenRouter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3756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575304"/>
            <a:ext cx="822960" cy="82296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38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575304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Segoe UI Semibold"/>
              </a:rPr>
              <a:t>Công nghệ &amp; Kiến trúc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050792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7F9B"/>
                </a:solidFill>
                <a:latin typeface="Segoe UI"/>
              </a:rPr>
              <a:t>Tech stack · Layered · Hybrid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33756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12280" y="3575304"/>
            <a:ext cx="822960" cy="82296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538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575304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Segoe UI Semibold"/>
              </a:rPr>
              <a:t>Tối ưu hiệu năng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050792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7F9B"/>
                </a:solidFill>
                <a:latin typeface="Segoe UI"/>
              </a:rPr>
              <a:t>Sliding Window Cache · Compound Index · N+1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9204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5129784"/>
            <a:ext cx="822960" cy="82296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09320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129784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Segoe UI Semibold"/>
              </a:rPr>
              <a:t>Module &amp; Luồng chính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605272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7F9B"/>
                </a:solidFill>
                <a:latin typeface="Segoe UI"/>
              </a:rPr>
              <a:t>Feed, Chat, Pages, AI · OTP · QR · Realtime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489204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12280" y="5129784"/>
            <a:ext cx="822960" cy="82296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509320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129784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Segoe UI Semibold"/>
              </a:rPr>
              <a:t>Bảo mật &amp; Định hướng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605272"/>
            <a:ext cx="4069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7F9B"/>
                </a:solidFill>
                <a:latin typeface="Segoe UI"/>
              </a:rPr>
              <a:t>Security model &amp; roadmap tương lai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6CB3C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ular Callout 4"/>
          <p:cNvSpPr/>
          <p:nvPr/>
        </p:nvSpPr>
        <p:spPr>
          <a:xfrm>
            <a:off x="9784080" y="137160"/>
            <a:ext cx="2377440" cy="1828800"/>
          </a:xfrm>
          <a:prstGeom prst="wedgeRoundRectCallo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A4A9E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D6"/>
                </a:solidFill>
                <a:latin typeface="Segoe UI Semibold"/>
              </a:rPr>
              <a:t>1.1  TỔNG QUAN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Wisdom Social là gì?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3426B"/>
                </a:solidFill>
                <a:latin typeface="Segoe UI"/>
              </a:rPr>
              <a:t>MXH đa nền tảng  ·  tham khảo Instagram &amp; Zalo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1284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0148"/>
            <a:ext cx="162763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E78D6"/>
                </a:solidFill>
                <a:latin typeface="Segoe UI Semibold"/>
              </a:rPr>
              <a:t>📸 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21284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200148"/>
            <a:ext cx="162763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E78D6"/>
                </a:solidFill>
                <a:latin typeface="Segoe UI Semibold"/>
              </a:rPr>
              <a:t>🎬 Reels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21284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200148"/>
            <a:ext cx="162763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E78D6"/>
                </a:solidFill>
                <a:latin typeface="Segoe UI Semibold"/>
              </a:rPr>
              <a:t>📰 Newsfeed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21284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2200148"/>
            <a:ext cx="162763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E78D6"/>
                </a:solidFill>
                <a:latin typeface="Segoe UI Semibold"/>
              </a:rPr>
              <a:t>💬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80" y="221284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2200148"/>
            <a:ext cx="162763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E78D6"/>
                </a:solidFill>
                <a:latin typeface="Segoe UI Semibold"/>
              </a:rPr>
              <a:t>📄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21284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2200148"/>
            <a:ext cx="162763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E78D6"/>
                </a:solidFill>
                <a:latin typeface="Segoe UI Semibold"/>
              </a:rPr>
              <a:t>🔔 Notification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0632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063240"/>
            <a:ext cx="352044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331927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330098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🖥️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995928"/>
            <a:ext cx="3154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2545"/>
                </a:solidFill>
                <a:latin typeface="Segoe UI Semibold"/>
              </a:rP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61688"/>
            <a:ext cx="315468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426B"/>
                </a:solidFill>
                <a:latin typeface="Segoe UI"/>
              </a:rPr>
              <a:t>Spring Boot 3.5 · Java 21</a:t>
            </a:r>
          </a:p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426B"/>
                </a:solidFill>
                <a:latin typeface="Segoe UI"/>
              </a:rPr>
              <a:t>REST API + WebSocket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9432" y="30632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99432" y="3063240"/>
            <a:ext cx="352044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00600" y="331927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30098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3995928"/>
            <a:ext cx="3154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2545"/>
                </a:solidFill>
                <a:latin typeface="Segoe UI Semibold"/>
              </a:rPr>
              <a:t>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4361688"/>
            <a:ext cx="315468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426B"/>
                </a:solidFill>
                <a:latin typeface="Segoe UI"/>
              </a:rPr>
              <a:t>React 19 · Vite 7</a:t>
            </a:r>
          </a:p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426B"/>
                </a:solidFill>
                <a:latin typeface="Segoe UI"/>
              </a:rPr>
              <a:t>Tailwind · Ant Design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21624" y="30632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21624" y="3063240"/>
            <a:ext cx="352044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22792" y="331927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2792" y="330098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4504" y="3995928"/>
            <a:ext cx="3154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2545"/>
                </a:solidFill>
                <a:latin typeface="Segoe UI Semibold"/>
              </a:rPr>
              <a:t>Mobile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4504" y="4361688"/>
            <a:ext cx="315468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426B"/>
                </a:solidFill>
                <a:latin typeface="Segoe UI"/>
              </a:rPr>
              <a:t>React Native · Expo 54</a:t>
            </a:r>
          </a:p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426B"/>
                </a:solidFill>
                <a:latin typeface="Segoe UI"/>
              </a:rPr>
              <a:t>Android + 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8C91E2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un 4"/>
          <p:cNvSpPr/>
          <p:nvPr/>
        </p:nvSpPr>
        <p:spPr>
          <a:xfrm>
            <a:off x="9921240" y="0"/>
            <a:ext cx="2103120" cy="2103120"/>
          </a:xfrm>
          <a:prstGeom prst="su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8CBCC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86A4"/>
                </a:solidFill>
                <a:latin typeface="Segoe UI Semibold"/>
              </a:rPr>
              <a:t>1.2  MỤC TIÊU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Bốn nhóm mục tiêu nghiên cứu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1.2.1  Cloud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Vận dụng nền tảng đám mây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Mở rộng · Bảo mật · Tối ưu tài nguyên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1.2.2  Kiến trúc dữ liệu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81528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Hybrid Database · Compound Index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Cache đa tầng · 1 backend dùng chung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95928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995928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" y="4251960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A4A9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233672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28616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1.2.3  Realtime &amp; Thuật toán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94376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Độ trễ thấp · đồng bộ dữ liệu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Chat · Notification · Cuộc gọi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995928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3995928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3368" y="4251960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62C9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33672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928616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1.2.4  Trải nghiệm người dùng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294376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Giao diện tiếng Việt · trực quan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Dark Mode (Web &amp; Mobile)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6DAAB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9921240" y="0"/>
            <a:ext cx="2103120" cy="2103120"/>
          </a:xfrm>
          <a:prstGeom prst="cloud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92C8E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9BCE"/>
                </a:solidFill>
                <a:latin typeface="Segoe UI Semibold"/>
              </a:rPr>
              <a:t>1.2.1  CLOUD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Hệ sinh thái dịch vụ đám mây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426B"/>
                </a:solidFill>
                <a:latin typeface="Segoe UI"/>
              </a:rPr>
              <a:t>Cloud-Based Architecture  ·  mỗi dịch vụ tối ưu một thành phần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295144"/>
            <a:ext cx="530352" cy="530352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76856"/>
            <a:ext cx="530352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313432"/>
            <a:ext cx="1737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Segoe UI Semibold"/>
              </a:rPr>
              <a:t>AWS Cognito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98648"/>
            <a:ext cx="2295144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3426B"/>
                </a:solidFill>
                <a:latin typeface="Segoe UI"/>
              </a:rPr>
              <a:t>Đăng ký · OTP · Đăng nhập · JWT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21488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39312" y="2295144"/>
            <a:ext cx="530352" cy="530352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5470CE"/>
              </a:gs>
              <a:gs pos="100000">
                <a:srgbClr val="2F62C9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2276856"/>
            <a:ext cx="530352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313432"/>
            <a:ext cx="1737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Segoe UI Semibold"/>
              </a:rPr>
              <a:t>AWS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898648"/>
            <a:ext cx="2295144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3426B"/>
                </a:solidFill>
                <a:latin typeface="Segoe UI"/>
              </a:rPr>
              <a:t>Lưu media · Pre-signed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1488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2295144"/>
            <a:ext cx="530352" cy="530352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3E78D6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276856"/>
            <a:ext cx="530352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🖥️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313432"/>
            <a:ext cx="1737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Segoe UI Semibold"/>
              </a:rPr>
              <a:t>AWS EC2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98648"/>
            <a:ext cx="2295144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3426B"/>
                </a:solidFill>
                <a:latin typeface="Segoe UI"/>
              </a:rPr>
              <a:t>Máy chủ ảo (IaaS) · Spring Boot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1976" y="21488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89136" y="2295144"/>
            <a:ext cx="530352" cy="530352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2276856"/>
            <a:ext cx="530352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2313432"/>
            <a:ext cx="1737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Segoe UI Semibold"/>
              </a:rPr>
              <a:t>AWS ECR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898648"/>
            <a:ext cx="2295144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3426B"/>
                </a:solidFill>
                <a:latin typeface="Segoe UI"/>
              </a:rPr>
              <a:t>Kho Docker Image · CI/CD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096512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4242816"/>
            <a:ext cx="530352" cy="530352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224528"/>
            <a:ext cx="530352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🗄️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4261104"/>
            <a:ext cx="1737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Segoe UI Semibold"/>
              </a:rPr>
              <a:t>TiBi Cloud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4846320"/>
            <a:ext cx="2295144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3426B"/>
                </a:solidFill>
                <a:latin typeface="Segoe UI"/>
              </a:rPr>
              <a:t>MariaDB (DBaaS) · dữ liệu quan hệ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02152" y="4096512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39312" y="4242816"/>
            <a:ext cx="530352" cy="530352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3A9BCE"/>
              </a:gs>
              <a:gs pos="100000">
                <a:srgbClr val="2F86A4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4224528"/>
            <a:ext cx="530352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4261104"/>
            <a:ext cx="1737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Segoe UI Semibold"/>
              </a:rPr>
              <a:t>MongoDB Atlas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66744" y="4846320"/>
            <a:ext cx="2295144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3426B"/>
                </a:solidFill>
                <a:latin typeface="Segoe UI"/>
              </a:rPr>
              <a:t>MongoDB cloud · nội dung MXH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7064" y="4096512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64224" y="4242816"/>
            <a:ext cx="530352" cy="530352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0B2545"/>
              </a:gs>
              <a:gs pos="100000">
                <a:srgbClr val="6E7F9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4224528"/>
            <a:ext cx="530352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4261104"/>
            <a:ext cx="1737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Segoe UI Semibold"/>
              </a:rPr>
              <a:t>Vercel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4846320"/>
            <a:ext cx="2295144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3426B"/>
                </a:solidFill>
                <a:latin typeface="Segoe UI"/>
              </a:rPr>
              <a:t>Deploy + CDN · auto build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51976" y="4096512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089136" y="4242816"/>
            <a:ext cx="530352" cy="530352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89136" y="4224528"/>
            <a:ext cx="530352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4261104"/>
            <a:ext cx="17373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Segoe UI Semibold"/>
              </a:rPr>
              <a:t>OpenRouter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6568" y="4846320"/>
            <a:ext cx="2295144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3426B"/>
                </a:solidFill>
                <a:latin typeface="Segoe UI"/>
              </a:rPr>
              <a:t>AI Gateway · đa mô hình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75B9DC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9921240" y="0"/>
            <a:ext cx="2103120" cy="2103120"/>
          </a:xfrm>
          <a:prstGeom prst="cloud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94B4E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78D6"/>
                </a:solidFill>
                <a:latin typeface="Segoe UI Semibold"/>
              </a:rPr>
              <a:t>CLOUD SERVICE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Tiếp cận đa mô hình dịch vụ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426B"/>
                </a:solidFill>
                <a:latin typeface="Segoe UI"/>
              </a:rPr>
              <a:t>6 mô hình dịch vụ cloud trong cùng một hệ thống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532888"/>
            <a:ext cx="1371600" cy="566928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14600"/>
            <a:ext cx="1371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27832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Segoe UI Semibold"/>
              </a:rPr>
              <a:t>Infrastructure as a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75304"/>
            <a:ext cx="309067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AWS EC2 · máy chủ 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233172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72584" y="2532888"/>
            <a:ext cx="1371600" cy="566928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2514600"/>
            <a:ext cx="1371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PaaS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3227832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Segoe UI Semibold"/>
              </a:rPr>
              <a:t>Platform as a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3575304"/>
            <a:ext cx="309067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Vercel · deploy 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8" y="233172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5048" y="2532888"/>
            <a:ext cx="1371600" cy="566928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514600"/>
            <a:ext cx="1371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DBaaS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227832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Segoe UI Semibold"/>
              </a:rPr>
              <a:t>Database as a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575304"/>
            <a:ext cx="309067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TiBi Cloud · MongoDB Atlas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245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4425696"/>
            <a:ext cx="1371600" cy="566928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407408"/>
            <a:ext cx="1371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120640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Segoe UI Semibold"/>
              </a:rPr>
              <a:t>Container 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68112"/>
            <a:ext cx="309067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AWS ECR · Docker 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9704" y="42245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72584" y="4425696"/>
            <a:ext cx="1371600" cy="566928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2584" y="4407408"/>
            <a:ext cx="1371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AIaaS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2584" y="5120640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Segoe UI Semibold"/>
              </a:rPr>
              <a:t>AI as a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2584" y="5468112"/>
            <a:ext cx="309067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OpenRouter · AI Gateway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02168" y="42245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85048" y="4425696"/>
            <a:ext cx="1371600" cy="566928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4407408"/>
            <a:ext cx="1371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5120640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Segoe UI Semibold"/>
              </a:rPr>
              <a:t>Identity &amp; Auth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5468112"/>
            <a:ext cx="309067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AWS Cognito · xác thực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77A0E2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921240" y="0"/>
            <a:ext cx="2103120" cy="2103120"/>
          </a:xfrm>
          <a:prstGeom prst="hexago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9FA3D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158C4"/>
                </a:solidFill>
                <a:latin typeface="Segoe UI Semibold"/>
              </a:rPr>
              <a:t>FEATURE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Bản đồ các nhóm tính năng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19385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202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202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Xác thực &amp; Phiên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91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Cognito, JWT, cookie/token, QR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17373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54296" y="19385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19202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19202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Bảng 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3591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Post, media, comment, reaction, saved, tagged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17373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19385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8FBDEE"/>
              </a:gs>
              <a:gs pos="100000">
                <a:srgbClr val="2A4A9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9202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Stories &amp; Hồ sơ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3591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Tạo story, người xem, reaction, highlights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3375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" y="35387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5204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5204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Nhắn tin Realtime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9593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1-1 &amp; nhóm, recall, pin, typing, seen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9704" y="33375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54296" y="35387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5470CE"/>
              </a:gs>
              <a:gs pos="100000">
                <a:srgbClr val="2F62C9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4296" y="35204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8384" y="35204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Gọi Audio/Video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39593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Tín hiệu call, answer, ICE, reject, 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02168" y="33375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66760" y="35387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3A9BCE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5204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35204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Bạn bè &amp; Chặn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39593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Kết bạn, chấp nhận, từ chối, block/unblock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9377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1832" y="51389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51206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1206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Trang (Pages)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5595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Tạo trang, thành viên, vai trò, duyệt bài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9704" y="49377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54296" y="51389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54296" y="51206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58384" y="51206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Trợ lý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58384" y="55595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Đồng ý dùng AI, tóm tắt, gợi ý trả lời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02168" y="4937760"/>
            <a:ext cx="345643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66760" y="5138928"/>
            <a:ext cx="566928" cy="566928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3A9BCE"/>
              </a:gs>
              <a:gs pos="100000">
                <a:srgbClr val="2F86A4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5120640"/>
            <a:ext cx="566928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0848" y="5120640"/>
            <a:ext cx="24505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Nhạc/Media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5559552"/>
            <a:ext cx="2450592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3426B"/>
                </a:solidFill>
                <a:latin typeface="Segoe UI"/>
              </a:rPr>
              <a:t>Danh sách &amp; tìm nhạc, lưu trữ R2/S3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858AD5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ube 4"/>
          <p:cNvSpPr/>
          <p:nvPr/>
        </p:nvSpPr>
        <p:spPr>
          <a:xfrm>
            <a:off x="9921240" y="0"/>
            <a:ext cx="2103120" cy="2103120"/>
          </a:xfrm>
          <a:prstGeom prst="cube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94B4E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78D6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Công nghệ sử dụng — Tổng quan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2743200" cy="658368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6060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Backend 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83080"/>
            <a:ext cx="7726679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783080"/>
            <a:ext cx="7406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426B"/>
                </a:solidFill>
                <a:latin typeface="Segoe UI"/>
              </a:rPr>
              <a:t>Java 21 · Spring Boot 3.5.6 · Spring Web · Security · WebSocket · WebFlux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51176"/>
            <a:ext cx="2743200" cy="658368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3E78D6"/>
              </a:gs>
              <a:gs pos="100000">
                <a:srgbClr val="3A9B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51176"/>
            <a:ext cx="26060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Lưu trữ dữ liệu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551176"/>
            <a:ext cx="7726679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551176"/>
            <a:ext cx="7406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426B"/>
                </a:solidFill>
                <a:latin typeface="Segoe UI"/>
              </a:rPr>
              <a:t>MariaDB + Spring Data JPA · MongoDB + Spring Data MongoDB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19272"/>
            <a:ext cx="2743200" cy="658368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19272"/>
            <a:ext cx="26060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Realtime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319272"/>
            <a:ext cx="7726679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3319272"/>
            <a:ext cx="7406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426B"/>
                </a:solidFill>
                <a:latin typeface="Segoe UI"/>
              </a:rPr>
              <a:t>STOMP · SockJS · Spring Simple Broker · Redis Pub/Sub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87368"/>
            <a:ext cx="2743200" cy="658368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26060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Xác thực &amp; Bảo mật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087368"/>
            <a:ext cx="7726679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4087368"/>
            <a:ext cx="7406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426B"/>
                </a:solidFill>
                <a:latin typeface="Segoe UI"/>
              </a:rPr>
              <a:t>AWS Cognito · JWT · secure cookies · token refresh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2743200" cy="658368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55464"/>
            <a:ext cx="26060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Lưu trữ Media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855464"/>
            <a:ext cx="7726679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4855464"/>
            <a:ext cx="7406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426B"/>
                </a:solidFill>
                <a:latin typeface="Segoe UI"/>
              </a:rPr>
              <a:t>AWS S3 SDK · S3 presigned URLs · Cloudflare R2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623560"/>
            <a:ext cx="2743200" cy="658368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623560"/>
            <a:ext cx="26060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5623560"/>
            <a:ext cx="7726679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5623560"/>
            <a:ext cx="7406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3426B"/>
                </a:solidFill>
                <a:latin typeface="Segoe UI"/>
              </a:rPr>
              <a:t>OpenRouter-compatible provider · Spring WebClient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77A0E2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ar 6 4"/>
          <p:cNvSpPr/>
          <p:nvPr/>
        </p:nvSpPr>
        <p:spPr>
          <a:xfrm>
            <a:off x="9921240" y="0"/>
            <a:ext cx="2103120" cy="2103120"/>
          </a:xfrm>
          <a:prstGeom prst="gear6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A4A9E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D6"/>
                </a:solidFill>
                <a:latin typeface="Segoe UI Semibold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Tầng Backend — Spring Boot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Java 21 · Spring Boot 3.5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Web · WebFlux · WebSocket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81528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JPA → MariaDB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MongoDB → nội dung MXH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95928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995928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" y="4251960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233672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28616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94376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Spring Security stateless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JWT · cookies · refresh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995928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3995928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3368" y="4251960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A4A9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33672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928616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Realtime &amp; 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294376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STOMP broker · Event layer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Redis Pub/Sub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8C91E2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9784080" y="274320"/>
            <a:ext cx="2377440" cy="1554480"/>
          </a:xfrm>
          <a:prstGeom prst="chevro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8CC3D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3AE"/>
                </a:solidFill>
                <a:latin typeface="Segoe UI Semibold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Web &amp; Mobile 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212080" cy="640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🌐  Web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4800600" cy="3108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React 19 · Vite 7 · TypeScript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Tailwind CSS · Ant Design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Redux Toolkit · React Router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Realtime STOMP / SockJS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Xác thực qua cookie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Vite proxy → backend:8080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120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212080" cy="640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5212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📱  Mobile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4800600" cy="3108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Expo 54 · React Native · Router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Secure Store lưu token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Camera: quét QR · chụp ảnh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Đồng bộ chat realtime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Axios tự refresh token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500">
                <a:solidFill>
                  <a:srgbClr val="23426B"/>
                </a:solidFill>
                <a:latin typeface="Segoe UI"/>
              </a:rPr>
              <a:t>Tự dò backend qua 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6CB3C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ube 4"/>
          <p:cNvSpPr/>
          <p:nvPr/>
        </p:nvSpPr>
        <p:spPr>
          <a:xfrm>
            <a:off x="9921240" y="0"/>
            <a:ext cx="2103120" cy="2103120"/>
          </a:xfrm>
          <a:prstGeom prst="cube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9FA3D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158C4"/>
                </a:solidFill>
                <a:latin typeface="Segoe UI Semibold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Kiến trúc hệ thống tổng quan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691640"/>
            <a:ext cx="3108960" cy="86868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801368"/>
            <a:ext cx="2926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🌐  React Web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993392"/>
            <a:ext cx="296265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REST /api · STOMP /ws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91640"/>
            <a:ext cx="3108960" cy="86868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01368"/>
            <a:ext cx="2926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📱  Expo Mobile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1993392"/>
            <a:ext cx="296265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REST /api · /ws · /ws-native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880360"/>
            <a:ext cx="6492240" cy="86868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5B63D6"/>
              </a:gs>
              <a:gs pos="100000">
                <a:srgbClr val="5158C4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880360"/>
            <a:ext cx="64922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Spring Boot API  +  WebSocket Gateway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2560320"/>
            <a:ext cx="1737360" cy="320040"/>
          </a:xfrm>
          <a:prstGeom prst="line">
            <a:avLst/>
          </a:prstGeom>
          <a:ln w="28575">
            <a:solidFill>
              <a:srgbClr val="2E93A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589520" y="2560320"/>
            <a:ext cx="1737360" cy="320040"/>
          </a:xfrm>
          <a:prstGeom prst="line">
            <a:avLst/>
          </a:prstGeom>
          <a:ln w="28575">
            <a:solidFill>
              <a:srgbClr val="3A9BC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280160" y="4069080"/>
            <a:ext cx="233172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178808"/>
            <a:ext cx="2148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🛡️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462272"/>
            <a:ext cx="218541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JWT · Cognito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stateless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46020" y="3749039"/>
            <a:ext cx="0" cy="320041"/>
          </a:xfrm>
          <a:prstGeom prst="line">
            <a:avLst/>
          </a:prstGeom>
          <a:ln w="22225">
            <a:solidFill>
              <a:srgbClr val="5158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76472" y="4069080"/>
            <a:ext cx="233172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3E78D6"/>
              </a:gs>
              <a:gs pos="100000">
                <a:srgbClr val="3A9BC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2" y="4178808"/>
            <a:ext cx="2148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🎛️ 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9624" y="4462272"/>
            <a:ext cx="218541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REST + STOMP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mappings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42332" y="3749039"/>
            <a:ext cx="0" cy="320041"/>
          </a:xfrm>
          <a:prstGeom prst="line">
            <a:avLst/>
          </a:prstGeom>
          <a:ln w="22225">
            <a:solidFill>
              <a:srgbClr val="5158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72784" y="4069080"/>
            <a:ext cx="233172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4178808"/>
            <a:ext cx="2148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⚙️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462272"/>
            <a:ext cx="218541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user/post/story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page/chat/AI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38644" y="3749039"/>
            <a:ext cx="0" cy="320041"/>
          </a:xfrm>
          <a:prstGeom prst="line">
            <a:avLst/>
          </a:prstGeom>
          <a:ln w="22225">
            <a:solidFill>
              <a:srgbClr val="5158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769096" y="4069080"/>
            <a:ext cx="233172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0536" y="4178808"/>
            <a:ext cx="2148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📨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4462272"/>
            <a:ext cx="218541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events +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Redis Pub/Sub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34956" y="3749039"/>
            <a:ext cx="0" cy="320041"/>
          </a:xfrm>
          <a:prstGeom prst="line">
            <a:avLst/>
          </a:prstGeom>
          <a:ln w="22225">
            <a:solidFill>
              <a:srgbClr val="5158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80160" y="5440680"/>
            <a:ext cx="3108960" cy="86868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5440680"/>
            <a:ext cx="31089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🗄️ MariaDB  +  🍃 MongoDB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5440680"/>
            <a:ext cx="3108960" cy="86868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5440680"/>
            <a:ext cx="31089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⚡ Redis Pub/Sub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5440680"/>
            <a:ext cx="3108960" cy="86868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5440680"/>
            <a:ext cx="31089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☁️ Cognito · S3 · R2 ·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858AD5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921240" y="0"/>
            <a:ext cx="2103120" cy="2103120"/>
          </a:xfrm>
          <a:prstGeom prst="hexago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A4A9E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D6"/>
                </a:solidFill>
                <a:latin typeface="Segoe UI Semibold"/>
              </a:rPr>
              <a:t>LAYERED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Kiến trúc phân lớp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07040" cy="67665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310896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Security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737360"/>
            <a:ext cx="69494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Xác thực JWT, auth Cognito, phiên stateless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414016"/>
            <a:ext cx="0" cy="100584"/>
          </a:xfrm>
          <a:prstGeom prst="line">
            <a:avLst/>
          </a:prstGeom>
          <a:ln w="19050">
            <a:solidFill>
              <a:srgbClr val="6E7F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514600"/>
            <a:ext cx="10607040" cy="67665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3E78D6"/>
              </a:gs>
              <a:gs pos="100000">
                <a:srgbClr val="3A9BCE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514600"/>
            <a:ext cx="310896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Controller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14600"/>
            <a:ext cx="69494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REST resources &amp; STOMP message mappings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191256"/>
            <a:ext cx="0" cy="100584"/>
          </a:xfrm>
          <a:prstGeom prst="line">
            <a:avLst/>
          </a:prstGeom>
          <a:ln w="19050">
            <a:solidFill>
              <a:srgbClr val="6E7F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3291840"/>
            <a:ext cx="10607040" cy="67665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91840"/>
            <a:ext cx="310896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Service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91840"/>
            <a:ext cx="69494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Nghiệp vụ theo domain: user, post, story, page, chat, AI, storage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968496"/>
            <a:ext cx="0" cy="100584"/>
          </a:xfrm>
          <a:prstGeom prst="line">
            <a:avLst/>
          </a:prstGeom>
          <a:ln w="19050">
            <a:solidFill>
              <a:srgbClr val="6E7F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4069080"/>
            <a:ext cx="10607040" cy="67665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80"/>
            <a:ext cx="310896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Event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069080"/>
            <a:ext cx="69494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Sự kiện conversation/message/member &amp; Redis pub/sub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4745736"/>
            <a:ext cx="0" cy="100584"/>
          </a:xfrm>
          <a:prstGeom prst="line">
            <a:avLst/>
          </a:prstGeom>
          <a:ln w="19050">
            <a:solidFill>
              <a:srgbClr val="6E7F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846320"/>
            <a:ext cx="10607040" cy="67665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846320"/>
            <a:ext cx="310896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Persistence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46320"/>
            <a:ext cx="69494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MariaDB (quan hệ) + MongoDB (tài liệu nội dung MXH)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5522976"/>
            <a:ext cx="0" cy="100584"/>
          </a:xfrm>
          <a:prstGeom prst="line">
            <a:avLst/>
          </a:prstGeom>
          <a:ln w="19050">
            <a:solidFill>
              <a:srgbClr val="6E7F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7240" y="5623560"/>
            <a:ext cx="10607040" cy="67665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623560"/>
            <a:ext cx="310896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External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623560"/>
            <a:ext cx="69494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AWS Cognito · AWS S3 · Cloudflare R2 · OpenRouter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8C91E2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n 4"/>
          <p:cNvSpPr/>
          <p:nvPr/>
        </p:nvSpPr>
        <p:spPr>
          <a:xfrm>
            <a:off x="10104120" y="-45720"/>
            <a:ext cx="1737360" cy="2194560"/>
          </a:xfrm>
          <a:prstGeom prst="ca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8CA8E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2C9"/>
                </a:solidFill>
                <a:latin typeface="Segoe UI Semibold"/>
              </a:rPr>
              <a:t>1.2.2  HYBRID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Polyglot Persistence — 3 loại CSDL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426B"/>
                </a:solidFill>
                <a:latin typeface="Segoe UI"/>
              </a:rPr>
              <a:t>Mỗi loại CSDL cho đúng một loại dữ liệu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35204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3520440" cy="86868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3520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🗄️  MariaDB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35204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ECECFB"/>
                </a:solidFill>
                <a:latin typeface="Segoe UI"/>
              </a:rPr>
              <a:t>Relational · ACID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3108960" cy="2194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5470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Người dùng &amp; định danh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5470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Bạn bè, hội thoại, thành viên nhóm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5470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Trang cộng đồng (Pages)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5470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Dữ liệu cần toàn vẹn giao dịch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715000"/>
            <a:ext cx="3063240" cy="457200"/>
          </a:xfrm>
          <a:prstGeom prst="roundRect">
            <a:avLst>
              <a:gd name="adj" fmla="val 4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96712"/>
            <a:ext cx="30632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470CE"/>
                </a:solidFill>
                <a:latin typeface="Segoe UI Semibold"/>
              </a:rPr>
              <a:t>☁️ TiBi Cloud (DBaaS)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9432" y="2148840"/>
            <a:ext cx="35204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9432" y="2148840"/>
            <a:ext cx="3520440" cy="86868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3A9BCE"/>
              </a:gs>
              <a:gs pos="100000">
                <a:srgbClr val="2F86A4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2212848"/>
            <a:ext cx="3520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🍃  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670048"/>
            <a:ext cx="35204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ECECFB"/>
                </a:solidFill>
                <a:latin typeface="Segoe UI"/>
              </a:rPr>
              <a:t>Document · NoSQL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200400"/>
            <a:ext cx="3108960" cy="2194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2F86A4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Bài viết (posts) &amp; media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2F86A4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Tin nhắn, bình luận, story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2F86A4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Thông báo (notifications)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2F86A4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Dữ liệu phi cấu trúc, khối lượng lớn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28032" y="5715000"/>
            <a:ext cx="3063240" cy="457200"/>
          </a:xfrm>
          <a:prstGeom prst="roundRect">
            <a:avLst>
              <a:gd name="adj" fmla="val 4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5696712"/>
            <a:ext cx="30632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86A4"/>
                </a:solidFill>
                <a:latin typeface="Segoe UI Semibold"/>
              </a:rPr>
              <a:t>☁️ MongoDB Atlas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1624" y="2148840"/>
            <a:ext cx="35204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21624" y="2148840"/>
            <a:ext cx="3520440" cy="86868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2212848"/>
            <a:ext cx="3520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⚡ 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670048"/>
            <a:ext cx="35204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ECECFB"/>
                </a:solidFill>
                <a:latin typeface="Segoe UI"/>
              </a:rPr>
              <a:t>In-memory · 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224" y="3200400"/>
            <a:ext cx="3108960" cy="2194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8FBDE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Cache đa tầng (multi-layer)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8FBDE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Pub/Sub cho realtime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8FBDE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Sliding Window / User Cache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8FBDE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Giảm truy vấn trực tiếp tới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50224" y="5715000"/>
            <a:ext cx="3063240" cy="457200"/>
          </a:xfrm>
          <a:prstGeom prst="roundRect">
            <a:avLst>
              <a:gd name="adj" fmla="val 4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5696712"/>
            <a:ext cx="30632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DEE"/>
                </a:solidFill>
                <a:latin typeface="Segoe UI Semibold"/>
              </a:rPr>
              <a:t>🔁 Pub/Sub + 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6D91D9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ightning Bolt 4"/>
          <p:cNvSpPr/>
          <p:nvPr/>
        </p:nvSpPr>
        <p:spPr>
          <a:xfrm>
            <a:off x="10195560" y="-91440"/>
            <a:ext cx="1554480" cy="2286000"/>
          </a:xfrm>
          <a:prstGeom prst="lightningBol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92C8E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9BCE"/>
                </a:solidFill>
                <a:latin typeface="Segoe UI Semibold"/>
              </a:rPr>
              <a:t>1.2.3 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Chiến lược tối ưu hiệu năng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Sliding Window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Cache lịch sử tin nhắn · ít query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9704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90872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⏱️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Time-Cut Pagination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Phân trang theo thời gian · xử lý xóa lịch sử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8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02168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03336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Compound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Index kết hợp · tăng tốc newsfeed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62C9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Member &amp; User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Cache user/thành viên · giảm query lặp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9704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9704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90872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A4A9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2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2584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Chống N+1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2584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Loại bỏ N+1 · ít round-trip DB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2168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02168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03336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158C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3336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↔️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Horizontal Scaling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Mở rộng chiều ngang · nhiều user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943600"/>
            <a:ext cx="10607040" cy="45720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5B63D6"/>
              </a:gs>
              <a:gs pos="100000">
                <a:srgbClr val="2A4A93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★  Điểm nhấn: Sliding Window Cache + Time-Cut Pagination cho module nhắn tin thời gian thực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75B9DC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ube 4"/>
          <p:cNvSpPr/>
          <p:nvPr/>
        </p:nvSpPr>
        <p:spPr>
          <a:xfrm>
            <a:off x="9921240" y="0"/>
            <a:ext cx="2103120" cy="2103120"/>
          </a:xfrm>
          <a:prstGeom prst="cube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8CBCC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86A4"/>
                </a:solidFill>
                <a:latin typeface="Segoe UI Semibold"/>
              </a:rPr>
              <a:t>PROJECT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Cấu trúc Monorepo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520440" cy="713232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24612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📦 backend/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3246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E6E6FA"/>
                </a:solidFill>
                <a:latin typeface="Segoe UI"/>
              </a:rPr>
              <a:t>Spring Boot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97480"/>
            <a:ext cx="3154680" cy="3108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config/ — Security, CORS, Redis, Mongo, S3, WebSocket, AI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controller/ — REST &amp; WebSocket + controller/ai/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domain/entity/ — model MySQL &amp; MongoDB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service/ · event/ · integration/ai/ · repository/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docker/ — docker-compose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2" y="178308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9432" y="1783080"/>
            <a:ext cx="3520440" cy="713232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828800"/>
            <a:ext cx="324612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🌐 frontend-web/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194560"/>
            <a:ext cx="3246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E6E6FA"/>
                </a:solidFill>
                <a:latin typeface="Segoe UI"/>
              </a:rPr>
              <a:t>React +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697480"/>
            <a:ext cx="3154680" cy="3108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api/ · components/ · contexts/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features/chat-ai/ — UI &amp; hooks AI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hooks/ · pages/ · services/ (WebSocket singleton)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stores/ · types/ · utils/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vite.config.ts — proxy /api &amp; /ws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21624" y="178308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21624" y="1783080"/>
            <a:ext cx="3520440" cy="713232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1828800"/>
            <a:ext cx="324612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📱 frontend-mobile/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2194560"/>
            <a:ext cx="3246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E6E6FA"/>
                </a:solidFill>
                <a:latin typeface="Segoe UI"/>
              </a:rPr>
              <a:t>Expo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2697480"/>
            <a:ext cx="3154680" cy="3108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app/ — route groups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api/ — Axios client + token refresh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components/ · hooks/ · screens/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services/ — auth, chat, page, device, WS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100">
                <a:solidFill>
                  <a:srgbClr val="23426B"/>
                </a:solidFill>
                <a:latin typeface="Segoe UI"/>
              </a:rPr>
              <a:t>stores/ · types/ · utils/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6DAAB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921240" y="0"/>
            <a:ext cx="2103120" cy="2103120"/>
          </a:xfrm>
          <a:prstGeom prst="hexago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99BC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4A93"/>
                </a:solidFill>
                <a:latin typeface="Segoe UI Semibold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Xác thực &amp; Quản lý phiên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AWS Cognito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Đăng ký · Đăng nhập · Reset · Logout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Token / Cookie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81528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Cookie (web) · Secure Store (mobile)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JWT mỗi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95928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995928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" y="4251960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233672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28616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QR 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94376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Ghép phiên web ↔ xác nhận 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995928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3995928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3368" y="4251960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62C9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33672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928616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Token Refresh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294376"/>
            <a:ext cx="4846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Tự làm mới token · phiên liền mạch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6980B3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Callout 4"/>
          <p:cNvSpPr/>
          <p:nvPr/>
        </p:nvSpPr>
        <p:spPr>
          <a:xfrm>
            <a:off x="9784080" y="137160"/>
            <a:ext cx="2377440" cy="1828800"/>
          </a:xfrm>
          <a:prstGeom prst="wedgeEllipseCallo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92C8E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9BCE"/>
                </a:solidFill>
                <a:latin typeface="Segoe UI Semibold"/>
              </a:rPr>
              <a:t>FLOW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Luồng đăng ký &amp; xác nhận OTP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2057400" cy="15544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41448"/>
            <a:ext cx="2057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2057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Đăng ký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355848"/>
            <a:ext cx="1911096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POST /api/auth/register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Nhập SĐT + mật khẩu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3108960"/>
            <a:ext cx="164592" cy="0"/>
          </a:xfrm>
          <a:prstGeom prst="line">
            <a:avLst/>
          </a:prstGeom>
          <a:ln w="31750">
            <a:solidFill>
              <a:srgbClr val="3A9BC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2072" y="2331720"/>
            <a:ext cx="2057400" cy="15544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441448"/>
            <a:ext cx="2057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990088"/>
            <a:ext cx="2057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Gửi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355848"/>
            <a:ext cx="1911096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Cognito gửi mã OTP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qua kênh xác nhận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19472" y="3108960"/>
            <a:ext cx="164592" cy="0"/>
          </a:xfrm>
          <a:prstGeom prst="line">
            <a:avLst/>
          </a:prstGeom>
          <a:ln w="31750">
            <a:solidFill>
              <a:srgbClr val="3A9BC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84064" y="2331720"/>
            <a:ext cx="2057400" cy="15544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2441448"/>
            <a:ext cx="2057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990088"/>
            <a:ext cx="2057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Xác nhận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355848"/>
            <a:ext cx="1911096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POST /api/auth/confirm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Người dùng nhập OTP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41464" y="3108960"/>
            <a:ext cx="164592" cy="0"/>
          </a:xfrm>
          <a:prstGeom prst="line">
            <a:avLst/>
          </a:prstGeom>
          <a:ln w="31750">
            <a:solidFill>
              <a:srgbClr val="3A9BC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06056" y="2331720"/>
            <a:ext cx="2057400" cy="15544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6056" y="2441448"/>
            <a:ext cx="2057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6056" y="2990088"/>
            <a:ext cx="2057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Kích hoạt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3355848"/>
            <a:ext cx="1911096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Tài khoản được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kích hoạt thành công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63456" y="3108960"/>
            <a:ext cx="164592" cy="0"/>
          </a:xfrm>
          <a:prstGeom prst="line">
            <a:avLst/>
          </a:prstGeom>
          <a:ln w="31750">
            <a:solidFill>
              <a:srgbClr val="3A9BC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28048" y="2331720"/>
            <a:ext cx="2057400" cy="15544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28048" y="2441448"/>
            <a:ext cx="2057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2990088"/>
            <a:ext cx="2057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Đăng nhập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355848"/>
            <a:ext cx="1911096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POST /api/auth/login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CECFB"/>
                </a:solidFill>
                <a:latin typeface="Segoe UI"/>
              </a:rPr>
              <a:t>Nhận JWT + phiên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48056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617720"/>
            <a:ext cx="10241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A9BCE"/>
                </a:solidFill>
                <a:latin typeface="Segoe UI Semibold"/>
              </a:rPr>
              <a:t>💡  Phía client (web &amp; mobile)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029200"/>
            <a:ext cx="10149840" cy="731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300">
                <a:solidFill>
                  <a:srgbClr val="23426B"/>
                </a:solidFill>
                <a:latin typeface="Segoe UI"/>
              </a:rPr>
              <a:t>Validate SĐT &amp; mật khẩu trước khi gọi API  ·  SuccessModal: loading / success / error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300">
                <a:solidFill>
                  <a:srgbClr val="23426B"/>
                </a:solidFill>
                <a:latin typeface="Segoe UI"/>
              </a:rPr>
              <a:t>Xác nhận xong → điều hướng đăng nhập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75B9DC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9921240" y="0"/>
            <a:ext cx="2103120" cy="2103120"/>
          </a:xfrm>
          <a:prstGeom prst="don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8CC3D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3AE"/>
                </a:solidFill>
                <a:latin typeface="Segoe UI Semibold"/>
              </a:rPr>
              <a:t>FLOW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Luồng đăng nhập QR (Web ↔ Mobile)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E78D6"/>
                </a:solidFill>
                <a:latin typeface="Segoe UI Semibold"/>
              </a:rPr>
              <a:t>🌐  Trình duyệt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86A4"/>
                </a:solidFill>
                <a:latin typeface="Segoe UI Semibold"/>
              </a:rPr>
              <a:t>📱  Ứng dụng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493776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45720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1. Tạo phiên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06040"/>
            <a:ext cx="4617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CFB"/>
                </a:solidFill>
                <a:latin typeface="Segoe UI"/>
              </a:rPr>
              <a:t>POST /session/qr-login/create → hiển thị mã QR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493776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45720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2. Chờ trạng thái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49040"/>
            <a:ext cx="4617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CFB"/>
                </a:solidFill>
                <a:latin typeface="Segoe UI"/>
              </a:rPr>
              <a:t>GET /qr-login/status/{sessionId} (polling)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89120"/>
            <a:ext cx="493776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45720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3. Nhận access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92040"/>
            <a:ext cx="4617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CFB"/>
                </a:solidFill>
                <a:latin typeface="Segoe UI"/>
              </a:rPr>
              <a:t>GET /qr-login/access-token → đăng nhập 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06040"/>
            <a:ext cx="493776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45720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1. Quét 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08960"/>
            <a:ext cx="4617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CFB"/>
                </a:solidFill>
                <a:latin typeface="Segoe UI"/>
              </a:rPr>
              <a:t>Mobile (đã đăng nhập) quét mã bằng Expo Camera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69080"/>
            <a:ext cx="4937760" cy="96012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160520"/>
            <a:ext cx="45720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2. Xác nhận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72000"/>
            <a:ext cx="4617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CFB"/>
                </a:solidFill>
                <a:latin typeface="Segoe UI"/>
              </a:rPr>
              <a:t>POST /qr-login/confirm — chấp thuận phiên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15000" y="3108960"/>
            <a:ext cx="68580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715000" y="4572000"/>
            <a:ext cx="68580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0" y="269748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62C9"/>
                </a:solidFill>
                <a:latin typeface="Segoe UI"/>
              </a:rPr>
              <a:t>QR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70916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F62C9"/>
                </a:solidFill>
                <a:latin typeface="Segoe UI"/>
              </a:rPr>
              <a:t>confirm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577840"/>
            <a:ext cx="10561320" cy="566928"/>
          </a:xfrm>
          <a:prstGeom prst="roundRect">
            <a:avLst>
              <a:gd name="adj" fmla="val 2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59552"/>
            <a:ext cx="103327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426B"/>
                </a:solidFill>
                <a:latin typeface="Segoe UI"/>
              </a:rPr>
              <a:t>🔐  Web nhận access token sau khi mobile xác nhận — không cần nhập lại mật khẩu.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6CB3C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9921240" y="0"/>
            <a:ext cx="2103120" cy="2103120"/>
          </a:xfrm>
          <a:prstGeom prst="hear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94B4E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78D6"/>
                </a:solidFill>
                <a:latin typeface="Segoe UI Semibold"/>
              </a:rPr>
              <a:t>MODULE ·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Bảng tin mạng xã hội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Bài viết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48463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Tạo · Sửa · Xóa · Xem feed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Upload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81528"/>
            <a:ext cx="48463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Presigned URL · upload trực tiếp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3192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93192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6460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Tương tác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30368"/>
            <a:ext cx="48463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Bình luận · Reply · Reaction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93192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393192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3368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62C9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🏷️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6460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Tagged &amp; Saved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230368"/>
            <a:ext cx="48463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426B"/>
                </a:solidFill>
                <a:latin typeface="Segoe UI"/>
              </a:rPr>
              <a:t>Gắn thẻ · Bài đã lưu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9788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85180"/>
            <a:ext cx="20574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E93AE"/>
                </a:solidFill>
                <a:latin typeface="Segoe UI Semibold"/>
              </a:rPr>
              <a:t>/api/posts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589788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5885180"/>
            <a:ext cx="20574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E93AE"/>
                </a:solidFill>
                <a:latin typeface="Segoe UI Semibold"/>
              </a:rPr>
              <a:t>/api/comments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589788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5885180"/>
            <a:ext cx="20574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E93AE"/>
                </a:solidFill>
                <a:latin typeface="Segoe UI Semibold"/>
              </a:rPr>
              <a:t>/api/reactions/toggle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3760" y="589788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5885180"/>
            <a:ext cx="20574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E93AE"/>
                </a:solidFill>
                <a:latin typeface="Segoe UI Semibold"/>
              </a:rPr>
              <a:t>/api/saved-posts/toggle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72600" y="589788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5885180"/>
            <a:ext cx="20574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E93AE"/>
                </a:solidFill>
                <a:latin typeface="Segoe UI Semibold"/>
              </a:rPr>
              <a:t>/api/posts/tagged/{id}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77A0E2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Callout 4"/>
          <p:cNvSpPr/>
          <p:nvPr/>
        </p:nvSpPr>
        <p:spPr>
          <a:xfrm>
            <a:off x="9784080" y="137160"/>
            <a:ext cx="2377440" cy="1828800"/>
          </a:xfrm>
          <a:prstGeom prst="wedgeEllipseCallo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BDEE"/>
              </a:gs>
              <a:gs pos="100000">
                <a:srgbClr val="C1DAF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BDEE"/>
                </a:solidFill>
                <a:latin typeface="Segoe UI Semibold"/>
              </a:rPr>
              <a:t>MODULE ·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Stories &amp; Trải nghiệm hồ sơ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212080" cy="658368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8FBDEE"/>
              </a:gs>
              <a:gs pos="100000">
                <a:srgbClr val="2A4A9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📸  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80060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8FBDE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Tạo story · Feed story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8FBDE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Người xem story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8FBDE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Reaction story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8FBDE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Highlights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8FBDE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Xóa 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120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212080" cy="658368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52120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👤  Hồ sơ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480060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Hồ sơ: bài viết · đã lưu · gắn thẻ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Người bị chặn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Sửa thông tin tài khoản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Quyền riêng tư hồ sơ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Ngày sinh · giới tính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BDEE"/>
              </a:gs>
              <a:gs pos="100000">
                <a:srgbClr val="B0D0F3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ular Callout 4"/>
          <p:cNvSpPr/>
          <p:nvPr/>
        </p:nvSpPr>
        <p:spPr>
          <a:xfrm>
            <a:off x="9784080" y="137160"/>
            <a:ext cx="2377440" cy="1828800"/>
          </a:xfrm>
          <a:prstGeom prst="wedgeRoundRectCallo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8CBCC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86A4"/>
                </a:solidFill>
                <a:latin typeface="Segoe UI Semibold"/>
              </a:rPr>
              <a:t>MODULE · SOCIAL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Bạn bè · Chặn · Trang (Pages)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212080" cy="658368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A9BCE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👥  Bạn bè &amp; Chặn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80060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Gửi · Chấp nhận · Từ chối lời mời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Danh sách bạn · lời mời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Chặn / Bỏ chặn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Đếm bạn bè realtime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2E93AE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Chặn trong chat (read-only)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120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212080" cy="658368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52120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📄  Trang (Pages)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480060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Tạo · Sửa · Thích · Theo dõi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Bài viết · duyệt/từ chối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Thành viên · phân quyền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Yêu cầu tham gia · duyệt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550" b="1">
                <a:solidFill>
                  <a:srgbClr val="7A82E6"/>
                </a:solidFill>
                <a:latin typeface="Segoe UI"/>
              </a:rPr>
              <a:t>▸  </a:t>
            </a:r>
            <a:r>
              <a:rPr sz="1550">
                <a:solidFill>
                  <a:srgbClr val="23426B"/>
                </a:solidFill>
                <a:latin typeface="Segoe UI"/>
              </a:rPr>
              <a:t>Quản lý 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6DAAB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ular Callout 4"/>
          <p:cNvSpPr/>
          <p:nvPr/>
        </p:nvSpPr>
        <p:spPr>
          <a:xfrm>
            <a:off x="9784080" y="137160"/>
            <a:ext cx="2377440" cy="1828800"/>
          </a:xfrm>
          <a:prstGeom prst="wedgeRoundRectCallo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99BC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4A93"/>
                </a:solidFill>
                <a:latin typeface="Segoe UI Semibold"/>
              </a:rPr>
              <a:t>MODULE ·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Nhắn tin Realtime — Tổng quan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Hội thoại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48463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1-1 &amp; nhóm · phân trang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✉️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1576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Tin nhắn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81528"/>
            <a:ext cx="48463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Gửi · Thu hồi · Xóa · Đã đọc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5760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65760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" y="391363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A4A9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89534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9028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Pin &amp; Typing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56048"/>
            <a:ext cx="48463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Ghim · Typing · Seen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65760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365760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3368" y="391363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89534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59028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545"/>
                </a:solidFill>
                <a:latin typeface="Segoe UI Semibold"/>
              </a:rPr>
              <a:t>Quản lý nhóm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956048"/>
            <a:ext cx="48463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3426B"/>
                </a:solidFill>
                <a:latin typeface="Segoe UI"/>
              </a:rPr>
              <a:t>Biệt danh · vai trò · kick/rời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440680"/>
            <a:ext cx="10607040" cy="77724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486400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4A93"/>
                </a:solidFill>
                <a:latin typeface="Segoe UI Semibold"/>
              </a:rPr>
              <a:t>📡  STOMP topics tiêu biểu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833872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3426B"/>
                </a:solidFill>
                <a:latin typeface="Consolas"/>
              </a:rPr>
              <a:t>/topic/conversation/{id}   ·   /topic/user/{id}/conversations   ·   /topic/user/{id}/calls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6980B3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ular Callout 4"/>
          <p:cNvSpPr/>
          <p:nvPr/>
        </p:nvSpPr>
        <p:spPr>
          <a:xfrm>
            <a:off x="9784080" y="137160"/>
            <a:ext cx="2377440" cy="1828800"/>
          </a:xfrm>
          <a:prstGeom prst="wedgeRoundRectCallo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BDEE"/>
              </a:gs>
              <a:gs pos="100000">
                <a:srgbClr val="C1DAF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BDEE"/>
                </a:solidFill>
                <a:latin typeface="Segoe UI Semibold"/>
              </a:rPr>
              <a:t>FLOW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Luồng gửi tin nhắn Realtime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2377440" cy="9144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2194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🧑  Người gửi (A)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76272"/>
            <a:ext cx="223113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POST /api/messages/send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828800"/>
            <a:ext cx="2377440" cy="9144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938528"/>
            <a:ext cx="2194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⚙️  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176272"/>
            <a:ext cx="223113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Lưu MongoDB + tạo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828800"/>
            <a:ext cx="2377440" cy="9144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2194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⚡  Redis Pub/Sub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176272"/>
            <a:ext cx="223113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Phát tán sự kiện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828800"/>
            <a:ext cx="2011680" cy="9144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938528"/>
            <a:ext cx="18288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📡  STOMP Broker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176272"/>
            <a:ext cx="186537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Broadcast topic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54680" y="2286000"/>
            <a:ext cx="50292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2286000"/>
            <a:ext cx="50292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15400" y="2286000"/>
            <a:ext cx="50292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424160" y="2743200"/>
            <a:ext cx="0" cy="640080"/>
          </a:xfrm>
          <a:prstGeom prst="line">
            <a:avLst/>
          </a:prstGeom>
          <a:ln w="25400">
            <a:solidFill>
              <a:srgbClr val="5158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200400" y="3383280"/>
            <a:ext cx="5760720" cy="82296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3383280"/>
            <a:ext cx="57607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Thành viên hội thoại đã subscribe  →  nhận tin tức thời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961120" y="3794760"/>
            <a:ext cx="1097280" cy="0"/>
          </a:xfrm>
          <a:prstGeom prst="line">
            <a:avLst/>
          </a:prstGeom>
          <a:ln w="25400">
            <a:solidFill>
              <a:srgbClr val="5158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" y="452628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63440"/>
            <a:ext cx="10241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BDEE"/>
                </a:solidFill>
                <a:latin typeface="Segoe UI Semibold"/>
              </a:rPr>
              <a:t>📨  Các sự kiện được broadcast qua topic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12064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107940"/>
            <a:ext cx="16642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93AE"/>
                </a:solidFill>
                <a:latin typeface="Segoe UI Semibold"/>
              </a:rPr>
              <a:t>new message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61488" y="512064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61488" y="5107940"/>
            <a:ext cx="16642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93AE"/>
                </a:solidFill>
                <a:latin typeface="Segoe UI Semibold"/>
              </a:rPr>
              <a:t>recall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7136" y="512064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5107940"/>
            <a:ext cx="16642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93AE"/>
                </a:solidFill>
                <a:latin typeface="Segoe UI Semibold"/>
              </a:rPr>
              <a:t>seen/đã đọc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4" y="512064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4" y="5107940"/>
            <a:ext cx="16642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93AE"/>
                </a:solidFill>
                <a:latin typeface="Segoe UI Semibold"/>
              </a:rPr>
              <a:t>typing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2" y="512064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2" y="5107940"/>
            <a:ext cx="16642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93AE"/>
                </a:solidFill>
                <a:latin typeface="Segoe UI Semibold"/>
              </a:rPr>
              <a:t>pin/unpin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512064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5107940"/>
            <a:ext cx="16642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93AE"/>
                </a:solidFill>
                <a:latin typeface="Segoe UI Semibold"/>
              </a:rPr>
              <a:t>member update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96128"/>
            <a:ext cx="10241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E7F9B"/>
                </a:solidFill>
                <a:latin typeface="Segoe UI"/>
              </a:rPr>
              <a:t>Typing:  client → /app/chat/{id}/typing  →  fan-out /topic/conversation/{id}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BDEE"/>
              </a:gs>
              <a:gs pos="100000">
                <a:srgbClr val="B0D0F3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ightning Bolt 4"/>
          <p:cNvSpPr/>
          <p:nvPr/>
        </p:nvSpPr>
        <p:spPr>
          <a:xfrm>
            <a:off x="10195560" y="-91440"/>
            <a:ext cx="1554480" cy="2286000"/>
          </a:xfrm>
          <a:prstGeom prst="lightningBol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9FA3D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158C4"/>
                </a:solidFill>
                <a:latin typeface="Segoe UI Semibold"/>
              </a:rPr>
              <a:t>WEBSOCKET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Các đích đến WebSocket (STOMP)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0607040" cy="5029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B63D6"/>
              </a:gs>
              <a:gs pos="100000">
                <a:srgbClr val="5158C4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3931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Destination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78308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Hướng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83080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Mục đích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50008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350008"/>
            <a:ext cx="91440" cy="566928"/>
          </a:xfrm>
          <a:prstGeom prst="rect">
            <a:avLst/>
          </a:prstGeom>
          <a:solidFill>
            <a:srgbClr val="2E9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350008"/>
            <a:ext cx="4023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/app/chat/{id}/typing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50008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F62C9"/>
                </a:solidFill>
                <a:latin typeface="Segoe UI"/>
              </a:rPr>
              <a:t>Client →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50008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Gửi trạng thái đang nhập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971800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91440" cy="566928"/>
          </a:xfrm>
          <a:prstGeom prst="rect">
            <a:avLst/>
          </a:prstGeom>
          <a:solidFill>
            <a:srgbClr val="2F6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971800"/>
            <a:ext cx="4023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/app/call.signal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71800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F62C9"/>
                </a:solidFill>
                <a:latin typeface="Segoe UI"/>
              </a:rPr>
              <a:t>Client →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971800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Gửi payload tín hiệu gọi audio/video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593592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593592"/>
            <a:ext cx="91440" cy="566928"/>
          </a:xfrm>
          <a:prstGeom prst="rect">
            <a:avLst/>
          </a:prstGeom>
          <a:solidFill>
            <a:srgbClr val="3A9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593592"/>
            <a:ext cx="4023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/topic/conversation/{id}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593592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9BCE"/>
                </a:solidFill>
                <a:latin typeface="Segoe UI"/>
              </a:rPr>
              <a:t>Server →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593592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Tin nhắn, thu hồi, seen, typing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215384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215384"/>
            <a:ext cx="91440" cy="566928"/>
          </a:xfrm>
          <a:prstGeom prst="rect">
            <a:avLst/>
          </a:prstGeom>
          <a:solidFill>
            <a:srgbClr val="8FB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215384"/>
            <a:ext cx="4023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/topic/conversations/{id}/pins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15384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9BCE"/>
                </a:solidFill>
                <a:latin typeface="Segoe UI"/>
              </a:rPr>
              <a:t>Server →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215384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Cập nhật ghim/bỏ ghim tin nhắn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837176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837176"/>
            <a:ext cx="91440" cy="566928"/>
          </a:xfrm>
          <a:prstGeom prst="rect">
            <a:avLst/>
          </a:prstGeom>
          <a:solidFill>
            <a:srgbClr val="7A8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837176"/>
            <a:ext cx="4023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/topic/conversations/{id}/members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837176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9BCE"/>
                </a:solidFill>
                <a:latin typeface="Segoe UI"/>
              </a:rPr>
              <a:t>Server → Client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837176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Cập nhật thành viên/biệt danh nhóm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458968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5458968"/>
            <a:ext cx="91440" cy="566928"/>
          </a:xfrm>
          <a:prstGeom prst="rect">
            <a:avLst/>
          </a:prstGeom>
          <a:solidFill>
            <a:srgbClr val="3E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458968"/>
            <a:ext cx="4023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/topic/user/{id}/conversations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458968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9BCE"/>
                </a:solidFill>
                <a:latin typeface="Segoe UI"/>
              </a:rPr>
              <a:t>Server → 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458968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Thay đổi danh sách hội thoại &amp; nhóm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6080760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6080760"/>
            <a:ext cx="91440" cy="566928"/>
          </a:xfrm>
          <a:prstGeom prst="rect">
            <a:avLst/>
          </a:prstGeom>
          <a:solidFill>
            <a:srgbClr val="2A4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6080760"/>
            <a:ext cx="4023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/topic/user/{id}/calls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6080760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9BCE"/>
                </a:solidFill>
                <a:latin typeface="Segoe UI"/>
              </a:rPr>
              <a:t>Server → Client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6080760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Cuộc gọi đến &amp; trạng thái cuộc gọi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858AD5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Callout 4"/>
          <p:cNvSpPr/>
          <p:nvPr/>
        </p:nvSpPr>
        <p:spPr>
          <a:xfrm>
            <a:off x="9784080" y="137160"/>
            <a:ext cx="2377440" cy="1828800"/>
          </a:xfrm>
          <a:prstGeom prst="wedgeEllipseCallo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70CE"/>
              </a:gs>
              <a:gs pos="100000">
                <a:srgbClr val="A0B0E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470CE"/>
                </a:solidFill>
                <a:latin typeface="Segoe UI Semibold"/>
              </a:rPr>
              <a:t>MODULE ·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Tín hiệu gọi Audio/Video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426B"/>
                </a:solidFill>
                <a:latin typeface="Segoe UI"/>
              </a:rPr>
              <a:t>WebSocket signaling  ·  backend làm trung gian trao đổi tín hiệu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77440"/>
            <a:ext cx="2011680" cy="1783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2011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FFFFFF"/>
                </a:solidFill>
                <a:latin typeface="Segoe UI"/>
              </a:rPr>
              <a:t>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Bên gọi khởi tạo cuộc gọi tới đối phương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2" y="2377440"/>
            <a:ext cx="2011680" cy="1783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2560320"/>
            <a:ext cx="2011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24612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3611880"/>
            <a:ext cx="1828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Bên nhận chấp nhận cuộc gọi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8344" y="2377440"/>
            <a:ext cx="2011680" cy="1783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8344" y="2560320"/>
            <a:ext cx="2011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FFFFFF"/>
                </a:solidFill>
                <a:latin typeface="Segoe UI"/>
              </a:rPr>
              <a:t>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324612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ICE Candidate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611880"/>
            <a:ext cx="1828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Trao đổi ứng viên kết nối 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68896" y="2377440"/>
            <a:ext cx="2011680" cy="1783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560320"/>
            <a:ext cx="2011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FFFFFF"/>
                </a:solidFill>
                <a:latin typeface="Segoe UI"/>
              </a:rPr>
              <a:t>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324612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336" y="3611880"/>
            <a:ext cx="1828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Từ chối cuộc gọi đến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9448" y="2377440"/>
            <a:ext cx="2011680" cy="1783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2560320"/>
            <a:ext cx="2011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FFFFFF"/>
                </a:solidFill>
                <a:latin typeface="Segoe UI"/>
              </a:rPr>
              <a:t>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24612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End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3611880"/>
            <a:ext cx="18288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Kết thúc &amp; dọn dẹp phiên gọi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526280"/>
            <a:ext cx="106070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663440"/>
            <a:ext cx="10241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470CE"/>
                </a:solidFill>
                <a:latin typeface="Segoe UI Semibold"/>
              </a:rPr>
              <a:t>📡  Kênh tín hiệu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5470CE"/>
                </a:solidFill>
                <a:latin typeface="Segoe UI"/>
              </a:rPr>
              <a:t>▸  </a:t>
            </a:r>
            <a:r>
              <a:rPr sz="1300">
                <a:solidFill>
                  <a:srgbClr val="23426B"/>
                </a:solidFill>
                <a:latin typeface="Segoe UI"/>
              </a:rPr>
              <a:t>Client → /app/call.signal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5470CE"/>
                </a:solidFill>
                <a:latin typeface="Segoe UI"/>
              </a:rPr>
              <a:t>▸  </a:t>
            </a:r>
            <a:r>
              <a:rPr sz="1300">
                <a:solidFill>
                  <a:srgbClr val="23426B"/>
                </a:solidFill>
                <a:latin typeface="Segoe UI"/>
              </a:rPr>
              <a:t>Server → /topic/user/{id}/calls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70CE"/>
              </a:gs>
              <a:gs pos="100000">
                <a:srgbClr val="879ADC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miley Face 4"/>
          <p:cNvSpPr/>
          <p:nvPr/>
        </p:nvSpPr>
        <p:spPr>
          <a:xfrm>
            <a:off x="9921240" y="0"/>
            <a:ext cx="2103120" cy="2103120"/>
          </a:xfrm>
          <a:prstGeom prst="smileyFace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A82E6"/>
              </a:gs>
              <a:gs pos="100000">
                <a:srgbClr val="B5BAF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A82E6"/>
                </a:solidFill>
                <a:latin typeface="Segoe UI Semibold"/>
              </a:rPr>
              <a:t>MODULE ·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Trợ lý AI trong hội thoại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199339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97510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7004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Consent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846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Phải đồng ý trước khi dùng AI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POST /confirm-ai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73736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199339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7510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7004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Tóm tắt hội thoại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35808"/>
            <a:ext cx="4846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Tóm tắt cuộc trò chuyện dài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POST /ai/summarize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4904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74904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" y="400507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98678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68172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Gợi ý nội dung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047488"/>
            <a:ext cx="4846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Gợi ý trả lời theo ngữ cảnh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POST /ai/suggestions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4904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3749040"/>
            <a:ext cx="52120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3368" y="400507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62C9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98678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68172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OpenRouter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047488"/>
            <a:ext cx="4846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Chuẩn OpenAI API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Đổi model không sửa 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5099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A82E6"/>
                </a:solidFill>
                <a:latin typeface="Segoe UI Semibold"/>
              </a:rPr>
              <a:t>🧠  Mô hình hỗ trợ: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5623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B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561086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GPT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53128" y="5623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47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128" y="561086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Claude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25896" y="5623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3E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25896" y="561086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Gemini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98664" y="5623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F8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8664" y="561086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DeepSeek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71432" y="5623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A4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1432" y="561086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Mistral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A82E6"/>
              </a:gs>
              <a:gs pos="100000">
                <a:srgbClr val="A1A7ED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Callout 4"/>
          <p:cNvSpPr/>
          <p:nvPr/>
        </p:nvSpPr>
        <p:spPr>
          <a:xfrm>
            <a:off x="9784080" y="137160"/>
            <a:ext cx="2377440" cy="1828800"/>
          </a:xfrm>
          <a:prstGeom prst="wedgeEllipseCallo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8CBCC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86A4"/>
                </a:solidFill>
                <a:latin typeface="Segoe UI Semibold"/>
              </a:rPr>
              <a:t>FLOW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Luồng xử lý AI (Consent → Kết quả)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2468880" cy="169164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2468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4688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Đồng ý dùng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22860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Người dùng bật AI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POST /confirm-ai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3314700"/>
            <a:ext cx="320040" cy="0"/>
          </a:xfrm>
          <a:prstGeom prst="line">
            <a:avLst/>
          </a:prstGeom>
          <a:ln w="31750">
            <a:solidFill>
              <a:srgbClr val="2F86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0" y="2468880"/>
            <a:ext cx="2468880" cy="169164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606040"/>
            <a:ext cx="2468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00400"/>
            <a:ext cx="24688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Kiểm tra ranh giới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611880"/>
            <a:ext cx="22860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Backend xác minh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user đã consent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3314700"/>
            <a:ext cx="320040" cy="0"/>
          </a:xfrm>
          <a:prstGeom prst="line">
            <a:avLst/>
          </a:prstGeom>
          <a:ln w="31750">
            <a:solidFill>
              <a:srgbClr val="2F86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46520" y="2468880"/>
            <a:ext cx="2468880" cy="169164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40"/>
            <a:ext cx="2468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00400"/>
            <a:ext cx="24688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Gọi nhà cung cấp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611880"/>
            <a:ext cx="22860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WebClient → OpenRouter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summarize / suggestions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0" y="3314700"/>
            <a:ext cx="320040" cy="0"/>
          </a:xfrm>
          <a:prstGeom prst="line">
            <a:avLst/>
          </a:prstGeom>
          <a:ln w="31750">
            <a:solidFill>
              <a:srgbClr val="2F86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35440" y="2468880"/>
            <a:ext cx="2468880" cy="169164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606040"/>
            <a:ext cx="2468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00400"/>
            <a:ext cx="24688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Trả kết quả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611880"/>
            <a:ext cx="22860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Tóm tắt hoặc gợi ý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hiển thị trong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572000"/>
            <a:ext cx="10424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2C9"/>
                </a:solidFill>
                <a:latin typeface="Segoe UI Semibold"/>
              </a:rPr>
              <a:t>⚠️  Ranh giới đồng thuận (Consent Boundary)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3426B"/>
                </a:solidFill>
                <a:latin typeface="Segoe UI"/>
              </a:rPr>
              <a:t>Chưa đồng ý → backend từ chối gọi AI  ·  bảo vệ quyền riêng tư hội thoại.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6DAAB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ightning Bolt 4"/>
          <p:cNvSpPr/>
          <p:nvPr/>
        </p:nvSpPr>
        <p:spPr>
          <a:xfrm>
            <a:off x="10195560" y="-91440"/>
            <a:ext cx="1554480" cy="2286000"/>
          </a:xfrm>
          <a:prstGeom prst="lightningBol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99BC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4A93"/>
                </a:solidFill>
                <a:latin typeface="Segoe UI Semibold"/>
              </a:rP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Redis Pub/Sub &amp; Tầng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426B"/>
                </a:solidFill>
                <a:latin typeface="Segoe UI"/>
              </a:rPr>
              <a:t>Event layer phát sự kiện  ·  Redis fan-out đa instance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68880"/>
            <a:ext cx="2743200" cy="109728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25603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⚙️  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99232"/>
            <a:ext cx="259689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Sinh domain event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468880"/>
            <a:ext cx="2743200" cy="109728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578608"/>
            <a:ext cx="25603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📤  Event Publisher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999232"/>
            <a:ext cx="259689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Đẩy sự kiện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468880"/>
            <a:ext cx="2743200" cy="109728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2578608"/>
            <a:ext cx="25603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⚡  Redis Pub/Sub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999232"/>
            <a:ext cx="2596896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6E6FA"/>
                </a:solidFill>
                <a:latin typeface="Segoe UI"/>
              </a:rPr>
              <a:t>Phát tán đa instance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3017520"/>
            <a:ext cx="118872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2360" y="3017520"/>
            <a:ext cx="118872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3566160"/>
            <a:ext cx="0" cy="640080"/>
          </a:xfrm>
          <a:prstGeom prst="line">
            <a:avLst/>
          </a:prstGeom>
          <a:ln w="25400">
            <a:solidFill>
              <a:srgbClr val="8FBD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86000" y="4206240"/>
            <a:ext cx="7589520" cy="82296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4206240"/>
            <a:ext cx="75895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STOMP Broker  →  Broadcast tới client đã subscribe topic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1080" y="4617720"/>
            <a:ext cx="1234440" cy="0"/>
          </a:xfrm>
          <a:prstGeom prst="line">
            <a:avLst/>
          </a:prstGeom>
          <a:ln w="25400">
            <a:solidFill>
              <a:srgbClr val="8FBD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530352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413248"/>
            <a:ext cx="10149840" cy="731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50">
                <a:solidFill>
                  <a:srgbClr val="23426B"/>
                </a:solidFill>
                <a:latin typeface="Segoe UI"/>
              </a:rPr>
              <a:t>Decoupling người gửi ↔ người nhận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50">
                <a:solidFill>
                  <a:srgbClr val="23426B"/>
                </a:solidFill>
                <a:latin typeface="Segoe UI"/>
              </a:rPr>
              <a:t>Presence · đếm realtime · đồng bộ đa thiết bị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6980B3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9921240" y="0"/>
            <a:ext cx="2103120" cy="2103120"/>
          </a:xfrm>
          <a:prstGeom prst="cloud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8CA8E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2C9"/>
                </a:solidFill>
                <a:latin typeface="Segoe UI Semibold"/>
              </a:rPr>
              <a:t>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Lưu trữ &amp; Media (Presigned URL)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2468880" cy="16459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24688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2468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Yêu cầu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22860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Client gọi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/api/files/presigned-url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743200"/>
            <a:ext cx="32004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0" y="1920240"/>
            <a:ext cx="2468880" cy="16459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029968"/>
            <a:ext cx="24688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78608"/>
            <a:ext cx="2468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Cấp presigned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971800"/>
            <a:ext cx="22860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Backend ký URL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S3 / R2 có thời hạn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2743200"/>
            <a:ext cx="32004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46520" y="1920240"/>
            <a:ext cx="2468880" cy="16459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029968"/>
            <a:ext cx="24688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78608"/>
            <a:ext cx="2468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Upload trực tiếp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71800"/>
            <a:ext cx="22860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Client PUT file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lên object storage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0" y="2743200"/>
            <a:ext cx="320040" cy="0"/>
          </a:xfrm>
          <a:prstGeom prst="line">
            <a:avLst/>
          </a:prstGeom>
          <a:ln w="31750">
            <a:solidFill>
              <a:srgbClr val="2F62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35440" y="1920240"/>
            <a:ext cx="2468880" cy="16459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029968"/>
            <a:ext cx="24688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578608"/>
            <a:ext cx="2468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Lưu 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971800"/>
            <a:ext cx="22860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Backend lưu link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CECFB"/>
                </a:solidFill>
                <a:latin typeface="Segoe UI"/>
              </a:rPr>
              <a:t>+ phục vụ qua CDN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11480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4114800"/>
            <a:ext cx="33832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9848" y="437083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435254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☁️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47488"/>
            <a:ext cx="3017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Segoe UI Semibold"/>
              </a:rPr>
              <a:t>AWS 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413248"/>
            <a:ext cx="3017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Lưu trữ media chính qua AWS S3 SDK &amp; presigned URL.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411480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16552" y="4114800"/>
            <a:ext cx="33832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70CE"/>
              </a:gs>
              <a:gs pos="100000">
                <a:srgbClr val="2F62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17720" y="437083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470CE"/>
              </a:gs>
              <a:gs pos="100000">
                <a:srgbClr val="2F62C9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470C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435254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5047488"/>
            <a:ext cx="3017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Segoe UI Semibold"/>
              </a:rPr>
              <a:t>Cloudflare R2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5413248"/>
            <a:ext cx="3017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Lưu trữ tương thích S3 cho media nhạc/asset.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64424" y="411480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64424" y="4114800"/>
            <a:ext cx="3383280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65592" y="437083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5592" y="435254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7304" y="5047488"/>
            <a:ext cx="3017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Segoe UI Semibold"/>
              </a:rPr>
              <a:t>CDN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47304" y="5413248"/>
            <a:ext cx="3017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Phục vụ nội dung qua app.cdn-domain tăng tốc tải.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6D91D9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921240" y="0"/>
            <a:ext cx="2103120" cy="2103120"/>
          </a:xfrm>
          <a:prstGeom prst="hexago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8CC3D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3AE"/>
                </a:solidFill>
                <a:latin typeface="Segoe UI Semibold"/>
              </a:rPr>
              <a:t>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Tổng quan các nhóm 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109728" cy="457200"/>
          </a:xfrm>
          <a:prstGeom prst="rect">
            <a:avLst/>
          </a:prstGeom>
          <a:solidFill>
            <a:srgbClr val="5B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/api/auth/register · /login · /refresh · /me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44852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244852"/>
            <a:ext cx="109728" cy="457200"/>
          </a:xfrm>
          <a:prstGeom prst="rect">
            <a:avLst/>
          </a:prstGeom>
          <a:solidFill>
            <a:srgbClr val="3E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244852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QR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44852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/api/session/qr-login/create · /status · /confirm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52344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52344"/>
            <a:ext cx="109728" cy="457200"/>
          </a:xfrm>
          <a:prstGeom prst="rect">
            <a:avLst/>
          </a:prstGeom>
          <a:solidFill>
            <a:srgbClr val="3A9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52344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Friends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752344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/api/friends/request · /accept · /reject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59836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259836"/>
            <a:ext cx="109728" cy="457200"/>
          </a:xfrm>
          <a:prstGeom prst="rect">
            <a:avLst/>
          </a:prstGeom>
          <a:solidFill>
            <a:srgbClr val="2E9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59836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Posts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259836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/api/posts · /upload-url · /tagged/{id}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767328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767328"/>
            <a:ext cx="109728" cy="457200"/>
          </a:xfrm>
          <a:prstGeom prst="rect">
            <a:avLst/>
          </a:prstGeom>
          <a:solidFill>
            <a:srgbClr val="2F8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67328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Comments · Reactions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67328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/api/comments · /api/reactions/toggle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274820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274820"/>
            <a:ext cx="109728" cy="457200"/>
          </a:xfrm>
          <a:prstGeom prst="rect">
            <a:avLst/>
          </a:prstGeom>
          <a:solidFill>
            <a:srgbClr val="3A9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274820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274820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/api/stories · /feed · /{id}/view · /react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782312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782312"/>
            <a:ext cx="109728" cy="457200"/>
          </a:xfrm>
          <a:prstGeom prst="rect">
            <a:avLst/>
          </a:prstGeom>
          <a:solidFill>
            <a:srgbClr val="515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782312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Pages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782312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/api/page/create · /api/page-member/request-join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289804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89804"/>
            <a:ext cx="109728" cy="457200"/>
          </a:xfrm>
          <a:prstGeom prst="rect">
            <a:avLst/>
          </a:prstGeom>
          <a:solidFill>
            <a:srgbClr val="8FB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289804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Conversations · Messages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289804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/api/conversations · /api/messages/send · /recall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797296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797296"/>
            <a:ext cx="109728" cy="457200"/>
          </a:xfrm>
          <a:prstGeom prst="rect">
            <a:avLst/>
          </a:prstGeom>
          <a:solidFill>
            <a:srgbClr val="2F6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797296"/>
            <a:ext cx="33832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Segoe UI Semibold"/>
              </a:rPr>
              <a:t>Files · Music ·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797296"/>
            <a:ext cx="6766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93AE"/>
                </a:solidFill>
                <a:latin typeface="Consolas"/>
              </a:rPr>
              <a:t>/api/files/presigned-url · /api/music · /api/ai/*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6CB3C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921240" y="0"/>
            <a:ext cx="2103120" cy="2103120"/>
          </a:xfrm>
          <a:prstGeom prst="hexago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99BC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4A93"/>
                </a:solidFill>
                <a:latin typeface="Segoe UI Semibold"/>
              </a:rP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Mô hình bảo mật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Stateless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JWT mỗi request · không lưu phiên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9704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90872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Lưu token an toàn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Cookie (web) · Secure Store (mobile)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8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02168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03336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AI Consent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Đồng ý trước khi xử lý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62C9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CORS &amp; Proxy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CORS · Vite proxy · tách credentials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9704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9704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90872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A4A9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2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2584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Quyền riêng tư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2584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Privacy · chặn · read-only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2168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02168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03336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158C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3336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Segoe UI Semibold"/>
              </a:rPr>
              <a:t>Phân quyền Pages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3426B"/>
                </a:solidFill>
                <a:latin typeface="Segoe UI"/>
              </a:rPr>
              <a:t>Vai trò · duyệt bài kiểm soát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6980B3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ar 6 4"/>
          <p:cNvSpPr/>
          <p:nvPr/>
        </p:nvSpPr>
        <p:spPr>
          <a:xfrm>
            <a:off x="9921240" y="0"/>
            <a:ext cx="2103120" cy="2103120"/>
          </a:xfrm>
          <a:prstGeom prst="gear6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92C8E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9BCE"/>
                </a:solidFill>
                <a:latin typeface="Segoe UI Semibold"/>
              </a:rPr>
              <a:t>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Quy trình chạy &amp; build hệ thống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5204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520440" cy="658368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3520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🖥️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3108960" cy="2926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docker compose up -d  (Redis)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cấu hình application.properties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./mvnw spring-boot:run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→ http://localhost:8080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7A82E6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./mvnw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783080"/>
            <a:ext cx="35204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2" y="1783080"/>
            <a:ext cx="3520440" cy="658368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783080"/>
            <a:ext cx="3520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🌐 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651760"/>
            <a:ext cx="3108960" cy="2926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cd frontend-web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npm install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npm run dev → :5173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proxy /api &amp; /ws → :8080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2E93A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npm run build · npm run lint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21624" y="1783080"/>
            <a:ext cx="35204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21624" y="1783080"/>
            <a:ext cx="3520440" cy="658368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783080"/>
            <a:ext cx="3520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📱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651760"/>
            <a:ext cx="3108960" cy="2926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cd frontend-mobile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npm install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npm start (Expo)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npm run android / ios / web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tự resolve backend qua 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A9BCE"/>
              </a:gs>
              <a:gs pos="100000">
                <a:srgbClr val="75B9DC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9921240" y="0"/>
            <a:ext cx="2103120" cy="2103120"/>
          </a:xfrm>
          <a:prstGeom prst="donut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8CC3D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3AE"/>
                </a:solidFill>
                <a:latin typeface="Segoe UI Semibold"/>
              </a:rPr>
              <a:t>1.3  PHẠM VI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Trong &amp; Ngoài phạm vi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27632"/>
            <a:ext cx="10607040" cy="566928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2E93AE"/>
              </a:gs>
            </a:gsLst>
            <a:lin ang="1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9344"/>
            <a:ext cx="106070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🎯  Đối tượng: sinh viên &amp; người trẻ 18–30 tuổi — năng động, dùng nhiều thiết bị di động, tiếp cận nhanh xu hướng mới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77440"/>
            <a:ext cx="52120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77440"/>
            <a:ext cx="5212080" cy="640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A9BCE"/>
              </a:gs>
              <a:gs pos="100000">
                <a:srgbClr val="2F86A4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5212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✅  Trong phạm 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4800600" cy="2651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Đăng bài viết, story và reels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Kết bạn &amp; tương tác người dùng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Nhắn tin realtime cá nhân &amp; nhóm, gọi video/audio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Tạo &amp; quản lý Page cộng đồng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Tìm kiếm người dùng, bài viết, hội thoại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AI Chatbot &amp; gợi ý thông minh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A9BCE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Hybrid Database · cache đa tầng · realtime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77440"/>
            <a:ext cx="52120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100584" dist="54864" dir="5400000" rotWithShape="0">
              <a:srgbClr val="2A4A9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377440"/>
            <a:ext cx="5212080" cy="6400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377440"/>
            <a:ext cx="5212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⛔  Ngoài phạm 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4800600" cy="2651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Recommendation bằng Machine Learning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Distributed Microservices hoàn chỉnh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Kubernetes orchestration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CI/CD enterprise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Distributed tracing toàn hệ thống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Kiểm thử tải quy mô hàng triệu user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A4A93"/>
                </a:solidFill>
                <a:latin typeface="Segoe UI"/>
              </a:rPr>
              <a:t>▸  </a:t>
            </a:r>
            <a:r>
              <a:rPr sz="1200">
                <a:solidFill>
                  <a:srgbClr val="23426B"/>
                </a:solidFill>
                <a:latin typeface="Segoe UI"/>
              </a:rPr>
              <a:t>→ Kiến trúc đã thiết kế hướng mở rộng tương lai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93AE"/>
              </a:gs>
              <a:gs pos="100000">
                <a:srgbClr val="6CB3C6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554480"/>
            <a:ext cx="3108960" cy="3108960"/>
          </a:xfrm>
          <a:prstGeom prst="ellipse">
            <a:avLst/>
          </a:prstGeom>
          <a:solidFill>
            <a:srgbClr val="EAF2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2926080" cy="2926080"/>
          </a:xfrm>
          <a:prstGeom prst="ellipse">
            <a:avLst/>
          </a:prstGeom>
          <a:solidFill>
            <a:srgbClr val="EAF2F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9784080" y="274320"/>
            <a:ext cx="2377440" cy="1554480"/>
          </a:xfrm>
          <a:prstGeom prst="chevron">
            <a:avLst/>
          </a:prstGeom>
          <a:solidFill>
            <a:srgbClr val="4E8BD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146304" cy="8686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8CA8E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72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2C9"/>
                </a:solidFill>
                <a:latin typeface="Segoe UI Semibold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Hướng phát triển tương lai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B63D6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B63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OpenAPI / Swagger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Tài liệu API tự động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9704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90872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2E93A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3E78D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Quản lý secrets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Tách secrets · .env.example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8" y="17830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02168" y="178308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03336" y="203911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86A4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86A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202082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71576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08152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Đầy đủ các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A4A93"/>
              </a:gs>
              <a:gs pos="100000">
                <a:srgbClr val="8FBDE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A4A9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CI/CD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Test · Lint · Build tự động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9704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9704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90872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5158C4"/>
              </a:gs>
              <a:gs pos="100000">
                <a:srgbClr val="7A82E6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5158C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2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2584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Integration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2584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Auth · QR · events · 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2168" y="393192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2F4"/>
            </a:solidFill>
          </a:ln>
          <a:effectLst>
            <a:outerShdw blurRad="91440" dist="50292" dir="5400000" rotWithShape="0">
              <a:srgbClr val="2A4A9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02168" y="3931920"/>
            <a:ext cx="3456432" cy="1097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03336" y="4187952"/>
            <a:ext cx="603504" cy="603504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F62C9"/>
              </a:gs>
              <a:gs pos="100000">
                <a:srgbClr val="5470CE"/>
              </a:gs>
            </a:gsLst>
            <a:lin ang="2700000" scaled="1"/>
          </a:gradFill>
          <a:ln>
            <a:noFill/>
          </a:ln>
          <a:effectLst>
            <a:outerShdw blurRad="54864" dist="36576" dir="5400000" rotWithShape="0">
              <a:srgbClr val="2F62C9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3336" y="4169664"/>
            <a:ext cx="603504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Segoe UI"/>
              </a:rPr>
              <a:t>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4864608"/>
            <a:ext cx="309067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Segoe UI Semibold"/>
              </a:rPr>
              <a:t>Push 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5230368"/>
            <a:ext cx="309067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3426B"/>
                </a:solidFill>
                <a:latin typeface="Segoe UI"/>
              </a:rPr>
              <a:t>Thông báo đẩy cho mobile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7F9B"/>
                </a:solidFill>
                <a:latin typeface="Segoe UI"/>
              </a:rPr>
              <a:t>Wisdom Social  •  Social Networking Platform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247120" y="6382512"/>
            <a:ext cx="502920" cy="3108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2C9"/>
              </a:gs>
              <a:gs pos="100000">
                <a:srgbClr val="6D91D9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7120" y="6364224"/>
            <a:ext cx="5029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2F7F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37360" y="3291840"/>
            <a:ext cx="5120640" cy="5120640"/>
          </a:xfrm>
          <a:prstGeom prst="ellipse">
            <a:avLst/>
          </a:prstGeom>
          <a:solidFill>
            <a:srgbClr val="EAF2F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737360"/>
            <a:ext cx="4754880" cy="4754880"/>
          </a:xfrm>
          <a:prstGeom prst="ellipse">
            <a:avLst/>
          </a:prstGeom>
          <a:solidFill>
            <a:srgbClr val="EAF2FD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554480" y="1371600"/>
            <a:ext cx="1143000" cy="868680"/>
          </a:xfrm>
          <a:prstGeom prst="line">
            <a:avLst/>
          </a:prstGeom>
          <a:ln w="20320">
            <a:solidFill>
              <a:srgbClr val="DDEAFB">
                <a:alpha val="6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417320" y="2240280"/>
            <a:ext cx="1280160" cy="685800"/>
          </a:xfrm>
          <a:prstGeom prst="line">
            <a:avLst/>
          </a:prstGeom>
          <a:ln w="20320">
            <a:solidFill>
              <a:srgbClr val="DDEAFB">
                <a:alpha val="6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417320" y="1371600"/>
            <a:ext cx="137160" cy="1554480"/>
          </a:xfrm>
          <a:prstGeom prst="line">
            <a:avLst/>
          </a:prstGeom>
          <a:ln w="20320">
            <a:solidFill>
              <a:srgbClr val="DDEAFB">
                <a:alpha val="6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646920" y="4114800"/>
            <a:ext cx="1097280" cy="868680"/>
          </a:xfrm>
          <a:prstGeom prst="line">
            <a:avLst/>
          </a:prstGeom>
          <a:ln w="20320">
            <a:solidFill>
              <a:srgbClr val="DDEAFB">
                <a:alpha val="6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46920" y="4983480"/>
            <a:ext cx="1325880" cy="502920"/>
          </a:xfrm>
          <a:prstGeom prst="line">
            <a:avLst/>
          </a:prstGeom>
          <a:ln w="20320">
            <a:solidFill>
              <a:srgbClr val="DDEAFB">
                <a:alpha val="6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744200" y="4114800"/>
            <a:ext cx="228600" cy="1371600"/>
          </a:xfrm>
          <a:prstGeom prst="line">
            <a:avLst/>
          </a:prstGeom>
          <a:ln w="20320">
            <a:solidFill>
              <a:srgbClr val="DDEAFB">
                <a:alpha val="6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v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996696"/>
            <a:ext cx="749808" cy="74980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12" name="Picture 11" descr="av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865376"/>
            <a:ext cx="749808" cy="74980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13" name="Picture 12" descr="av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551176"/>
            <a:ext cx="749808" cy="74980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14" name="Picture 13" descr="av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3739896"/>
            <a:ext cx="749808" cy="74980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15" name="Picture 14" descr="av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4608576"/>
            <a:ext cx="749808" cy="74980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pic>
        <p:nvPicPr>
          <p:cNvPr id="16" name="Picture 15" descr="av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7896" y="5111496"/>
            <a:ext cx="749808" cy="749808"/>
          </a:xfrm>
          <a:prstGeom prst="rect">
            <a:avLst/>
          </a:prstGeom>
          <a:effectLst>
            <a:outerShdw blurRad="64008" dist="41148" dir="5400000" rotWithShape="0">
              <a:srgbClr val="2A4A93">
                <a:alpha val="24000"/>
              </a:srgbClr>
            </a:outerShdw>
          </a:effectLst>
        </p:spPr>
      </p:pic>
      <p:sp>
        <p:nvSpPr>
          <p:cNvPr id="17" name="Rounded Rectangle 16"/>
          <p:cNvSpPr/>
          <p:nvPr/>
        </p:nvSpPr>
        <p:spPr>
          <a:xfrm>
            <a:off x="5449824" y="914400"/>
            <a:ext cx="1280160" cy="128016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3E78D6"/>
              </a:gs>
              <a:gs pos="100000">
                <a:srgbClr val="3A9BCE"/>
              </a:gs>
            </a:gsLst>
            <a:lin ang="2700000" scaled="1"/>
          </a:gradFill>
          <a:ln>
            <a:noFill/>
          </a:ln>
          <a:effectLst>
            <a:outerShdw blurRad="128016" dist="73152" dir="5400000" rotWithShape="0">
              <a:srgbClr val="3E78D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886968"/>
            <a:ext cx="128016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468880"/>
            <a:ext cx="1036015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E78D6"/>
                </a:solidFill>
                <a:latin typeface="Segoe UI Semibold"/>
              </a:rPr>
              <a:t>TỔNG KẾT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26080"/>
            <a:ext cx="10360152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0B2545"/>
                </a:solidFill>
                <a:latin typeface="Segoe UI Semibold"/>
              </a:rPr>
              <a:t>Wisdom 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23426B"/>
                </a:solidFill>
                <a:latin typeface="Segoe UI"/>
              </a:rPr>
              <a:t>Nền tảng MXH đa nền tảng với kiến trúc phân lớp, cơ sở dữ liệu lai, realtime qua STOMP/Redis</a:t>
            </a:r>
          </a:p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23426B"/>
                </a:solidFill>
                <a:latin typeface="Segoe UI"/>
              </a:rPr>
              <a:t>và trợ lý AI — sẵn sàng mở rộng theo roadmap.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0200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5B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0165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Spring Boot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7872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3E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50165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React · Expo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95544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3A9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95544" y="50165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Realtime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43216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E9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50165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AWS Cloud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90888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A4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50165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AI · OpenRouter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036015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B2545"/>
                </a:solidFill>
                <a:latin typeface="Segoe UI Semibold"/>
              </a:rPr>
              <a:t>Cảm ơn đã theo dõi!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